
<file path=[Content_Types].xml><?xml version="1.0" encoding="utf-8"?>
<Types xmlns="http://schemas.openxmlformats.org/package/2006/content-types">
  <Default Extension="mp4" ContentType="video/mp4"/>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1.xml" ContentType="application/vnd.openxmlformats-officedocument.drawingml.chart+xml"/>
  <Override PartName="/ppt/notesSlides/notesSlide14.xml" ContentType="application/vnd.openxmlformats-officedocument.presentationml.notesSlide+xml"/>
  <Override PartName="/ppt/charts/chart2.xml" ContentType="application/vnd.openxmlformats-officedocument.drawingml.chart+xml"/>
  <Override PartName="/ppt/notesSlides/notesSlide15.xml" ContentType="application/vnd.openxmlformats-officedocument.presentationml.notesSlide+xml"/>
  <Override PartName="/ppt/charts/chart3.xml" ContentType="application/vnd.openxmlformats-officedocument.drawingml.chart+xml"/>
  <Override PartName="/ppt/notesSlides/notesSlide16.xml" ContentType="application/vnd.openxmlformats-officedocument.presentationml.notesSlide+xml"/>
  <Override PartName="/ppt/charts/chart4.xml" ContentType="application/vnd.openxmlformats-officedocument.drawingml.chart+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03B02C5E-4530-DAA5-6F21-94B4D19D8A21}">
          <p14:sldIdLst>
            <p14:sldId id="256"/>
            <p14:sldId id="257"/>
            <p14:sldId id="258"/>
            <p14:sldId id="259"/>
          </p14:sldIdLst>
        </p14:section>
        <p14:section name="The product" id="{594A291A-C5AC-7E94-6970-BBEEC53589E0}">
          <p14:sldIdLst>
            <p14:sldId id="260"/>
            <p14:sldId id="261"/>
            <p14:sldId id="262"/>
            <p14:sldId id="263"/>
            <p14:sldId id="264"/>
            <p14:sldId id="265"/>
            <p14:sldId id="266"/>
          </p14:sldIdLst>
        </p14:section>
        <p14:section name="How it chooses people" id="{E21AD54C-612A-B235-81C3-EDB37446C175}">
          <p14:sldIdLst>
            <p14:sldId id="267"/>
            <p14:sldId id="268"/>
            <p14:sldId id="269"/>
            <p14:sldId id="270"/>
            <p14:sldId id="271"/>
          </p14:sldIdLst>
        </p14:section>
        <p14:section name="How it is built" id="{45F4CAB1-0520-F588-59B1-9862C5AE5904}">
          <p14:sldIdLst>
            <p14:sldId id="272"/>
            <p14:sldId id="273"/>
          </p14:sldIdLst>
        </p14:section>
        <p14:section name="Safety and privacy" id="{F8848DEF-8361-18CC-C10B-51F7C3BC075F}">
          <p14:sldIdLst>
            <p14:sldId id="274"/>
            <p14:sldId id="275"/>
            <p14:sldId id="276"/>
          </p14:sldIdLst>
        </p14:section>
        <p14:section name="Wrap-up" id="{858B2977-76C5-D55F-570F-11A313B63139}">
          <p14:sldIdLst>
            <p14:sldId id="277"/>
            <p14:sldId id="278"/>
            <p14:sldId id="279"/>
            <p14:sldId id="280"/>
          </p14:sldIdLst>
        </p14:section>
        <p14:section name="Backup" id="{D1B3DC28-507D-DCA1-45EE-A6AB77AA98BE}">
          <p14:sldIdLst>
            <p14:sldId id="281"/>
            <p14:sldId id="282"/>
            <p14:sldId id="283"/>
            <p14:sldId id="284"/>
            <p14:sldId id="285"/>
            <p14:sldId id="28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1" d="100"/>
          <a:sy n="111" d="100"/>
        </p:scale>
        <p:origin x="55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600" b="0" i="0" u="none" strike="noStrike">
                <a:solidFill>
                  <a:srgbClr val="12202B"/>
                </a:solidFill>
                <a:latin typeface="+mn-lt"/>
              </a:defRPr>
            </a:pPr>
            <a:r>
              <a:rPr sz="1600" b="0" i="0" u="none" strike="noStrike">
                <a:solidFill>
                  <a:srgbClr val="12202B"/>
                </a:solidFill>
                <a:latin typeface="+mn-lt"/>
              </a:rPr>
              <a:t>How much a shared thing counts (100 students)</a:t>
            </a:r>
          </a:p>
        </c:rich>
      </c:tx>
      <c:overlay val="0"/>
    </c:title>
    <c:autoTitleDeleted val="0"/>
    <c:plotArea>
      <c:layout/>
      <c:barChart>
        <c:barDir val="col"/>
        <c:grouping val="clustered"/>
        <c:varyColors val="0"/>
        <c:ser>
          <c:idx val="0"/>
          <c:order val="0"/>
          <c:tx>
            <c:strRef>
              <c:f>Sheet1!$B$1</c:f>
              <c:strCache>
                <c:ptCount val="1"/>
                <c:pt idx="0">
                  <c:v>Weight</c:v>
                </c:pt>
              </c:strCache>
            </c:strRef>
          </c:tx>
          <c:spPr>
            <a:solidFill>
              <a:srgbClr val="0F766E"/>
            </a:solidFill>
            <a:effectLst/>
          </c:spPr>
          <c:invertIfNegative val="0"/>
          <c:dLbls>
            <c:numFmt formatCode="0.00" sourceLinked="0"/>
            <c:spPr>
              <a:noFill/>
              <a:ln>
                <a:noFill/>
              </a:ln>
              <a:effectLst/>
            </c:spPr>
            <c:txPr>
              <a:bodyPr/>
              <a:lstStyle/>
              <a:p>
                <a:pPr>
                  <a:defRPr sz="1400" b="0" i="0" u="none" strike="noStrike">
                    <a:solidFill>
                      <a:srgbClr val="12202B"/>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Shared by 3 of 100</c:v>
                </c:pt>
                <c:pt idx="1">
                  <c:v>Shared by 10 of 100</c:v>
                </c:pt>
                <c:pt idx="2">
                  <c:v>Shared by 30 of 100</c:v>
                </c:pt>
                <c:pt idx="3">
                  <c:v>Shared by 60 of 100</c:v>
                </c:pt>
              </c:strCache>
            </c:strRef>
          </c:cat>
          <c:val>
            <c:numRef>
              <c:f>Sheet1!$B$2:$B$5</c:f>
              <c:numCache>
                <c:formatCode>General</c:formatCode>
                <c:ptCount val="4"/>
                <c:pt idx="0">
                  <c:v>3.22</c:v>
                </c:pt>
                <c:pt idx="1">
                  <c:v>2.21</c:v>
                </c:pt>
                <c:pt idx="2">
                  <c:v>1.17</c:v>
                </c:pt>
                <c:pt idx="3">
                  <c:v>0.49</c:v>
                </c:pt>
              </c:numCache>
            </c:numRef>
          </c:val>
          <c:extLst>
            <c:ext xmlns:c16="http://schemas.microsoft.com/office/drawing/2014/chart" uri="{C3380CC4-5D6E-409C-BE32-E72D297353CC}">
              <c16:uniqueId val="{00000000-1435-44F8-88B6-A5DC490E188B}"/>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4A5A66"/>
                </a:solidFill>
                <a:latin typeface="+mn-lt"/>
              </a:defRPr>
            </a:pPr>
            <a:endParaRPr lang="en-US"/>
          </a:p>
        </c:txPr>
        <c:crossAx val="2094734552"/>
        <c:crosses val="autoZero"/>
        <c:auto val="1"/>
        <c:lblAlgn val="ctr"/>
        <c:lblOffset val="100"/>
        <c:noMultiLvlLbl val="1"/>
      </c:catAx>
      <c:valAx>
        <c:axId val="2094734552"/>
        <c:scaling>
          <c:orientation val="minMax"/>
          <c:max val="4"/>
          <c:min val="0"/>
        </c:scaling>
        <c:delete val="0"/>
        <c:axPos val="l"/>
        <c:majorGridlines>
          <c:spPr>
            <a:ln w="9525" cap="flat">
              <a:solidFill>
                <a:srgbClr val="E4E0D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A5A66"/>
                </a:solidFill>
                <a:latin typeface="+mn-lt"/>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500" b="0" i="0" u="none" strike="noStrike">
                <a:solidFill>
                  <a:srgbClr val="12202B"/>
                </a:solidFill>
                <a:latin typeface="+mn-lt"/>
              </a:defRPr>
            </a:pPr>
            <a:r>
              <a:rPr sz="1500" b="0" i="0" u="none" strike="noStrike">
                <a:solidFill>
                  <a:srgbClr val="12202B"/>
                </a:solidFill>
                <a:latin typeface="+mn-lt"/>
              </a:rPr>
              <a:t>Ingredient values for Emma's four best candidates</a:t>
            </a:r>
          </a:p>
        </c:rich>
      </c:tx>
      <c:overlay val="0"/>
    </c:title>
    <c:autoTitleDeleted val="0"/>
    <c:plotArea>
      <c:layout/>
      <c:barChart>
        <c:barDir val="col"/>
        <c:grouping val="clustered"/>
        <c:varyColors val="0"/>
        <c:ser>
          <c:idx val="0"/>
          <c:order val="0"/>
          <c:tx>
            <c:strRef>
              <c:f>Sheet1!$B$1</c:f>
              <c:strCache>
                <c:ptCount val="1"/>
                <c:pt idx="0">
                  <c:v>Liam</c:v>
                </c:pt>
              </c:strCache>
            </c:strRef>
          </c:tx>
          <c:spPr>
            <a:solidFill>
              <a:srgbClr val="0F766E"/>
            </a:solidFill>
            <a:effectLst/>
          </c:spPr>
          <c:invertIfNegative val="0"/>
          <c:cat>
            <c:strRef>
              <c:f>Sheet1!$A$2:$A$6</c:f>
              <c:strCache>
                <c:ptCount val="5"/>
                <c:pt idx="0">
                  <c:v>Courses</c:v>
                </c:pt>
                <c:pt idx="1">
                  <c:v>Clubs</c:v>
                </c:pt>
                <c:pt idx="2">
                  <c:v>Free time</c:v>
                </c:pt>
                <c:pt idx="3">
                  <c:v>Interests</c:v>
                </c:pt>
                <c:pt idx="4">
                  <c:v>Values</c:v>
                </c:pt>
              </c:strCache>
            </c:strRef>
          </c:cat>
          <c:val>
            <c:numRef>
              <c:f>Sheet1!$B$2:$B$6</c:f>
              <c:numCache>
                <c:formatCode>General</c:formatCode>
                <c:ptCount val="5"/>
                <c:pt idx="0">
                  <c:v>0.55000000000000004</c:v>
                </c:pt>
                <c:pt idx="1">
                  <c:v>0.25</c:v>
                </c:pt>
                <c:pt idx="2">
                  <c:v>0.42</c:v>
                </c:pt>
                <c:pt idx="3">
                  <c:v>0.44</c:v>
                </c:pt>
                <c:pt idx="4">
                  <c:v>0.97</c:v>
                </c:pt>
              </c:numCache>
            </c:numRef>
          </c:val>
          <c:extLst>
            <c:ext xmlns:c16="http://schemas.microsoft.com/office/drawing/2014/chart" uri="{C3380CC4-5D6E-409C-BE32-E72D297353CC}">
              <c16:uniqueId val="{00000000-A242-4410-AD91-AC38EA89B260}"/>
            </c:ext>
          </c:extLst>
        </c:ser>
        <c:ser>
          <c:idx val="1"/>
          <c:order val="1"/>
          <c:tx>
            <c:strRef>
              <c:f>Sheet1!$C$1</c:f>
              <c:strCache>
                <c:ptCount val="1"/>
                <c:pt idx="0">
                  <c:v>Sophia</c:v>
                </c:pt>
              </c:strCache>
            </c:strRef>
          </c:tx>
          <c:spPr>
            <a:solidFill>
              <a:srgbClr val="5B3FA6"/>
            </a:solidFill>
            <a:effectLst/>
          </c:spPr>
          <c:invertIfNegative val="0"/>
          <c:cat>
            <c:strRef>
              <c:f>Sheet1!$A$2:$A$6</c:f>
              <c:strCache>
                <c:ptCount val="5"/>
                <c:pt idx="0">
                  <c:v>Courses</c:v>
                </c:pt>
                <c:pt idx="1">
                  <c:v>Clubs</c:v>
                </c:pt>
                <c:pt idx="2">
                  <c:v>Free time</c:v>
                </c:pt>
                <c:pt idx="3">
                  <c:v>Interests</c:v>
                </c:pt>
                <c:pt idx="4">
                  <c:v>Values</c:v>
                </c:pt>
              </c:strCache>
            </c:strRef>
          </c:cat>
          <c:val>
            <c:numRef>
              <c:f>Sheet1!$C$2:$C$6</c:f>
              <c:numCache>
                <c:formatCode>General</c:formatCode>
                <c:ptCount val="5"/>
                <c:pt idx="0">
                  <c:v>0.31</c:v>
                </c:pt>
                <c:pt idx="1">
                  <c:v>0.38</c:v>
                </c:pt>
                <c:pt idx="2">
                  <c:v>0.32</c:v>
                </c:pt>
                <c:pt idx="3">
                  <c:v>0.11</c:v>
                </c:pt>
                <c:pt idx="4">
                  <c:v>0.63</c:v>
                </c:pt>
              </c:numCache>
            </c:numRef>
          </c:val>
          <c:extLst>
            <c:ext xmlns:c16="http://schemas.microsoft.com/office/drawing/2014/chart" uri="{C3380CC4-5D6E-409C-BE32-E72D297353CC}">
              <c16:uniqueId val="{00000001-A242-4410-AD91-AC38EA89B260}"/>
            </c:ext>
          </c:extLst>
        </c:ser>
        <c:ser>
          <c:idx val="2"/>
          <c:order val="2"/>
          <c:tx>
            <c:strRef>
              <c:f>Sheet1!$D$1</c:f>
              <c:strCache>
                <c:ptCount val="1"/>
                <c:pt idx="0">
                  <c:v>Lucas</c:v>
                </c:pt>
              </c:strCache>
            </c:strRef>
          </c:tx>
          <c:spPr>
            <a:solidFill>
              <a:srgbClr val="B7791F"/>
            </a:solidFill>
            <a:effectLst/>
          </c:spPr>
          <c:invertIfNegative val="0"/>
          <c:cat>
            <c:strRef>
              <c:f>Sheet1!$A$2:$A$6</c:f>
              <c:strCache>
                <c:ptCount val="5"/>
                <c:pt idx="0">
                  <c:v>Courses</c:v>
                </c:pt>
                <c:pt idx="1">
                  <c:v>Clubs</c:v>
                </c:pt>
                <c:pt idx="2">
                  <c:v>Free time</c:v>
                </c:pt>
                <c:pt idx="3">
                  <c:v>Interests</c:v>
                </c:pt>
                <c:pt idx="4">
                  <c:v>Values</c:v>
                </c:pt>
              </c:strCache>
            </c:strRef>
          </c:cat>
          <c:val>
            <c:numRef>
              <c:f>Sheet1!$D$2:$D$6</c:f>
              <c:numCache>
                <c:formatCode>General</c:formatCode>
                <c:ptCount val="5"/>
                <c:pt idx="0">
                  <c:v>0.2</c:v>
                </c:pt>
                <c:pt idx="1">
                  <c:v>0.25</c:v>
                </c:pt>
                <c:pt idx="2">
                  <c:v>0.14000000000000001</c:v>
                </c:pt>
                <c:pt idx="3">
                  <c:v>0.38</c:v>
                </c:pt>
                <c:pt idx="4">
                  <c:v>0.72</c:v>
                </c:pt>
              </c:numCache>
            </c:numRef>
          </c:val>
          <c:extLst>
            <c:ext xmlns:c16="http://schemas.microsoft.com/office/drawing/2014/chart" uri="{C3380CC4-5D6E-409C-BE32-E72D297353CC}">
              <c16:uniqueId val="{00000002-A242-4410-AD91-AC38EA89B260}"/>
            </c:ext>
          </c:extLst>
        </c:ser>
        <c:ser>
          <c:idx val="3"/>
          <c:order val="3"/>
          <c:tx>
            <c:strRef>
              <c:f>Sheet1!$E$1</c:f>
              <c:strCache>
                <c:ptCount val="1"/>
                <c:pt idx="0">
                  <c:v>Olivia</c:v>
                </c:pt>
              </c:strCache>
            </c:strRef>
          </c:tx>
          <c:spPr>
            <a:solidFill>
              <a:srgbClr val="6B7A86"/>
            </a:solidFill>
            <a:effectLst/>
          </c:spPr>
          <c:invertIfNegative val="0"/>
          <c:cat>
            <c:strRef>
              <c:f>Sheet1!$A$2:$A$6</c:f>
              <c:strCache>
                <c:ptCount val="5"/>
                <c:pt idx="0">
                  <c:v>Courses</c:v>
                </c:pt>
                <c:pt idx="1">
                  <c:v>Clubs</c:v>
                </c:pt>
                <c:pt idx="2">
                  <c:v>Free time</c:v>
                </c:pt>
                <c:pt idx="3">
                  <c:v>Interests</c:v>
                </c:pt>
                <c:pt idx="4">
                  <c:v>Values</c:v>
                </c:pt>
              </c:strCache>
            </c:strRef>
          </c:cat>
          <c:val>
            <c:numRef>
              <c:f>Sheet1!$E$2:$E$6</c:f>
              <c:numCache>
                <c:formatCode>General</c:formatCode>
                <c:ptCount val="5"/>
                <c:pt idx="0">
                  <c:v>0.36</c:v>
                </c:pt>
                <c:pt idx="1">
                  <c:v>0.25</c:v>
                </c:pt>
                <c:pt idx="2">
                  <c:v>0.32</c:v>
                </c:pt>
                <c:pt idx="3">
                  <c:v>0.11</c:v>
                </c:pt>
                <c:pt idx="4">
                  <c:v>0.84</c:v>
                </c:pt>
              </c:numCache>
            </c:numRef>
          </c:val>
          <c:extLst>
            <c:ext xmlns:c16="http://schemas.microsoft.com/office/drawing/2014/chart" uri="{C3380CC4-5D6E-409C-BE32-E72D297353CC}">
              <c16:uniqueId val="{00000003-A242-4410-AD91-AC38EA89B260}"/>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4A5A66"/>
                </a:solidFill>
                <a:latin typeface="+mn-lt"/>
              </a:defRPr>
            </a:pPr>
            <a:endParaRPr lang="en-US"/>
          </a:p>
        </c:txPr>
        <c:crossAx val="2094734552"/>
        <c:crosses val="autoZero"/>
        <c:auto val="1"/>
        <c:lblAlgn val="ctr"/>
        <c:lblOffset val="100"/>
        <c:noMultiLvlLbl val="1"/>
      </c:catAx>
      <c:valAx>
        <c:axId val="2094734552"/>
        <c:scaling>
          <c:orientation val="minMax"/>
          <c:max val="1"/>
          <c:min val="0"/>
        </c:scaling>
        <c:delete val="0"/>
        <c:axPos val="l"/>
        <c:majorGridlines>
          <c:spPr>
            <a:ln w="9525" cap="flat">
              <a:solidFill>
                <a:srgbClr val="E4E0D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A5A66"/>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300">
              <a:solidFill>
                <a:srgbClr val="4A5A66"/>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500" b="0" i="0" u="none" strike="noStrike">
                <a:solidFill>
                  <a:srgbClr val="12202B"/>
                </a:solidFill>
                <a:latin typeface="+mn-lt"/>
              </a:defRPr>
            </a:pPr>
            <a:r>
              <a:rPr sz="1500" b="0" i="0" u="none" strike="noStrike">
                <a:solidFill>
                  <a:srgbClr val="12202B"/>
                </a:solidFill>
                <a:latin typeface="+mn-lt"/>
              </a:rPr>
              <a:t>Weight of each ingredient by mode (%)</a:t>
            </a:r>
          </a:p>
        </c:rich>
      </c:tx>
      <c:overlay val="0"/>
    </c:title>
    <c:autoTitleDeleted val="0"/>
    <c:plotArea>
      <c:layout/>
      <c:barChart>
        <c:barDir val="bar"/>
        <c:grouping val="percentStacked"/>
        <c:varyColors val="0"/>
        <c:ser>
          <c:idx val="0"/>
          <c:order val="0"/>
          <c:tx>
            <c:strRef>
              <c:f>Sheet1!$B$1</c:f>
              <c:strCache>
                <c:ptCount val="1"/>
                <c:pt idx="0">
                  <c:v>Courses</c:v>
                </c:pt>
              </c:strCache>
            </c:strRef>
          </c:tx>
          <c:spPr>
            <a:solidFill>
              <a:srgbClr val="0F766E"/>
            </a:solidFill>
            <a:effectLst/>
          </c:spPr>
          <c:invertIfNegative val="0"/>
          <c:dLbls>
            <c:numFmt formatCode="#,##0" sourceLinked="0"/>
            <c:spPr>
              <a:noFill/>
              <a:ln>
                <a:noFill/>
              </a:ln>
              <a:effectLst/>
            </c:spPr>
            <c:txPr>
              <a:bodyPr/>
              <a:lstStyle/>
              <a:p>
                <a:pPr>
                  <a:defRPr sz="1300" b="0" i="0" u="none" strike="noStrike">
                    <a:solidFill>
                      <a:srgbClr val="FFFFFF"/>
                    </a:solidFill>
                    <a:latin typeface="+mn-lt"/>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Study</c:v>
                </c:pt>
                <c:pt idx="1">
                  <c:v>Friends</c:v>
                </c:pt>
                <c:pt idx="2">
                  <c:v>Dating</c:v>
                </c:pt>
                <c:pt idx="3">
                  <c:v>Open</c:v>
                </c:pt>
              </c:strCache>
            </c:strRef>
          </c:cat>
          <c:val>
            <c:numRef>
              <c:f>Sheet1!$B$2:$B$5</c:f>
              <c:numCache>
                <c:formatCode>General</c:formatCode>
                <c:ptCount val="4"/>
                <c:pt idx="0">
                  <c:v>45</c:v>
                </c:pt>
                <c:pt idx="1">
                  <c:v>20</c:v>
                </c:pt>
                <c:pt idx="2">
                  <c:v>15</c:v>
                </c:pt>
                <c:pt idx="3">
                  <c:v>27</c:v>
                </c:pt>
              </c:numCache>
            </c:numRef>
          </c:val>
          <c:extLst>
            <c:ext xmlns:c16="http://schemas.microsoft.com/office/drawing/2014/chart" uri="{C3380CC4-5D6E-409C-BE32-E72D297353CC}">
              <c16:uniqueId val="{00000000-0697-4F09-BA37-5533FCED1299}"/>
            </c:ext>
          </c:extLst>
        </c:ser>
        <c:ser>
          <c:idx val="1"/>
          <c:order val="1"/>
          <c:tx>
            <c:strRef>
              <c:f>Sheet1!$C$1</c:f>
              <c:strCache>
                <c:ptCount val="1"/>
                <c:pt idx="0">
                  <c:v>Clubs</c:v>
                </c:pt>
              </c:strCache>
            </c:strRef>
          </c:tx>
          <c:spPr>
            <a:solidFill>
              <a:srgbClr val="5B3FA6"/>
            </a:solidFill>
            <a:effectLst/>
          </c:spPr>
          <c:invertIfNegative val="0"/>
          <c:dLbls>
            <c:numFmt formatCode="#,##0" sourceLinked="0"/>
            <c:spPr>
              <a:noFill/>
              <a:ln>
                <a:noFill/>
              </a:ln>
              <a:effectLst/>
            </c:spPr>
            <c:txPr>
              <a:bodyPr/>
              <a:lstStyle/>
              <a:p>
                <a:pPr>
                  <a:defRPr sz="1300" b="0" i="0" u="none" strike="noStrike">
                    <a:solidFill>
                      <a:srgbClr val="FFFFFF"/>
                    </a:solidFill>
                    <a:latin typeface="+mn-lt"/>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Study</c:v>
                </c:pt>
                <c:pt idx="1">
                  <c:v>Friends</c:v>
                </c:pt>
                <c:pt idx="2">
                  <c:v>Dating</c:v>
                </c:pt>
                <c:pt idx="3">
                  <c:v>Open</c:v>
                </c:pt>
              </c:strCache>
            </c:strRef>
          </c:cat>
          <c:val>
            <c:numRef>
              <c:f>Sheet1!$C$2:$C$5</c:f>
              <c:numCache>
                <c:formatCode>General</c:formatCode>
                <c:ptCount val="4"/>
                <c:pt idx="0">
                  <c:v>10</c:v>
                </c:pt>
                <c:pt idx="1">
                  <c:v>25</c:v>
                </c:pt>
                <c:pt idx="2">
                  <c:v>15</c:v>
                </c:pt>
                <c:pt idx="3">
                  <c:v>17</c:v>
                </c:pt>
              </c:numCache>
            </c:numRef>
          </c:val>
          <c:extLst>
            <c:ext xmlns:c16="http://schemas.microsoft.com/office/drawing/2014/chart" uri="{C3380CC4-5D6E-409C-BE32-E72D297353CC}">
              <c16:uniqueId val="{00000001-0697-4F09-BA37-5533FCED1299}"/>
            </c:ext>
          </c:extLst>
        </c:ser>
        <c:ser>
          <c:idx val="2"/>
          <c:order val="2"/>
          <c:tx>
            <c:strRef>
              <c:f>Sheet1!$D$1</c:f>
              <c:strCache>
                <c:ptCount val="1"/>
                <c:pt idx="0">
                  <c:v>Free time</c:v>
                </c:pt>
              </c:strCache>
            </c:strRef>
          </c:tx>
          <c:spPr>
            <a:solidFill>
              <a:srgbClr val="B7791F"/>
            </a:solidFill>
            <a:effectLst/>
          </c:spPr>
          <c:invertIfNegative val="0"/>
          <c:dLbls>
            <c:numFmt formatCode="#,##0" sourceLinked="0"/>
            <c:spPr>
              <a:noFill/>
              <a:ln>
                <a:noFill/>
              </a:ln>
              <a:effectLst/>
            </c:spPr>
            <c:txPr>
              <a:bodyPr/>
              <a:lstStyle/>
              <a:p>
                <a:pPr>
                  <a:defRPr sz="1300" b="0" i="0" u="none" strike="noStrike">
                    <a:solidFill>
                      <a:srgbClr val="FFFFFF"/>
                    </a:solidFill>
                    <a:latin typeface="+mn-lt"/>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Study</c:v>
                </c:pt>
                <c:pt idx="1">
                  <c:v>Friends</c:v>
                </c:pt>
                <c:pt idx="2">
                  <c:v>Dating</c:v>
                </c:pt>
                <c:pt idx="3">
                  <c:v>Open</c:v>
                </c:pt>
              </c:strCache>
            </c:strRef>
          </c:cat>
          <c:val>
            <c:numRef>
              <c:f>Sheet1!$D$2:$D$5</c:f>
              <c:numCache>
                <c:formatCode>General</c:formatCode>
                <c:ptCount val="4"/>
                <c:pt idx="0">
                  <c:v>30</c:v>
                </c:pt>
                <c:pt idx="1">
                  <c:v>20</c:v>
                </c:pt>
                <c:pt idx="2">
                  <c:v>15</c:v>
                </c:pt>
                <c:pt idx="3">
                  <c:v>22</c:v>
                </c:pt>
              </c:numCache>
            </c:numRef>
          </c:val>
          <c:extLst>
            <c:ext xmlns:c16="http://schemas.microsoft.com/office/drawing/2014/chart" uri="{C3380CC4-5D6E-409C-BE32-E72D297353CC}">
              <c16:uniqueId val="{00000002-0697-4F09-BA37-5533FCED1299}"/>
            </c:ext>
          </c:extLst>
        </c:ser>
        <c:ser>
          <c:idx val="3"/>
          <c:order val="3"/>
          <c:tx>
            <c:strRef>
              <c:f>Sheet1!$E$1</c:f>
              <c:strCache>
                <c:ptCount val="1"/>
                <c:pt idx="0">
                  <c:v>Interests</c:v>
                </c:pt>
              </c:strCache>
            </c:strRef>
          </c:tx>
          <c:spPr>
            <a:solidFill>
              <a:srgbClr val="2E9E6B"/>
            </a:solidFill>
            <a:effectLst/>
          </c:spPr>
          <c:invertIfNegative val="0"/>
          <c:dLbls>
            <c:numFmt formatCode="#,##0" sourceLinked="0"/>
            <c:spPr>
              <a:noFill/>
              <a:ln>
                <a:noFill/>
              </a:ln>
              <a:effectLst/>
            </c:spPr>
            <c:txPr>
              <a:bodyPr/>
              <a:lstStyle/>
              <a:p>
                <a:pPr>
                  <a:defRPr sz="1300" b="0" i="0" u="none" strike="noStrike">
                    <a:solidFill>
                      <a:srgbClr val="FFFFFF"/>
                    </a:solidFill>
                    <a:latin typeface="+mn-lt"/>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Study</c:v>
                </c:pt>
                <c:pt idx="1">
                  <c:v>Friends</c:v>
                </c:pt>
                <c:pt idx="2">
                  <c:v>Dating</c:v>
                </c:pt>
                <c:pt idx="3">
                  <c:v>Open</c:v>
                </c:pt>
              </c:strCache>
            </c:strRef>
          </c:cat>
          <c:val>
            <c:numRef>
              <c:f>Sheet1!$E$2:$E$5</c:f>
              <c:numCache>
                <c:formatCode>General</c:formatCode>
                <c:ptCount val="4"/>
                <c:pt idx="0">
                  <c:v>10</c:v>
                </c:pt>
                <c:pt idx="1">
                  <c:v>30</c:v>
                </c:pt>
                <c:pt idx="2">
                  <c:v>25</c:v>
                </c:pt>
                <c:pt idx="3">
                  <c:v>22</c:v>
                </c:pt>
              </c:numCache>
            </c:numRef>
          </c:val>
          <c:extLst>
            <c:ext xmlns:c16="http://schemas.microsoft.com/office/drawing/2014/chart" uri="{C3380CC4-5D6E-409C-BE32-E72D297353CC}">
              <c16:uniqueId val="{00000003-0697-4F09-BA37-5533FCED1299}"/>
            </c:ext>
          </c:extLst>
        </c:ser>
        <c:ser>
          <c:idx val="4"/>
          <c:order val="4"/>
          <c:tx>
            <c:strRef>
              <c:f>Sheet1!$F$1</c:f>
              <c:strCache>
                <c:ptCount val="1"/>
                <c:pt idx="0">
                  <c:v>Values</c:v>
                </c:pt>
              </c:strCache>
            </c:strRef>
          </c:tx>
          <c:spPr>
            <a:solidFill>
              <a:srgbClr val="D64550"/>
            </a:solidFill>
            <a:effectLst/>
          </c:spPr>
          <c:invertIfNegative val="0"/>
          <c:dLbls>
            <c:numFmt formatCode="#,##0" sourceLinked="0"/>
            <c:spPr>
              <a:noFill/>
              <a:ln>
                <a:noFill/>
              </a:ln>
              <a:effectLst/>
            </c:spPr>
            <c:txPr>
              <a:bodyPr/>
              <a:lstStyle/>
              <a:p>
                <a:pPr>
                  <a:defRPr sz="1300" b="0" i="0" u="none" strike="noStrike">
                    <a:solidFill>
                      <a:srgbClr val="FFFFFF"/>
                    </a:solidFill>
                    <a:latin typeface="+mn-lt"/>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Study</c:v>
                </c:pt>
                <c:pt idx="1">
                  <c:v>Friends</c:v>
                </c:pt>
                <c:pt idx="2">
                  <c:v>Dating</c:v>
                </c:pt>
                <c:pt idx="3">
                  <c:v>Open</c:v>
                </c:pt>
              </c:strCache>
            </c:strRef>
          </c:cat>
          <c:val>
            <c:numRef>
              <c:f>Sheet1!$F$2:$F$5</c:f>
              <c:numCache>
                <c:formatCode>General</c:formatCode>
                <c:ptCount val="4"/>
                <c:pt idx="0">
                  <c:v>5</c:v>
                </c:pt>
                <c:pt idx="1">
                  <c:v>5</c:v>
                </c:pt>
                <c:pt idx="2">
                  <c:v>30</c:v>
                </c:pt>
                <c:pt idx="3">
                  <c:v>13</c:v>
                </c:pt>
              </c:numCache>
            </c:numRef>
          </c:val>
          <c:extLst>
            <c:ext xmlns:c16="http://schemas.microsoft.com/office/drawing/2014/chart" uri="{C3380CC4-5D6E-409C-BE32-E72D297353CC}">
              <c16:uniqueId val="{00000004-0697-4F09-BA37-5533FCED1299}"/>
            </c:ext>
          </c:extLst>
        </c:ser>
        <c:dLbls>
          <c:dLblPos val="ctr"/>
          <c:showLegendKey val="0"/>
          <c:showVal val="1"/>
          <c:showCatName val="0"/>
          <c:showSerName val="0"/>
          <c:showPercent val="0"/>
          <c:showBubbleSize val="0"/>
        </c:dLbls>
        <c:gapWidth val="50"/>
        <c:overlap val="10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400" b="0" i="0" u="none" strike="noStrike">
                <a:solidFill>
                  <a:srgbClr val="4A5A66"/>
                </a:solidFill>
                <a:latin typeface="+mn-lt"/>
              </a:defRPr>
            </a:pPr>
            <a:endParaRPr lang="en-US"/>
          </a:p>
        </c:txPr>
        <c:crossAx val="2094734552"/>
        <c:crosses val="autoZero"/>
        <c:auto val="1"/>
        <c:lblAlgn val="ctr"/>
        <c:lblOffset val="100"/>
        <c:noMultiLvlLbl val="1"/>
      </c:catAx>
      <c:valAx>
        <c:axId val="2094734552"/>
        <c:scaling>
          <c:orientation val="minMax"/>
        </c:scaling>
        <c:delete val="1"/>
        <c:axPos val="t"/>
        <c:numFmt formatCode="General" sourceLinked="0"/>
        <c:majorTickMark val="out"/>
        <c:minorTickMark val="none"/>
        <c:tickLblPos val="low"/>
        <c:crossAx val="2094734554"/>
        <c:crosses val="autoZero"/>
        <c:crossBetween val="between"/>
      </c:valAx>
      <c:spPr>
        <a:noFill/>
        <a:ln>
          <a:noFill/>
        </a:ln>
        <a:effectLst/>
      </c:spPr>
    </c:plotArea>
    <c:legend>
      <c:legendPos val="b"/>
      <c:overlay val="0"/>
      <c:txPr>
        <a:bodyPr/>
        <a:lstStyle/>
        <a:p>
          <a:pPr>
            <a:defRPr sz="1300">
              <a:solidFill>
                <a:srgbClr val="4A5A66"/>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600" b="0" i="0" u="none" strike="noStrike">
                <a:solidFill>
                  <a:srgbClr val="12202B"/>
                </a:solidFill>
                <a:latin typeface="+mn-lt"/>
              </a:defRPr>
            </a:pPr>
            <a:r>
              <a:rPr sz="1600" b="0" i="0" u="none" strike="noStrike">
                <a:solidFill>
                  <a:srgbClr val="12202B"/>
                </a:solidFill>
                <a:latin typeface="+mn-lt"/>
              </a:rPr>
              <a:t>Emma's Friends ranking (demo data)</a:t>
            </a:r>
          </a:p>
        </c:rich>
      </c:tx>
      <c:overlay val="0"/>
    </c:title>
    <c:autoTitleDeleted val="0"/>
    <c:plotArea>
      <c:layout/>
      <c:barChart>
        <c:barDir val="bar"/>
        <c:grouping val="clustered"/>
        <c:varyColors val="0"/>
        <c:ser>
          <c:idx val="0"/>
          <c:order val="0"/>
          <c:tx>
            <c:strRef>
              <c:f>Sheet1!$B$1</c:f>
              <c:strCache>
                <c:ptCount val="1"/>
                <c:pt idx="0">
                  <c:v>Rank score</c:v>
                </c:pt>
              </c:strCache>
            </c:strRef>
          </c:tx>
          <c:spPr>
            <a:solidFill>
              <a:srgbClr val="0F766E"/>
            </a:solidFill>
            <a:effectLst/>
          </c:spPr>
          <c:invertIfNegative val="0"/>
          <c:dLbls>
            <c:numFmt formatCode="0" sourceLinked="0"/>
            <c:spPr>
              <a:noFill/>
              <a:ln>
                <a:noFill/>
              </a:ln>
              <a:effectLst/>
            </c:spPr>
            <c:txPr>
              <a:bodyPr/>
              <a:lstStyle/>
              <a:p>
                <a:pPr>
                  <a:defRPr sz="1400" b="0" i="0" u="none" strike="noStrike">
                    <a:solidFill>
                      <a:srgbClr val="12202B"/>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Liam</c:v>
                </c:pt>
                <c:pt idx="1">
                  <c:v>Sophia</c:v>
                </c:pt>
                <c:pt idx="2">
                  <c:v>Lucas</c:v>
                </c:pt>
                <c:pt idx="3">
                  <c:v>Olivia</c:v>
                </c:pt>
                <c:pt idx="4">
                  <c:v>Dana</c:v>
                </c:pt>
                <c:pt idx="5">
                  <c:v>Ava</c:v>
                </c:pt>
                <c:pt idx="6">
                  <c:v>Noah</c:v>
                </c:pt>
              </c:strCache>
            </c:strRef>
          </c:cat>
          <c:val>
            <c:numRef>
              <c:f>Sheet1!$B$2:$B$8</c:f>
              <c:numCache>
                <c:formatCode>General</c:formatCode>
                <c:ptCount val="7"/>
                <c:pt idx="0">
                  <c:v>43.7</c:v>
                </c:pt>
                <c:pt idx="1">
                  <c:v>28.5</c:v>
                </c:pt>
                <c:pt idx="2">
                  <c:v>28</c:v>
                </c:pt>
                <c:pt idx="3">
                  <c:v>27.4</c:v>
                </c:pt>
                <c:pt idx="4">
                  <c:v>27.1</c:v>
                </c:pt>
                <c:pt idx="5">
                  <c:v>23.8</c:v>
                </c:pt>
                <c:pt idx="6">
                  <c:v>21.1</c:v>
                </c:pt>
              </c:numCache>
            </c:numRef>
          </c:val>
          <c:extLst>
            <c:ext xmlns:c16="http://schemas.microsoft.com/office/drawing/2014/chart" uri="{C3380CC4-5D6E-409C-BE32-E72D297353CC}">
              <c16:uniqueId val="{00000000-4E7A-414B-926E-0FA2A62D6FC2}"/>
            </c:ext>
          </c:extLst>
        </c:ser>
        <c:dLbls>
          <c:showLegendKey val="0"/>
          <c:showVal val="1"/>
          <c:showCatName val="0"/>
          <c:showSerName val="0"/>
          <c:showPercent val="0"/>
          <c:showBubbleSize val="0"/>
        </c:dLbls>
        <c:gapWidth val="15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400" b="0" i="0" u="none" strike="noStrike">
                <a:solidFill>
                  <a:srgbClr val="4A5A66"/>
                </a:solidFill>
                <a:latin typeface="+mn-lt"/>
              </a:defRPr>
            </a:pPr>
            <a:endParaRPr lang="en-US"/>
          </a:p>
        </c:txPr>
        <c:crossAx val="2094734552"/>
        <c:crosses val="autoZero"/>
        <c:auto val="1"/>
        <c:lblAlgn val="ctr"/>
        <c:lblOffset val="100"/>
        <c:noMultiLvlLbl val="1"/>
      </c:catAx>
      <c:valAx>
        <c:axId val="2094734552"/>
        <c:scaling>
          <c:orientation val="minMax"/>
          <c:min val="0"/>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737838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[0:00-0:40] Hi everyone, we are Rahimjon, Asilbek and Shuhratxon. We built Overlap, a web app for university students. The idea fits in one sentence: it introduces you to people on your own campus based on what you already share, such as the same course, the same club, or free time at the same hour. Everything you see today is a real, working app running on my laptop. The students in it are fictional: their names, their profiles and even their faces are invented, and the faces were generated by an AI, so nobody on screen is a real person. I will show you short screen recordings of the real app, then explain how it picks people, how it is built, and how I handle safety and privacy.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[0:40-2:00] Think about your own lectures. You sit in the same room as a hundred people for a whole semester, and you might talk to two of them. Meanwhile most apps that connect people start from a photo and a swipe. But on a campus, you already have much better reasons to talk to someone: you take the same course, you are in the same club, you are both free on Monday afternoon. Overlap starts from those reasons. In this picture, each circle is a student. Two of them have a lot in common, and they have never spoken. That gap is what the app tries to close.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[2:00-3:00] This is the whole idea in one picture. The left circle is you, the right circle is someone else on campus. Whatever sits in the middle is what you share: a course section, a club, free time, an interest. Overlap only scores those shared things. It never scores how someone looks. Each day you get a short list of six people instead of an endless feed, and every card tells you why it was chosen, so the app is never a black box. There are four modes: Friends, Study buddy, Dating, which needs a separate consent, and Open.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[3:00-4:00] To make the demo real, I created a fake campus called Hartwell University with twenty-five invented students. Here are the ten who play the main roles. Emma is our hero. Liam shares the most with her. Sophia will wave back. Olivia will report Jack, and Jack will get suspended, so we can see the safety system work. Dana does not exist yet: she joins live in the first video. All the data lives in a throwaway database on my laptop, and I want to be clear that the faces are AI-generated people who do not exist, so nobody here is a real student.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[4:00-5:00] The whole app is four tabs along the bottom of the phone. Picks is your daily list of six people. Waves is where people who liked you show up, and where you can wave back. Matches is for people who waved at each other: that is where you chat and plan a meetup. Me is your profile and your settings, including privacy. The app is built mobile-first because students use it on their phones, and it works in Korean and English.</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[5:00-7:00] Let me play the first recording. This is Dana, a brand-new student, joining for the first time. There is no password: she types her school email and gets a six-digit code. Then the age check. She enters her full birth date, the app checks she is old enough, and then it keeps only the birth year. Then the questions about what she shares with other people: her courses, her clubs, when she is free, her interests, and a few prompts. At the end she uploads photos and a selfie, and a human moderator approves the selfie. The recording is sped up one and a half times.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[7:00-8:30] Why does the profile ask so many questions? Because each answer becomes one ingredient of the match score. Courses and clubs tell the app what you do on campus. The free-time grid, two hours at a time, finds when you could actually meet. Interests are the softer things you like. And a short values quiz, eight statements, checks whether you approach life in a similar way. Notice what is not here: nothing about looks. Each screen is optional, and you can edit any section later.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[8:30-10:00] Now Emma's daily picks. She gets a short list, and every card has a few chips that say why she was shown this person: same course section, same club, free at the same time. She can swipe right to wave, swipe left to pass, or use the buttons. She can also react to one specific photo or prompt, because a short note makes a better opener than a bare like. And nothing is shared until both people wave: a match only exists when it is mutual.</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[10:00-11:00] Here is one card up close. The photos are on top, then the name and major, and then the part I care about most: the reasons. They are plain sentences, written only from facts both people entered: you are both in Data Structures, you are both in the board game club, you are both free Monday afternoon. If there is nothing true to say, the app does not make something up. That makes the recommendation easy to trust, and easy to explain in a class like this one.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[11:00-12:00] When Emma waves at Liam and Liam waves back, they match. Both sides now see each other's full profile and a chat opens. The app suggests icebreakers, and they come from what the two of them share, for example a joke about being in the same course. The chat itself is private: the system never logs it or reads it, and moderators only see what a person chooses to attach to a report.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[12:00-13:00] The last step is meeting in person, which is the point of the app. From the chat you can plan a meetup. The app looks at the free slots both people marked and suggests real times at safe public places on campus. One person proposes, the other accepts or declines, and a small coloured dot shows the state: yellow is waiting, green is accepted, red is declined. Once confirmed, a pinned banner stays in the chat with emergency contacts one tap away.</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[13:00-14:30] Now the part I find most interesting: how does the app decide who to show you? Think of a recipe with five ingredients. C is courses: how much of your class schedule overlaps. K is clubs. T is free time: do your weekly free hours line up. I is interests. And V is values: how similar your answers to the eight values questions are. Each ingredient is a number between zero and one. The app mixes them with weights, multiplies by a hundred, and that gives a score out of a hundred. The weights change with the mode: for Study buddy, courses weigh the most, while for Friends, interests weigh the most.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[14:30-15:30] One more idea makes the scores smarter. Sharing something rare says more about two people than sharing something everybody has. If only three people in a hundred join a club, and you are two of them, that is a real connection. If sixty people take the same big course, sharing it tells you much less. So every course, club and interest gets a weight: the rarer it is, the bigger the weight. The formula is the natural log of the number of students divided by one plus the number who share the thing. This is the same idea search engines use, called inverse document frequency, and the chart shows how fast the weight drops.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[15:30-17:00] Here is a real calculation from the demo database. Emma and Liam in Friends mode. Each row is one ingredient. The value is how much they overlap, between zero and one. The weight says how much that ingredient matters in Friends mode: in this mode interests are 30 percent and clubs 25 percent. Multiply the two and you get points. The five rows add up to 43.7 out of a hundred. On the right, the same five values for the four best candidates, so you can see why Liam ranks above the others. These are the actual numbers computed by the app's own code.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[17:00-18:00] The same five ingredients get different weights depending on what you are looking for. In Study buddy mode, courses are 45 percent of the score and free time 30, because you want someone who is in your class and free when you are. Friends leans on interests and clubs. Dating gives values the most weight, 30 percent. Open mode simply averages the three. On top of that, each person has three sliders on the Me tab, from half to one and a half times, for classes, interests and free time, so you can say what matters to you. A second idea keeps things fair: we rank people by the harmonic mean of both directions, so the match has to be good for both people.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[18:00-19:00] Putting it together: the app scores everyone against Emma, ranks them, and builds today's list of six. Most of the list comes from the very top, about four people. One or two come from a middle band, rank twenty to fifty, so the app does not only show the obvious, and one place is kept for a newcomer who joined in the last week. There are fairness rules too: nobody appears more than twenty-five times a day, someone you passed on twice is never shown again, and a person with a low trust score is shown less. And 'a day' is the Seoul calendar day, not UTC, which was a real bug I had to fix.</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[19:00-20:00] And here is how little code the heart of it is. This is simplified from the real file. scoreFromTerms multiplies each ingredient by its weight and adds them up. reciprocityScore takes the score from each person's point of view and combines them with a harmonic mean. If Emma scores Liam at 90 but Liam scores Emma at 10, the normal average is 50, but the harmonic mean is only 18, so a lopsided match ranks low. Because these are pure functions, with no database and no randomness, they are easy to test, and I wrote property-based tests that check things like: the score of A and B is the same as B and A.</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[20:00-21:30] A full-stack TypeScript app. In the browser, React 19 with Tailwind, in English and Korean. On the server, Next.js 16 with the App Router. Every change goes through a server action, and each action checks permissions itself, not only the routing layer. The matching engine is plain TypeScript functions. The data sits in PostgreSQL through Prisma, with 49 tables and 26 migrations. For testing I use Vitest for unit and property tests, Playwright for end-to-end tests on phone and desktop, and axe for accessibility. In total, about 47,000 lines of TypeScript across the website and the mobile app, 1,475 unit tests, and 27 end-to-end suites. One thing is new since the first version: there is also a native Android and iPhone app, written with Expo and React Native, that talks to the same server through a small mobile API, so the matching and safety rules are the same code. It is still being tested.</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[21:30-23:00] A dating app has to take safety seriously, so here is the report flow. Olivia reports Jack for harassment. The report goes to a moderator queue, and urgent categories such as non-consensual images are sorted first. A human moderator reads it and decides, always with a written reason: dismiss, warn, suspend for seven days, or ban. The system never punishes automatically. Jack then sees a banner explaining the suspension and how long it lasts, and he can appeal. Everyone can also block someone, or hide from them, in two taps.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[23:00-24:00] This is the moderator's side, on desktop. The first screen is the selfie verification queue: the moderator compares a new person's selfie to their profile photos and approves it. Then the reports queue, with the oldest and most urgent first. Notice something important: moderators see what they need and no more. They cannot see who someone is interested in dating, because that field is never even requested from the database for their role. I tested that at the query level, not just on the screen. There is also a small operations page with funnel numbers and the response-time target for reports.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[24:00-25:00] Privacy is not a paragraph in a policy here, it is enforced in code. We never store identity numbers: only the birth year is kept after the age check. Selfies are deleted within seven days; only a verified flag stays. Chats are never logged or shared. The field that says who you would like to date is encrypted in the database and never shown to moderators. If you delete your account, there is a thirty-day grace period and then your identity is scrubbed. And fake users like the ones in today's demo can only exist on a development database, never in production.</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[25:00-26:00] So where is Overlap today? It works end to end, and the landing page is live at overlaps.tech. I have tested it with a small team, no real students have been invited yet, and it is not open to the public. Before that I still have to write the moderator on-call rota, and either collect a waitlist of about three hundred people or start with a small pilot of fifty or fewer. Three things are still open, and I have accepted them as launch risks: a lawyer's review of the Terms and Privacy Policy, a named privacy officer with the official filings, and, for dating, an age check that is a birth year plus a declaration, with a proper verification agency planned. Events, campus pockets, web push notifications and the trust score are already built, and I am now building a native Android and iPhone app. What comes next is more campuses, chat photos with automatic screening, and the mobile apps.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[26:00-27:30] Three lessons. One: keep the interesting logic in small pure functions. The scoring is easy to reason about and to test, and property tests found a real bug where swapping two users changed the score, because of duplicate items in a list. Two: privacy is stronger when a field is never selected from the database than when a screen just hides it. I test that at the query level. Three: test the real user path on both phone and desktop. Many bugs only appeared there, for example a button that looked ready but had not finished loading, so a quick click was silently dropped.</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[27:00-27:30] Before questions: please scan this with your phone camera to open the Overlap landing page and join the waitlist. The address is overlaps.tech. It is the real, live landing page; the students and photos you saw in the demo are fictional, but the page is the real project.</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[27:30-] Thank you. I am happy to take questions, and I can also run any part of the app live, since it is running on this laptop. The cheat-sheet in the backup slides lists the demo accounts and the commands.</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slides: not part of the talk, kept here in case of questions.</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The landing page in light and dark mode, in Korean, and the age and consent step with the explanation of how matching works.</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The first screens of the profile wizard: basics, courses, free time and the values quiz.</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Edit any section of your profile, the privacy page with consent history and data export, a matched profile, and the matches list with the meetup state dots.</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The selfie verification queue and the operations metrics page.</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How to start the local demo again, and who to sign in as. Sign-in codes appear in a local file because no real email is sent.</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2202B"/>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rgbClr val="FAF8F3"/>
        </a:solidFill>
        <a:effectLst/>
      </p:bgPr>
    </p:bg>
    <p:spTree>
      <p:nvGrpSpPr>
        <p:cNvPr id="1" name=""/>
        <p:cNvGrpSpPr/>
        <p:nvPr/>
      </p:nvGrpSpPr>
      <p:grpSpPr>
        <a:xfrm>
          <a:off x="0" y="0"/>
          <a:ext cx="0" cy="0"/>
          <a:chOff x="0" y="0"/>
          <a:chExt cx="0" cy="0"/>
        </a:xfrm>
      </p:grpSpPr>
      <p:sp>
        <p:nvSpPr>
          <p:cNvPr id="2" name="Text 0"/>
          <p:cNvSpPr txBox="1"/>
          <p:nvPr/>
        </p:nvSpPr>
        <p:spPr>
          <a:xfrm>
            <a:off x="548640" y="6473952"/>
            <a:ext cx="7315200" cy="274320"/>
          </a:xfrm>
          <a:prstGeom prst="rect">
            <a:avLst/>
          </a:prstGeom>
          <a:noFill/>
          <a:ln/>
        </p:spPr>
        <p:txBody>
          <a:bodyPr wrap="square" lIns="0" tIns="0" rIns="0" bIns="0" rtlCol="0" anchor="ctr"/>
          <a:lstStyle/>
          <a:p>
            <a:pPr marL="0" indent="0">
              <a:buNone/>
            </a:pPr>
            <a:r>
              <a:rPr lang="en-US" sz="1000" dirty="0">
                <a:solidFill>
                  <a:schemeClr val="accent6"/>
                </a:solidFill>
              </a:rPr>
              <a:t>Overlap · class presentation · fictional people and data only</a:t>
            </a:r>
            <a:endParaRPr lang="en-US" sz="1000" dirty="0"/>
          </a:p>
        </p:txBody>
      </p:sp>
      <p:sp>
        <p:nvSpPr>
          <p:cNvPr id="3" name="Text 1"/>
          <p:cNvSpPr>
            <a:spLocks noGrp="1"/>
          </p:cNvSpPr>
          <p:nvPr>
            <p:ph type="title" idx="101" hasCustomPrompt="1"/>
          </p:nvPr>
        </p:nvSpPr>
        <p:spPr>
          <a:xfrm>
            <a:off x="548640" y="320040"/>
            <a:ext cx="11064240" cy="868680"/>
          </a:xfrm>
          <a:prstGeom prst="rect">
            <a:avLst/>
          </a:prstGeom>
          <a:noFill/>
          <a:ln/>
        </p:spPr>
        <p:txBody>
          <a:bodyPr wrap="square" rtlCol="0"/>
          <a:lstStyle>
            <a:lvl1pPr marL="0" indent="0" algn="l">
              <a:buNone/>
              <a:defRPr lang="en-US" sz="3400" b="1" dirty="0">
                <a:solidFill>
                  <a:schemeClr val="tx1"/>
                </a:solidFill>
              </a:defRPr>
            </a:lvl1pPr>
          </a:lstStyle>
          <a:p>
            <a:pPr marL="0" indent="0" algn="l">
              <a:buNone/>
            </a:pPr>
            <a:endParaRPr lang="en-US" sz="3400" dirty="0"/>
          </a:p>
        </p:txBody>
      </p:sp>
      <p:sp>
        <p:nvSpPr>
          <p:cNvPr id="25" name="Slide Number Placeholder 0"/>
          <p:cNvSpPr>
            <a:spLocks noGrp="1"/>
          </p:cNvSpPr>
          <p:nvPr>
            <p:ph type="sldNum" sz="quarter" idx="4294967295"/>
          </p:nvPr>
        </p:nvSpPr>
        <p:spPr>
          <a:xfrm>
            <a:off x="11155680" y="647395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_TOP">
    <p:bg>
      <p:bgPr>
        <a:solidFill>
          <a:srgbClr val="12202B"/>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rtlCol="0"/>
          <a:lstStyle>
            <a:lvl1pPr marL="0" indent="0" algn="l">
              <a:buNone/>
              <a:defRPr lang="en-US" sz="3400" b="1" dirty="0">
                <a:solidFill>
                  <a:srgbClr val="FFFFFF"/>
                </a:solidFill>
              </a:defRPr>
            </a:lvl1pPr>
          </a:lstStyle>
          <a:p>
            <a:pPr marL="0" indent="0" algn="l">
              <a:buNone/>
            </a:pPr>
            <a:endParaRPr lang="en-US" sz="3400" dirty="0"/>
          </a:p>
        </p:txBody>
      </p:sp>
      <p:sp>
        <p:nvSpPr>
          <p:cNvPr id="25" name="Slide Number Placeholder 0"/>
          <p:cNvSpPr>
            <a:spLocks noGrp="1"/>
          </p:cNvSpPr>
          <p:nvPr>
            <p:ph type="sldNum" sz="quarter" idx="4294967295"/>
          </p:nvPr>
        </p:nvSpPr>
        <p:spPr>
          <a:xfrm>
            <a:off x="11155680" y="647395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FA0A9"/>
                </a:solidFill>
              </a:defRPr>
            </a:lvl1pPr>
          </a:lstStyle>
          <a:p>
            <a:pPr algn="r"/>
            <a:fld id="{F7021451-1387-4CA6-816F-3879F97B5CBC}" type="slidenum">
              <a:rPr lang="en-US" b="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DARK_SIDE">
    <p:bg>
      <p:bgPr>
        <a:solidFill>
          <a:srgbClr val="12202B"/>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480560" y="548640"/>
            <a:ext cx="7223760" cy="1371600"/>
          </a:xfrm>
          <a:prstGeom prst="rect">
            <a:avLst/>
          </a:prstGeom>
          <a:noFill/>
          <a:ln/>
        </p:spPr>
        <p:txBody>
          <a:bodyPr wrap="square" rtlCol="0"/>
          <a:lstStyle>
            <a:lvl1pPr marL="0" indent="0" algn="l">
              <a:buNone/>
              <a:defRPr lang="en-US" sz="3400" b="1" dirty="0">
                <a:solidFill>
                  <a:srgbClr val="FFFFFF"/>
                </a:solidFill>
              </a:defRPr>
            </a:lvl1pPr>
          </a:lstStyle>
          <a:p>
            <a:pPr marL="0" indent="0" algn="l">
              <a:buNone/>
            </a:pPr>
            <a:endParaRPr lang="en-US" sz="3400" dirty="0"/>
          </a:p>
        </p:txBody>
      </p:sp>
      <p:sp>
        <p:nvSpPr>
          <p:cNvPr id="25" name="Slide Number Placeholder 0"/>
          <p:cNvSpPr>
            <a:spLocks noGrp="1"/>
          </p:cNvSpPr>
          <p:nvPr>
            <p:ph type="sldNum" sz="quarter" idx="4294967295"/>
          </p:nvPr>
        </p:nvSpPr>
        <p:spPr>
          <a:xfrm>
            <a:off x="11155680" y="647395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FA0A9"/>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7395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5.png"/><Relationship Id="rId18" Type="http://schemas.openxmlformats.org/officeDocument/2006/relationships/image" Target="../media/image20.png"/><Relationship Id="rId26" Type="http://schemas.openxmlformats.org/officeDocument/2006/relationships/image" Target="../media/image24.png"/><Relationship Id="rId3" Type="http://schemas.openxmlformats.org/officeDocument/2006/relationships/image" Target="../media/image1.png"/><Relationship Id="rId21" Type="http://schemas.openxmlformats.org/officeDocument/2006/relationships/image" Target="../media/image5.png"/><Relationship Id="rId7" Type="http://schemas.openxmlformats.org/officeDocument/2006/relationships/image" Target="../media/image10.png"/><Relationship Id="rId12" Type="http://schemas.openxmlformats.org/officeDocument/2006/relationships/image" Target="../media/image14.png"/><Relationship Id="rId17" Type="http://schemas.openxmlformats.org/officeDocument/2006/relationships/image" Target="../media/image19.png"/><Relationship Id="rId25" Type="http://schemas.openxmlformats.org/officeDocument/2006/relationships/image" Target="../media/image23.png"/><Relationship Id="rId2" Type="http://schemas.openxmlformats.org/officeDocument/2006/relationships/notesSlide" Target="../notesSlides/notesSlide2.xml"/><Relationship Id="rId16" Type="http://schemas.openxmlformats.org/officeDocument/2006/relationships/image" Target="../media/image18.png"/><Relationship Id="rId20" Type="http://schemas.openxmlformats.org/officeDocument/2006/relationships/image" Target="../media/image21.png"/><Relationship Id="rId1" Type="http://schemas.openxmlformats.org/officeDocument/2006/relationships/slideLayout" Target="../slideLayouts/slideLayout3.xml"/><Relationship Id="rId6" Type="http://schemas.openxmlformats.org/officeDocument/2006/relationships/image" Target="../media/image9.png"/><Relationship Id="rId11" Type="http://schemas.openxmlformats.org/officeDocument/2006/relationships/image" Target="../media/image13.png"/><Relationship Id="rId24" Type="http://schemas.openxmlformats.org/officeDocument/2006/relationships/image" Target="../media/image6.png"/><Relationship Id="rId5" Type="http://schemas.openxmlformats.org/officeDocument/2006/relationships/image" Target="../media/image8.png"/><Relationship Id="rId15" Type="http://schemas.openxmlformats.org/officeDocument/2006/relationships/image" Target="../media/image17.png"/><Relationship Id="rId23" Type="http://schemas.openxmlformats.org/officeDocument/2006/relationships/image" Target="../media/image22.png"/><Relationship Id="rId10" Type="http://schemas.openxmlformats.org/officeDocument/2006/relationships/image" Target="../media/image2.png"/><Relationship Id="rId19" Type="http://schemas.openxmlformats.org/officeDocument/2006/relationships/image" Target="../media/image3.png"/><Relationship Id="rId4" Type="http://schemas.openxmlformats.org/officeDocument/2006/relationships/image" Target="../media/image7.png"/><Relationship Id="rId9" Type="http://schemas.openxmlformats.org/officeDocument/2006/relationships/image" Target="../media/image12.png"/><Relationship Id="rId14" Type="http://schemas.openxmlformats.org/officeDocument/2006/relationships/image" Target="../media/image16.png"/><Relationship Id="rId22" Type="http://schemas.openxmlformats.org/officeDocument/2006/relationships/image" Target="../media/image4.png"/><Relationship Id="rId27" Type="http://schemas.openxmlformats.org/officeDocument/2006/relationships/image" Target="../media/image25.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24.png"/><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image" Target="../media/image21.png"/><Relationship Id="rId11" Type="http://schemas.openxmlformats.org/officeDocument/2006/relationships/image" Target="../media/image23.png"/><Relationship Id="rId5" Type="http://schemas.openxmlformats.org/officeDocument/2006/relationships/image" Target="../media/image3.png"/><Relationship Id="rId10" Type="http://schemas.openxmlformats.org/officeDocument/2006/relationships/image" Target="../media/image6.png"/><Relationship Id="rId4" Type="http://schemas.openxmlformats.org/officeDocument/2006/relationships/image" Target="../media/image2.png"/><Relationship Id="rId9" Type="http://schemas.openxmlformats.org/officeDocument/2006/relationships/image" Target="../media/image22.png"/></Relationships>
</file>

<file path=ppt/slides/_rels/slide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30.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video" Target="../media/media2.mp4"/><Relationship Id="rId1" Type="http://schemas.microsoft.com/office/2007/relationships/media" Target="../media/media2.mp4"/><Relationship Id="rId5" Type="http://schemas.openxmlformats.org/officeDocument/2006/relationships/image" Target="../media/image35.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37.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video" Target="../media/media3.mp4"/><Relationship Id="rId1" Type="http://schemas.microsoft.com/office/2007/relationships/media" Target="../media/media3.mp4"/><Relationship Id="rId5" Type="http://schemas.openxmlformats.org/officeDocument/2006/relationships/image" Target="../media/image38.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video" Target="../media/media4.mp4"/><Relationship Id="rId1" Type="http://schemas.microsoft.com/office/2007/relationships/media" Target="../media/media4.mp4"/><Relationship Id="rId5" Type="http://schemas.openxmlformats.org/officeDocument/2006/relationships/image" Target="../media/image39.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5.xml"/><Relationship Id="rId1" Type="http://schemas.openxmlformats.org/officeDocument/2006/relationships/slideLayout" Target="../slideLayouts/slideLayout3.xml"/><Relationship Id="rId4" Type="http://schemas.openxmlformats.org/officeDocument/2006/relationships/image" Target="../media/image40.png"/></Relationships>
</file>

<file path=ppt/slides/_rels/slide16.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video" Target="../media/media5.mp4"/><Relationship Id="rId1" Type="http://schemas.microsoft.com/office/2007/relationships/media" Target="../media/media5.mp4"/><Relationship Id="rId5" Type="http://schemas.openxmlformats.org/officeDocument/2006/relationships/image" Target="../media/image41.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video" Target="../media/media6.mp4"/><Relationship Id="rId1" Type="http://schemas.microsoft.com/office/2007/relationships/media" Target="../media/media6.mp4"/><Relationship Id="rId5" Type="http://schemas.openxmlformats.org/officeDocument/2006/relationships/image" Target="../media/image42.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4.xml"/><Relationship Id="rId1" Type="http://schemas.openxmlformats.org/officeDocument/2006/relationships/slideLayout" Target="../slideLayouts/slideLayout4.xml"/><Relationship Id="rId4" Type="http://schemas.openxmlformats.org/officeDocument/2006/relationships/hyperlink" Target="https://overlaps.tech" TargetMode="External"/></Relationships>
</file>

<file path=ppt/slides/_rels/slide25.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24.pn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21.png"/><Relationship Id="rId11" Type="http://schemas.openxmlformats.org/officeDocument/2006/relationships/image" Target="../media/image23.png"/><Relationship Id="rId5" Type="http://schemas.openxmlformats.org/officeDocument/2006/relationships/image" Target="../media/image3.png"/><Relationship Id="rId10" Type="http://schemas.openxmlformats.org/officeDocument/2006/relationships/image" Target="../media/image6.png"/><Relationship Id="rId4" Type="http://schemas.openxmlformats.org/officeDocument/2006/relationships/image" Target="../media/image2.png"/><Relationship Id="rId9" Type="http://schemas.openxmlformats.org/officeDocument/2006/relationships/image" Target="../media/image22.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7.xml"/><Relationship Id="rId1" Type="http://schemas.openxmlformats.org/officeDocument/2006/relationships/slideLayout" Target="../slideLayouts/slideLayout3.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s>
</file>

<file path=ppt/slides/_rels/slide28.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8.xml"/><Relationship Id="rId1" Type="http://schemas.openxmlformats.org/officeDocument/2006/relationships/slideLayout" Target="../slideLayouts/slideLayout3.xml"/><Relationship Id="rId6" Type="http://schemas.openxmlformats.org/officeDocument/2006/relationships/image" Target="../media/image34.png"/><Relationship Id="rId5" Type="http://schemas.openxmlformats.org/officeDocument/2006/relationships/image" Target="../media/image32.png"/><Relationship Id="rId4" Type="http://schemas.openxmlformats.org/officeDocument/2006/relationships/image" Target="../media/image31.png"/></Relationships>
</file>

<file path=ppt/slides/_rels/slide2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9.xml"/><Relationship Id="rId1" Type="http://schemas.openxmlformats.org/officeDocument/2006/relationships/slideLayout" Target="../slideLayouts/slideLayout3.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s>
</file>

<file path=ppt/slides/_rels/slide30.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30.xml"/><Relationship Id="rId1" Type="http://schemas.openxmlformats.org/officeDocument/2006/relationships/slideLayout" Target="../slideLayouts/slideLayout3.xml"/><Relationship Id="rId4" Type="http://schemas.openxmlformats.org/officeDocument/2006/relationships/image" Target="../media/image53.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logo-left"/>
          <p:cNvSpPr/>
          <p:nvPr/>
        </p:nvSpPr>
        <p:spPr>
          <a:xfrm>
            <a:off x="731520" y="914400"/>
            <a:ext cx="1371600" cy="1371600"/>
          </a:xfrm>
          <a:prstGeom prst="ellipse">
            <a:avLst/>
          </a:prstGeom>
          <a:solidFill>
            <a:srgbClr val="0F766E"/>
          </a:solidFill>
          <a:ln w="12700">
            <a:solidFill>
              <a:srgbClr val="0F766E"/>
            </a:solidFill>
            <a:prstDash val="solid"/>
          </a:ln>
        </p:spPr>
        <p:txBody>
          <a:bodyPr/>
          <a:lstStyle/>
          <a:p>
            <a:endParaRPr lang="en-US"/>
          </a:p>
        </p:txBody>
      </p:sp>
      <p:sp>
        <p:nvSpPr>
          <p:cNvPr id="4" name="logo-right"/>
          <p:cNvSpPr/>
          <p:nvPr/>
        </p:nvSpPr>
        <p:spPr>
          <a:xfrm>
            <a:off x="1508760" y="914400"/>
            <a:ext cx="1371600" cy="1371600"/>
          </a:xfrm>
          <a:prstGeom prst="ellipse">
            <a:avLst/>
          </a:prstGeom>
          <a:solidFill>
            <a:srgbClr val="F5B544">
              <a:alpha val="82000"/>
            </a:srgbClr>
          </a:solidFill>
          <a:ln w="12700">
            <a:solidFill>
              <a:srgbClr val="F5B544"/>
            </a:solidFill>
            <a:prstDash val="solid"/>
          </a:ln>
        </p:spPr>
        <p:txBody>
          <a:bodyPr/>
          <a:lstStyle/>
          <a:p>
            <a:endParaRPr lang="en-US"/>
          </a:p>
        </p:txBody>
      </p:sp>
      <p:sp>
        <p:nvSpPr>
          <p:cNvPr id="5" name="Text 2"/>
          <p:cNvSpPr txBox="1"/>
          <p:nvPr/>
        </p:nvSpPr>
        <p:spPr>
          <a:xfrm>
            <a:off x="731520" y="2423160"/>
            <a:ext cx="6035040" cy="1097280"/>
          </a:xfrm>
          <a:prstGeom prst="rect">
            <a:avLst/>
          </a:prstGeom>
          <a:noFill/>
          <a:ln/>
        </p:spPr>
        <p:txBody>
          <a:bodyPr wrap="square" lIns="0" tIns="0" rIns="0" bIns="0" rtlCol="0" anchor="ctr"/>
          <a:lstStyle/>
          <a:p>
            <a:pPr marL="0" indent="0">
              <a:buNone/>
            </a:pPr>
            <a:r>
              <a:rPr lang="en-US" sz="6600" b="1" dirty="0">
                <a:solidFill>
                  <a:srgbClr val="FFFFFF"/>
                </a:solidFill>
                <a:latin typeface="Cambria" pitchFamily="34" charset="0"/>
                <a:ea typeface="Cambria" pitchFamily="34" charset="-122"/>
                <a:cs typeface="Cambria" pitchFamily="34" charset="-120"/>
              </a:rPr>
              <a:t>Overlap</a:t>
            </a:r>
            <a:endParaRPr lang="en-US" sz="6600" dirty="0"/>
          </a:p>
        </p:txBody>
      </p:sp>
      <p:sp>
        <p:nvSpPr>
          <p:cNvPr id="6" name="Text 3"/>
          <p:cNvSpPr txBox="1"/>
          <p:nvPr/>
        </p:nvSpPr>
        <p:spPr>
          <a:xfrm>
            <a:off x="731520" y="3520440"/>
            <a:ext cx="5852160" cy="868680"/>
          </a:xfrm>
          <a:prstGeom prst="rect">
            <a:avLst/>
          </a:prstGeom>
          <a:noFill/>
          <a:ln/>
        </p:spPr>
        <p:txBody>
          <a:bodyPr wrap="square" lIns="0" tIns="0" rIns="0" bIns="0" rtlCol="0" anchor="t"/>
          <a:lstStyle/>
          <a:p>
            <a:pPr marL="0" indent="0">
              <a:buNone/>
            </a:pPr>
            <a:r>
              <a:rPr lang="en-US" sz="2400" dirty="0">
                <a:solidFill>
                  <a:srgbClr val="CFE3E0"/>
                </a:solidFill>
              </a:rPr>
              <a:t>Meet the people you already</a:t>
            </a:r>
            <a:endParaRPr lang="en-US" sz="2400" dirty="0"/>
          </a:p>
          <a:p>
            <a:pPr marL="0" indent="0">
              <a:buNone/>
            </a:pPr>
            <a:r>
              <a:rPr lang="en-US" sz="2400" dirty="0">
                <a:solidFill>
                  <a:srgbClr val="CFE3E0"/>
                </a:solidFill>
              </a:rPr>
              <a:t>share a campus with.</a:t>
            </a:r>
            <a:endParaRPr lang="en-US" sz="2400" dirty="0"/>
          </a:p>
        </p:txBody>
      </p:sp>
      <p:sp>
        <p:nvSpPr>
          <p:cNvPr id="7" name="Text 4"/>
          <p:cNvSpPr txBox="1"/>
          <p:nvPr/>
        </p:nvSpPr>
        <p:spPr>
          <a:xfrm>
            <a:off x="731520" y="4572000"/>
            <a:ext cx="5852160" cy="365760"/>
          </a:xfrm>
          <a:prstGeom prst="rect">
            <a:avLst/>
          </a:prstGeom>
          <a:noFill/>
          <a:ln/>
        </p:spPr>
        <p:txBody>
          <a:bodyPr wrap="square" lIns="0" tIns="0" rIns="0" bIns="0" rtlCol="0" anchor="ctr"/>
          <a:lstStyle/>
          <a:p>
            <a:pPr marL="0" indent="0">
              <a:buNone/>
            </a:pPr>
            <a:r>
              <a:rPr lang="en-US" sz="1600" dirty="0">
                <a:solidFill>
                  <a:srgbClr val="F5B544"/>
                </a:solidFill>
              </a:rPr>
              <a:t>Web Programming · class presentation</a:t>
            </a:r>
            <a:endParaRPr lang="en-US" sz="1600" dirty="0"/>
          </a:p>
        </p:txBody>
      </p:sp>
      <p:sp>
        <p:nvSpPr>
          <p:cNvPr id="8" name="Text 5"/>
          <p:cNvSpPr txBox="1"/>
          <p:nvPr/>
        </p:nvSpPr>
        <p:spPr>
          <a:xfrm>
            <a:off x="731520" y="5074920"/>
            <a:ext cx="5852160" cy="365760"/>
          </a:xfrm>
          <a:prstGeom prst="rect">
            <a:avLst/>
          </a:prstGeom>
          <a:noFill/>
          <a:ln/>
        </p:spPr>
        <p:txBody>
          <a:bodyPr wrap="square" lIns="0" tIns="0" rIns="0" bIns="0" rtlCol="0" anchor="ctr"/>
          <a:lstStyle/>
          <a:p>
            <a:pPr marL="0" indent="0">
              <a:buNone/>
            </a:pPr>
            <a:r>
              <a:rPr lang="en-US" sz="1800" b="1" dirty="0">
                <a:solidFill>
                  <a:srgbClr val="FFFFFF"/>
                </a:solidFill>
              </a:rPr>
              <a:t>Rahimjon</a:t>
            </a:r>
            <a:r>
              <a:rPr lang="en-US" sz="1800" dirty="0">
                <a:solidFill>
                  <a:srgbClr val="B9CBD3"/>
                </a:solidFill>
              </a:rPr>
              <a:t>   202438377</a:t>
            </a:r>
            <a:endParaRPr lang="en-US" sz="1800" dirty="0"/>
          </a:p>
        </p:txBody>
      </p:sp>
      <p:sp>
        <p:nvSpPr>
          <p:cNvPr id="9" name="Text 6"/>
          <p:cNvSpPr txBox="1"/>
          <p:nvPr/>
        </p:nvSpPr>
        <p:spPr>
          <a:xfrm>
            <a:off x="731520" y="5486400"/>
            <a:ext cx="5852160" cy="365760"/>
          </a:xfrm>
          <a:prstGeom prst="rect">
            <a:avLst/>
          </a:prstGeom>
          <a:noFill/>
          <a:ln/>
        </p:spPr>
        <p:txBody>
          <a:bodyPr wrap="square" lIns="0" tIns="0" rIns="0" bIns="0" rtlCol="0" anchor="ctr"/>
          <a:lstStyle/>
          <a:p>
            <a:pPr marL="0" indent="0">
              <a:buNone/>
            </a:pPr>
            <a:r>
              <a:rPr lang="en-US" sz="1800" b="1" dirty="0">
                <a:solidFill>
                  <a:srgbClr val="FFFFFF"/>
                </a:solidFill>
              </a:rPr>
              <a:t>Asilbek</a:t>
            </a:r>
            <a:r>
              <a:rPr lang="en-US" sz="1800" dirty="0">
                <a:solidFill>
                  <a:srgbClr val="B9CBD3"/>
                </a:solidFill>
              </a:rPr>
              <a:t>   202438394</a:t>
            </a:r>
            <a:endParaRPr lang="en-US" sz="1800" dirty="0"/>
          </a:p>
        </p:txBody>
      </p:sp>
      <p:sp>
        <p:nvSpPr>
          <p:cNvPr id="10" name="Text 7"/>
          <p:cNvSpPr txBox="1"/>
          <p:nvPr/>
        </p:nvSpPr>
        <p:spPr>
          <a:xfrm>
            <a:off x="731520" y="5897880"/>
            <a:ext cx="5852160" cy="365760"/>
          </a:xfrm>
          <a:prstGeom prst="rect">
            <a:avLst/>
          </a:prstGeom>
          <a:noFill/>
          <a:ln/>
        </p:spPr>
        <p:txBody>
          <a:bodyPr wrap="square" lIns="0" tIns="0" rIns="0" bIns="0" rtlCol="0" anchor="ctr"/>
          <a:lstStyle/>
          <a:p>
            <a:pPr marL="0" indent="0">
              <a:buNone/>
            </a:pPr>
            <a:r>
              <a:rPr lang="en-US" sz="1800" b="1" dirty="0">
                <a:solidFill>
                  <a:srgbClr val="FFFFFF"/>
                </a:solidFill>
              </a:rPr>
              <a:t>Shuhratxon</a:t>
            </a:r>
            <a:r>
              <a:rPr lang="en-US" sz="1800" dirty="0">
                <a:solidFill>
                  <a:srgbClr val="B9CBD3"/>
                </a:solidFill>
              </a:rPr>
              <a:t>   202537358</a:t>
            </a:r>
            <a:endParaRPr lang="en-US" sz="1800" dirty="0"/>
          </a:p>
        </p:txBody>
      </p:sp>
      <p:pic>
        <p:nvPicPr>
          <p:cNvPr id="11" name="Image 0" descr="AI-generated portrait of the fictional student emma"/>
          <p:cNvPicPr>
            <a:picLocks noChangeAspect="1"/>
          </p:cNvPicPr>
          <p:nvPr/>
        </p:nvPicPr>
        <p:blipFill>
          <a:blip r:embed="rId3"/>
          <a:stretch>
            <a:fillRect/>
          </a:stretch>
        </p:blipFill>
        <p:spPr>
          <a:xfrm>
            <a:off x="7315200" y="822960"/>
            <a:ext cx="2286000" cy="2286000"/>
          </a:xfrm>
          <a:prstGeom prst="rect">
            <a:avLst/>
          </a:prstGeom>
        </p:spPr>
      </p:pic>
      <p:pic>
        <p:nvPicPr>
          <p:cNvPr id="12" name="Image 1" descr="AI-generated portrait of the fictional student liam"/>
          <p:cNvPicPr>
            <a:picLocks noChangeAspect="1"/>
          </p:cNvPicPr>
          <p:nvPr/>
        </p:nvPicPr>
        <p:blipFill>
          <a:blip r:embed="rId4"/>
          <a:stretch>
            <a:fillRect/>
          </a:stretch>
        </p:blipFill>
        <p:spPr>
          <a:xfrm>
            <a:off x="9509760" y="1371600"/>
            <a:ext cx="1920240" cy="1920240"/>
          </a:xfrm>
          <a:prstGeom prst="rect">
            <a:avLst/>
          </a:prstGeom>
        </p:spPr>
      </p:pic>
      <p:pic>
        <p:nvPicPr>
          <p:cNvPr id="13" name="Image 2" descr="AI-generated portrait of the fictional student sophia"/>
          <p:cNvPicPr>
            <a:picLocks noChangeAspect="1"/>
          </p:cNvPicPr>
          <p:nvPr/>
        </p:nvPicPr>
        <p:blipFill>
          <a:blip r:embed="rId5"/>
          <a:stretch>
            <a:fillRect/>
          </a:stretch>
        </p:blipFill>
        <p:spPr>
          <a:xfrm>
            <a:off x="6949440" y="3200400"/>
            <a:ext cx="1828800" cy="1828800"/>
          </a:xfrm>
          <a:prstGeom prst="rect">
            <a:avLst/>
          </a:prstGeom>
        </p:spPr>
      </p:pic>
      <p:pic>
        <p:nvPicPr>
          <p:cNvPr id="14" name="Image 3" descr="AI-generated portrait of the fictional student noah"/>
          <p:cNvPicPr>
            <a:picLocks noChangeAspect="1"/>
          </p:cNvPicPr>
          <p:nvPr/>
        </p:nvPicPr>
        <p:blipFill>
          <a:blip r:embed="rId6"/>
          <a:stretch>
            <a:fillRect/>
          </a:stretch>
        </p:blipFill>
        <p:spPr>
          <a:xfrm>
            <a:off x="8686800" y="3383280"/>
            <a:ext cx="2286000" cy="2286000"/>
          </a:xfrm>
          <a:prstGeom prst="rect">
            <a:avLst/>
          </a:prstGeom>
        </p:spPr>
      </p:pic>
      <p:pic>
        <p:nvPicPr>
          <p:cNvPr id="15" name="Image 4" descr="AI-generated portrait of the fictional student olivia"/>
          <p:cNvPicPr>
            <a:picLocks noChangeAspect="1"/>
          </p:cNvPicPr>
          <p:nvPr/>
        </p:nvPicPr>
        <p:blipFill>
          <a:blip r:embed="rId7"/>
          <a:stretch>
            <a:fillRect/>
          </a:stretch>
        </p:blipFill>
        <p:spPr>
          <a:xfrm>
            <a:off x="10698480" y="2743200"/>
            <a:ext cx="1280160" cy="1280160"/>
          </a:xfrm>
          <a:prstGeom prst="rect">
            <a:avLst/>
          </a:prstGeom>
        </p:spPr>
      </p:pic>
      <p:pic>
        <p:nvPicPr>
          <p:cNvPr id="16" name="Image 5" descr="AI-generated portrait of the fictional student grace"/>
          <p:cNvPicPr>
            <a:picLocks noChangeAspect="1"/>
          </p:cNvPicPr>
          <p:nvPr/>
        </p:nvPicPr>
        <p:blipFill>
          <a:blip r:embed="rId8"/>
          <a:stretch>
            <a:fillRect/>
          </a:stretch>
        </p:blipFill>
        <p:spPr>
          <a:xfrm>
            <a:off x="10241280" y="4572000"/>
            <a:ext cx="1554480" cy="1554480"/>
          </a:xfrm>
          <a:prstGeom prst="rect">
            <a:avLst/>
          </a:prstGeom>
        </p:spPr>
      </p:pic>
      <p:sp>
        <p:nvSpPr>
          <p:cNvPr id="17" name="Text 8"/>
          <p:cNvSpPr txBox="1"/>
          <p:nvPr/>
        </p:nvSpPr>
        <p:spPr>
          <a:xfrm>
            <a:off x="6949440" y="6263640"/>
            <a:ext cx="4754880" cy="274320"/>
          </a:xfrm>
          <a:prstGeom prst="rect">
            <a:avLst/>
          </a:prstGeom>
          <a:noFill/>
          <a:ln/>
        </p:spPr>
        <p:txBody>
          <a:bodyPr wrap="square" lIns="0" tIns="0" rIns="0" bIns="0" rtlCol="0" anchor="ctr"/>
          <a:lstStyle/>
          <a:p>
            <a:pPr marL="0" indent="0" algn="r">
              <a:buNone/>
            </a:pPr>
            <a:r>
              <a:rPr lang="en-US" sz="1100" dirty="0">
                <a:solidFill>
                  <a:srgbClr val="8FA0A9"/>
                </a:solidFill>
              </a:rPr>
              <a:t>Portraits are AI-generated. Nobody shown is a real student.</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400" b="1" dirty="0">
                <a:solidFill>
                  <a:schemeClr val="tx1"/>
                </a:solidFill>
              </a:rPr>
              <a:t>You share a campus with thousands of people and meet a handful</a:t>
            </a:r>
            <a:endParaRPr lang="en-US" sz="3400" dirty="0"/>
          </a:p>
        </p:txBody>
      </p:sp>
      <p:sp>
        <p:nvSpPr>
          <p:cNvPr id="4" name="step-1-dot"/>
          <p:cNvSpPr/>
          <p:nvPr/>
        </p:nvSpPr>
        <p:spPr>
          <a:xfrm>
            <a:off x="548640" y="1600200"/>
            <a:ext cx="457200" cy="457200"/>
          </a:xfrm>
          <a:prstGeom prst="ellipse">
            <a:avLst/>
          </a:prstGeom>
          <a:solidFill>
            <a:srgbClr val="0F766E"/>
          </a:solidFill>
          <a:ln w="12700">
            <a:solidFill>
              <a:srgbClr val="0F766E"/>
            </a:solidFill>
            <a:prstDash val="solid"/>
          </a:ln>
        </p:spPr>
        <p:txBody>
          <a:bodyPr/>
          <a:lstStyle/>
          <a:p>
            <a:endParaRPr lang="en-US"/>
          </a:p>
        </p:txBody>
      </p:sp>
      <p:sp>
        <p:nvSpPr>
          <p:cNvPr id="5" name="Text 2"/>
          <p:cNvSpPr txBox="1"/>
          <p:nvPr/>
        </p:nvSpPr>
        <p:spPr>
          <a:xfrm>
            <a:off x="548640" y="1600200"/>
            <a:ext cx="457200" cy="457200"/>
          </a:xfrm>
          <a:prstGeom prst="rect">
            <a:avLst/>
          </a:prstGeom>
          <a:noFill/>
          <a:ln/>
        </p:spPr>
        <p:txBody>
          <a:bodyPr wrap="square" lIns="0" tIns="0" rIns="0" bIns="0" rtlCol="0" anchor="ctr"/>
          <a:lstStyle/>
          <a:p>
            <a:pPr marL="0" indent="0" algn="ctr">
              <a:buNone/>
            </a:pPr>
            <a:r>
              <a:rPr lang="en-US" sz="1600" b="1" dirty="0">
                <a:solidFill>
                  <a:srgbClr val="12202B"/>
                </a:solidFill>
              </a:rPr>
              <a:t>1</a:t>
            </a:r>
            <a:endParaRPr lang="en-US" sz="1600" dirty="0"/>
          </a:p>
        </p:txBody>
      </p:sp>
      <p:sp>
        <p:nvSpPr>
          <p:cNvPr id="6" name="Text 3"/>
          <p:cNvSpPr txBox="1"/>
          <p:nvPr/>
        </p:nvSpPr>
        <p:spPr>
          <a:xfrm>
            <a:off x="1234440" y="1545336"/>
            <a:ext cx="5166360" cy="365760"/>
          </a:xfrm>
          <a:prstGeom prst="rect">
            <a:avLst/>
          </a:prstGeom>
          <a:noFill/>
          <a:ln/>
        </p:spPr>
        <p:txBody>
          <a:bodyPr wrap="square" lIns="0" tIns="0" rIns="0" bIns="0" rtlCol="0" anchor="ctr"/>
          <a:lstStyle/>
          <a:p>
            <a:pPr marL="0" indent="0">
              <a:buNone/>
            </a:pPr>
            <a:r>
              <a:rPr lang="en-US" sz="2000" b="1" dirty="0">
                <a:solidFill>
                  <a:schemeClr val="tx1"/>
                </a:solidFill>
              </a:rPr>
              <a:t>Same lecture, never spoken</a:t>
            </a:r>
            <a:endParaRPr lang="en-US" sz="2000" dirty="0"/>
          </a:p>
        </p:txBody>
      </p:sp>
      <p:sp>
        <p:nvSpPr>
          <p:cNvPr id="7" name="Text 4"/>
          <p:cNvSpPr txBox="1"/>
          <p:nvPr/>
        </p:nvSpPr>
        <p:spPr>
          <a:xfrm>
            <a:off x="1234440" y="1929384"/>
            <a:ext cx="5166360" cy="640080"/>
          </a:xfrm>
          <a:prstGeom prst="rect">
            <a:avLst/>
          </a:prstGeom>
          <a:noFill/>
          <a:ln/>
        </p:spPr>
        <p:txBody>
          <a:bodyPr wrap="square" lIns="0" tIns="0" rIns="0" bIns="0" rtlCol="0" anchor="t"/>
          <a:lstStyle/>
          <a:p>
            <a:pPr marL="0" indent="0">
              <a:buNone/>
            </a:pPr>
            <a:r>
              <a:rPr lang="en-US" sz="1500" dirty="0">
                <a:solidFill>
                  <a:srgbClr val="4A5A66"/>
                </a:solidFill>
              </a:rPr>
              <a:t>You can see the same faces for a whole semester without ever saying hello.</a:t>
            </a:r>
            <a:endParaRPr lang="en-US" sz="1500" dirty="0"/>
          </a:p>
        </p:txBody>
      </p:sp>
      <p:sp>
        <p:nvSpPr>
          <p:cNvPr id="8" name="step-2-dot"/>
          <p:cNvSpPr/>
          <p:nvPr/>
        </p:nvSpPr>
        <p:spPr>
          <a:xfrm>
            <a:off x="548640" y="2926080"/>
            <a:ext cx="457200" cy="457200"/>
          </a:xfrm>
          <a:prstGeom prst="ellipse">
            <a:avLst/>
          </a:prstGeom>
          <a:solidFill>
            <a:srgbClr val="0F766E"/>
          </a:solidFill>
          <a:ln w="12700">
            <a:solidFill>
              <a:srgbClr val="0F766E"/>
            </a:solidFill>
            <a:prstDash val="solid"/>
          </a:ln>
        </p:spPr>
        <p:txBody>
          <a:bodyPr/>
          <a:lstStyle/>
          <a:p>
            <a:endParaRPr lang="en-US"/>
          </a:p>
        </p:txBody>
      </p:sp>
      <p:sp>
        <p:nvSpPr>
          <p:cNvPr id="9" name="Text 6"/>
          <p:cNvSpPr txBox="1"/>
          <p:nvPr/>
        </p:nvSpPr>
        <p:spPr>
          <a:xfrm>
            <a:off x="548640" y="2926080"/>
            <a:ext cx="457200" cy="457200"/>
          </a:xfrm>
          <a:prstGeom prst="rect">
            <a:avLst/>
          </a:prstGeom>
          <a:noFill/>
          <a:ln/>
        </p:spPr>
        <p:txBody>
          <a:bodyPr wrap="square" lIns="0" tIns="0" rIns="0" bIns="0" rtlCol="0" anchor="ctr"/>
          <a:lstStyle/>
          <a:p>
            <a:pPr marL="0" indent="0" algn="ctr">
              <a:buNone/>
            </a:pPr>
            <a:r>
              <a:rPr lang="en-US" sz="1600" b="1" dirty="0">
                <a:solidFill>
                  <a:srgbClr val="12202B"/>
                </a:solidFill>
              </a:rPr>
              <a:t>2</a:t>
            </a:r>
            <a:endParaRPr lang="en-US" sz="1600" dirty="0"/>
          </a:p>
        </p:txBody>
      </p:sp>
      <p:sp>
        <p:nvSpPr>
          <p:cNvPr id="10" name="Text 7"/>
          <p:cNvSpPr txBox="1"/>
          <p:nvPr/>
        </p:nvSpPr>
        <p:spPr>
          <a:xfrm>
            <a:off x="1234440" y="2871216"/>
            <a:ext cx="5166360" cy="365760"/>
          </a:xfrm>
          <a:prstGeom prst="rect">
            <a:avLst/>
          </a:prstGeom>
          <a:noFill/>
          <a:ln/>
        </p:spPr>
        <p:txBody>
          <a:bodyPr wrap="square" lIns="0" tIns="0" rIns="0" bIns="0" rtlCol="0" anchor="ctr"/>
          <a:lstStyle/>
          <a:p>
            <a:pPr marL="0" indent="0">
              <a:buNone/>
            </a:pPr>
            <a:r>
              <a:rPr lang="en-US" sz="2000" b="1" dirty="0">
                <a:solidFill>
                  <a:schemeClr val="tx1"/>
                </a:solidFill>
              </a:rPr>
              <a:t>Most apps start from looks</a:t>
            </a:r>
            <a:endParaRPr lang="en-US" sz="2000" dirty="0"/>
          </a:p>
        </p:txBody>
      </p:sp>
      <p:sp>
        <p:nvSpPr>
          <p:cNvPr id="11" name="Text 8"/>
          <p:cNvSpPr txBox="1"/>
          <p:nvPr/>
        </p:nvSpPr>
        <p:spPr>
          <a:xfrm>
            <a:off x="1234440" y="3255264"/>
            <a:ext cx="5166360" cy="640080"/>
          </a:xfrm>
          <a:prstGeom prst="rect">
            <a:avLst/>
          </a:prstGeom>
          <a:noFill/>
          <a:ln/>
        </p:spPr>
        <p:txBody>
          <a:bodyPr wrap="square" lIns="0" tIns="0" rIns="0" bIns="0" rtlCol="0" anchor="t"/>
          <a:lstStyle/>
          <a:p>
            <a:pPr marL="0" indent="0">
              <a:buNone/>
            </a:pPr>
            <a:r>
              <a:rPr lang="en-US" sz="1500" dirty="0">
                <a:solidFill>
                  <a:srgbClr val="4A5A66"/>
                </a:solidFill>
              </a:rPr>
              <a:t>A photo and a swipe tell you nothing about whether you would actually get along.</a:t>
            </a:r>
            <a:endParaRPr lang="en-US" sz="1500" dirty="0"/>
          </a:p>
        </p:txBody>
      </p:sp>
      <p:sp>
        <p:nvSpPr>
          <p:cNvPr id="12" name="step-3-dot"/>
          <p:cNvSpPr/>
          <p:nvPr/>
        </p:nvSpPr>
        <p:spPr>
          <a:xfrm>
            <a:off x="548640" y="4251960"/>
            <a:ext cx="457200" cy="457200"/>
          </a:xfrm>
          <a:prstGeom prst="ellipse">
            <a:avLst/>
          </a:prstGeom>
          <a:solidFill>
            <a:srgbClr val="0F766E"/>
          </a:solidFill>
          <a:ln w="12700">
            <a:solidFill>
              <a:srgbClr val="0F766E"/>
            </a:solidFill>
            <a:prstDash val="solid"/>
          </a:ln>
        </p:spPr>
        <p:txBody>
          <a:bodyPr/>
          <a:lstStyle/>
          <a:p>
            <a:endParaRPr lang="en-US"/>
          </a:p>
        </p:txBody>
      </p:sp>
      <p:sp>
        <p:nvSpPr>
          <p:cNvPr id="13" name="Text 10"/>
          <p:cNvSpPr txBox="1"/>
          <p:nvPr/>
        </p:nvSpPr>
        <p:spPr>
          <a:xfrm>
            <a:off x="548640" y="4251960"/>
            <a:ext cx="457200" cy="457200"/>
          </a:xfrm>
          <a:prstGeom prst="rect">
            <a:avLst/>
          </a:prstGeom>
          <a:noFill/>
          <a:ln/>
        </p:spPr>
        <p:txBody>
          <a:bodyPr wrap="square" lIns="0" tIns="0" rIns="0" bIns="0" rtlCol="0" anchor="ctr"/>
          <a:lstStyle/>
          <a:p>
            <a:pPr marL="0" indent="0" algn="ctr">
              <a:buNone/>
            </a:pPr>
            <a:r>
              <a:rPr lang="en-US" sz="1600" b="1" dirty="0">
                <a:solidFill>
                  <a:srgbClr val="12202B"/>
                </a:solidFill>
              </a:rPr>
              <a:t>3</a:t>
            </a:r>
            <a:endParaRPr lang="en-US" sz="1600" dirty="0"/>
          </a:p>
        </p:txBody>
      </p:sp>
      <p:sp>
        <p:nvSpPr>
          <p:cNvPr id="14" name="Text 11"/>
          <p:cNvSpPr txBox="1"/>
          <p:nvPr/>
        </p:nvSpPr>
        <p:spPr>
          <a:xfrm>
            <a:off x="1234440" y="4197096"/>
            <a:ext cx="5166360" cy="365760"/>
          </a:xfrm>
          <a:prstGeom prst="rect">
            <a:avLst/>
          </a:prstGeom>
          <a:noFill/>
          <a:ln/>
        </p:spPr>
        <p:txBody>
          <a:bodyPr wrap="square" lIns="0" tIns="0" rIns="0" bIns="0" rtlCol="0" anchor="ctr"/>
          <a:lstStyle/>
          <a:p>
            <a:pPr marL="0" indent="0">
              <a:buNone/>
            </a:pPr>
            <a:r>
              <a:rPr lang="en-US" sz="2000" b="1" dirty="0">
                <a:solidFill>
                  <a:schemeClr val="tx1"/>
                </a:solidFill>
              </a:rPr>
              <a:t>Campus life has better reasons</a:t>
            </a:r>
            <a:endParaRPr lang="en-US" sz="2000" dirty="0"/>
          </a:p>
        </p:txBody>
      </p:sp>
      <p:sp>
        <p:nvSpPr>
          <p:cNvPr id="15" name="Text 12"/>
          <p:cNvSpPr txBox="1"/>
          <p:nvPr/>
        </p:nvSpPr>
        <p:spPr>
          <a:xfrm>
            <a:off x="1234440" y="4581144"/>
            <a:ext cx="5166360" cy="640080"/>
          </a:xfrm>
          <a:prstGeom prst="rect">
            <a:avLst/>
          </a:prstGeom>
          <a:noFill/>
          <a:ln/>
        </p:spPr>
        <p:txBody>
          <a:bodyPr wrap="square" lIns="0" tIns="0" rIns="0" bIns="0" rtlCol="0" anchor="t"/>
          <a:lstStyle/>
          <a:p>
            <a:pPr marL="0" indent="0">
              <a:buNone/>
            </a:pPr>
            <a:r>
              <a:rPr lang="en-US" sz="1500" dirty="0">
                <a:solidFill>
                  <a:srgbClr val="4A5A66"/>
                </a:solidFill>
              </a:rPr>
              <a:t>A course, a club, a free hour: shared things make the first message easy.</a:t>
            </a:r>
            <a:endParaRPr lang="en-US" sz="1500" dirty="0"/>
          </a:p>
        </p:txBody>
      </p:sp>
      <p:sp>
        <p:nvSpPr>
          <p:cNvPr id="16" name="Shape 13"/>
          <p:cNvSpPr/>
          <p:nvPr/>
        </p:nvSpPr>
        <p:spPr>
          <a:xfrm>
            <a:off x="548640" y="5440680"/>
            <a:ext cx="5852160" cy="914400"/>
          </a:xfrm>
          <a:prstGeom prst="roundRect">
            <a:avLst>
              <a:gd name="adj" fmla="val 12000"/>
            </a:avLst>
          </a:prstGeom>
          <a:solidFill>
            <a:srgbClr val="E6F3F1"/>
          </a:solidFill>
          <a:ln w="12700">
            <a:solidFill>
              <a:srgbClr val="E6F3F1"/>
            </a:solidFill>
            <a:prstDash val="solid"/>
          </a:ln>
        </p:spPr>
        <p:txBody>
          <a:bodyPr/>
          <a:lstStyle/>
          <a:p>
            <a:endParaRPr lang="en-US"/>
          </a:p>
        </p:txBody>
      </p:sp>
      <p:sp>
        <p:nvSpPr>
          <p:cNvPr id="17" name="Text 14"/>
          <p:cNvSpPr txBox="1"/>
          <p:nvPr/>
        </p:nvSpPr>
        <p:spPr>
          <a:xfrm>
            <a:off x="777240" y="5568696"/>
            <a:ext cx="5394960" cy="256032"/>
          </a:xfrm>
          <a:prstGeom prst="rect">
            <a:avLst/>
          </a:prstGeom>
          <a:noFill/>
          <a:ln/>
        </p:spPr>
        <p:txBody>
          <a:bodyPr wrap="square" lIns="0" tIns="0" rIns="0" bIns="0" rtlCol="0" anchor="ctr"/>
          <a:lstStyle/>
          <a:p>
            <a:pPr marL="0" indent="0">
              <a:buNone/>
            </a:pPr>
            <a:r>
              <a:rPr lang="en-US" sz="1100" b="1" kern="0" spc="200" dirty="0">
                <a:solidFill>
                  <a:srgbClr val="0F766E"/>
                </a:solidFill>
              </a:rPr>
              <a:t>IN PLAIN WORDS</a:t>
            </a:r>
            <a:endParaRPr lang="en-US" sz="1100" dirty="0"/>
          </a:p>
        </p:txBody>
      </p:sp>
      <p:sp>
        <p:nvSpPr>
          <p:cNvPr id="18" name="Text 15"/>
          <p:cNvSpPr txBox="1"/>
          <p:nvPr/>
        </p:nvSpPr>
        <p:spPr>
          <a:xfrm>
            <a:off x="777240" y="5861304"/>
            <a:ext cx="5394960" cy="384048"/>
          </a:xfrm>
          <a:prstGeom prst="rect">
            <a:avLst/>
          </a:prstGeom>
          <a:noFill/>
          <a:ln/>
        </p:spPr>
        <p:txBody>
          <a:bodyPr wrap="square" lIns="0" tIns="0" rIns="0" bIns="0" rtlCol="0" anchor="t"/>
          <a:lstStyle/>
          <a:p>
            <a:pPr marL="0" indent="0">
              <a:buNone/>
            </a:pPr>
            <a:r>
              <a:rPr lang="en-US" sz="1500" dirty="0">
                <a:solidFill>
                  <a:schemeClr val="tx1"/>
                </a:solidFill>
              </a:rPr>
              <a:t>Overlap introduces you to people through what you already share, so the first message has something to talk about.</a:t>
            </a:r>
            <a:endParaRPr lang="en-US" sz="1500" dirty="0"/>
          </a:p>
        </p:txBody>
      </p:sp>
      <p:sp>
        <p:nvSpPr>
          <p:cNvPr id="19" name="overlap-link"/>
          <p:cNvSpPr/>
          <p:nvPr/>
        </p:nvSpPr>
        <p:spPr>
          <a:xfrm>
            <a:off x="7443216" y="1773936"/>
            <a:ext cx="1792224" cy="896112"/>
          </a:xfrm>
          <a:prstGeom prst="line">
            <a:avLst/>
          </a:prstGeom>
          <a:noFill/>
          <a:ln w="50800">
            <a:solidFill>
              <a:srgbClr val="F5B544"/>
            </a:solidFill>
            <a:prstDash val="solid"/>
          </a:ln>
        </p:spPr>
        <p:txBody>
          <a:bodyPr/>
          <a:lstStyle/>
          <a:p>
            <a:endParaRPr lang="en-US"/>
          </a:p>
        </p:txBody>
      </p:sp>
      <p:pic>
        <p:nvPicPr>
          <p:cNvPr id="20" name="Image 0" descr="AI-generated portrait of the fictional student emma"/>
          <p:cNvPicPr>
            <a:picLocks noChangeAspect="1"/>
          </p:cNvPicPr>
          <p:nvPr/>
        </p:nvPicPr>
        <p:blipFill>
          <a:blip r:embed="rId3"/>
          <a:stretch>
            <a:fillRect/>
          </a:stretch>
        </p:blipFill>
        <p:spPr>
          <a:xfrm>
            <a:off x="7086600" y="1417320"/>
            <a:ext cx="713232" cy="713232"/>
          </a:xfrm>
          <a:prstGeom prst="rect">
            <a:avLst/>
          </a:prstGeom>
        </p:spPr>
      </p:pic>
      <p:pic>
        <p:nvPicPr>
          <p:cNvPr id="21" name="Image 1" descr="AI-generated portrait of the fictional student mia"/>
          <p:cNvPicPr>
            <a:picLocks noChangeAspect="1"/>
          </p:cNvPicPr>
          <p:nvPr/>
        </p:nvPicPr>
        <p:blipFill>
          <a:blip r:embed="rId4"/>
          <a:stretch>
            <a:fillRect/>
          </a:stretch>
        </p:blipFill>
        <p:spPr>
          <a:xfrm>
            <a:off x="7982712" y="1417320"/>
            <a:ext cx="713232" cy="713232"/>
          </a:xfrm>
          <a:prstGeom prst="rect">
            <a:avLst/>
          </a:prstGeom>
        </p:spPr>
      </p:pic>
      <p:pic>
        <p:nvPicPr>
          <p:cNvPr id="22" name="Image 2" descr="AI-generated portrait of the fictional student lucas"/>
          <p:cNvPicPr>
            <a:picLocks noChangeAspect="1"/>
          </p:cNvPicPr>
          <p:nvPr/>
        </p:nvPicPr>
        <p:blipFill>
          <a:blip r:embed="rId5"/>
          <a:stretch>
            <a:fillRect/>
          </a:stretch>
        </p:blipFill>
        <p:spPr>
          <a:xfrm>
            <a:off x="8878824" y="1417320"/>
            <a:ext cx="713232" cy="713232"/>
          </a:xfrm>
          <a:prstGeom prst="rect">
            <a:avLst/>
          </a:prstGeom>
        </p:spPr>
      </p:pic>
      <p:pic>
        <p:nvPicPr>
          <p:cNvPr id="23" name="Image 3" descr="AI-generated portrait of the fictional student chloe"/>
          <p:cNvPicPr>
            <a:picLocks noChangeAspect="1"/>
          </p:cNvPicPr>
          <p:nvPr/>
        </p:nvPicPr>
        <p:blipFill>
          <a:blip r:embed="rId6"/>
          <a:stretch>
            <a:fillRect/>
          </a:stretch>
        </p:blipFill>
        <p:spPr>
          <a:xfrm>
            <a:off x="9774936" y="1417320"/>
            <a:ext cx="713232" cy="713232"/>
          </a:xfrm>
          <a:prstGeom prst="rect">
            <a:avLst/>
          </a:prstGeom>
        </p:spPr>
      </p:pic>
      <p:pic>
        <p:nvPicPr>
          <p:cNvPr id="24" name="Image 4" descr="AI-generated portrait of the fictional student henry"/>
          <p:cNvPicPr>
            <a:picLocks noChangeAspect="1"/>
          </p:cNvPicPr>
          <p:nvPr/>
        </p:nvPicPr>
        <p:blipFill>
          <a:blip r:embed="rId7"/>
          <a:stretch>
            <a:fillRect/>
          </a:stretch>
        </p:blipFill>
        <p:spPr>
          <a:xfrm>
            <a:off x="10671048" y="1417320"/>
            <a:ext cx="713232" cy="713232"/>
          </a:xfrm>
          <a:prstGeom prst="rect">
            <a:avLst/>
          </a:prstGeom>
        </p:spPr>
      </p:pic>
      <p:pic>
        <p:nvPicPr>
          <p:cNvPr id="25" name="Image 5" descr="AI-generated portrait of the fictional student ava"/>
          <p:cNvPicPr>
            <a:picLocks noChangeAspect="1"/>
          </p:cNvPicPr>
          <p:nvPr/>
        </p:nvPicPr>
        <p:blipFill>
          <a:blip r:embed="rId8"/>
          <a:stretch>
            <a:fillRect/>
          </a:stretch>
        </p:blipFill>
        <p:spPr>
          <a:xfrm>
            <a:off x="7086600" y="2313432"/>
            <a:ext cx="713232" cy="713232"/>
          </a:xfrm>
          <a:prstGeom prst="rect">
            <a:avLst/>
          </a:prstGeom>
        </p:spPr>
      </p:pic>
      <p:pic>
        <p:nvPicPr>
          <p:cNvPr id="26" name="Image 6" descr="AI-generated portrait of the fictional student oliver"/>
          <p:cNvPicPr>
            <a:picLocks noChangeAspect="1"/>
          </p:cNvPicPr>
          <p:nvPr/>
        </p:nvPicPr>
        <p:blipFill>
          <a:blip r:embed="rId9"/>
          <a:stretch>
            <a:fillRect/>
          </a:stretch>
        </p:blipFill>
        <p:spPr>
          <a:xfrm>
            <a:off x="7982712" y="2313432"/>
            <a:ext cx="713232" cy="713232"/>
          </a:xfrm>
          <a:prstGeom prst="rect">
            <a:avLst/>
          </a:prstGeom>
        </p:spPr>
      </p:pic>
      <p:pic>
        <p:nvPicPr>
          <p:cNvPr id="27" name="Image 7" descr="AI-generated portrait of the fictional student liam"/>
          <p:cNvPicPr>
            <a:picLocks noChangeAspect="1"/>
          </p:cNvPicPr>
          <p:nvPr/>
        </p:nvPicPr>
        <p:blipFill>
          <a:blip r:embed="rId10"/>
          <a:stretch>
            <a:fillRect/>
          </a:stretch>
        </p:blipFill>
        <p:spPr>
          <a:xfrm>
            <a:off x="8878824" y="2313432"/>
            <a:ext cx="713232" cy="713232"/>
          </a:xfrm>
          <a:prstGeom prst="rect">
            <a:avLst/>
          </a:prstGeom>
        </p:spPr>
      </p:pic>
      <p:pic>
        <p:nvPicPr>
          <p:cNvPr id="28" name="Image 8" descr="AI-generated portrait of the fictional student lily"/>
          <p:cNvPicPr>
            <a:picLocks noChangeAspect="1"/>
          </p:cNvPicPr>
          <p:nvPr/>
        </p:nvPicPr>
        <p:blipFill>
          <a:blip r:embed="rId11"/>
          <a:stretch>
            <a:fillRect/>
          </a:stretch>
        </p:blipFill>
        <p:spPr>
          <a:xfrm>
            <a:off x="9774936" y="2313432"/>
            <a:ext cx="713232" cy="713232"/>
          </a:xfrm>
          <a:prstGeom prst="rect">
            <a:avLst/>
          </a:prstGeom>
        </p:spPr>
      </p:pic>
      <p:pic>
        <p:nvPicPr>
          <p:cNvPr id="29" name="Image 9" descr="AI-generated portrait of the fictional student mason"/>
          <p:cNvPicPr>
            <a:picLocks noChangeAspect="1"/>
          </p:cNvPicPr>
          <p:nvPr/>
        </p:nvPicPr>
        <p:blipFill>
          <a:blip r:embed="rId12"/>
          <a:stretch>
            <a:fillRect/>
          </a:stretch>
        </p:blipFill>
        <p:spPr>
          <a:xfrm>
            <a:off x="10671048" y="2313432"/>
            <a:ext cx="713232" cy="713232"/>
          </a:xfrm>
          <a:prstGeom prst="rect">
            <a:avLst/>
          </a:prstGeom>
        </p:spPr>
      </p:pic>
      <p:pic>
        <p:nvPicPr>
          <p:cNvPr id="30" name="Image 10" descr="AI-generated portrait of the fictional student zoe"/>
          <p:cNvPicPr>
            <a:picLocks noChangeAspect="1"/>
          </p:cNvPicPr>
          <p:nvPr/>
        </p:nvPicPr>
        <p:blipFill>
          <a:blip r:embed="rId13"/>
          <a:stretch>
            <a:fillRect/>
          </a:stretch>
        </p:blipFill>
        <p:spPr>
          <a:xfrm>
            <a:off x="7086600" y="3209544"/>
            <a:ext cx="713232" cy="713232"/>
          </a:xfrm>
          <a:prstGeom prst="rect">
            <a:avLst/>
          </a:prstGeom>
        </p:spPr>
      </p:pic>
      <p:pic>
        <p:nvPicPr>
          <p:cNvPr id="31" name="Image 11" descr="AI-generated portrait of the fictional student ryan"/>
          <p:cNvPicPr>
            <a:picLocks noChangeAspect="1"/>
          </p:cNvPicPr>
          <p:nvPr/>
        </p:nvPicPr>
        <p:blipFill>
          <a:blip r:embed="rId14"/>
          <a:stretch>
            <a:fillRect/>
          </a:stretch>
        </p:blipFill>
        <p:spPr>
          <a:xfrm>
            <a:off x="7982712" y="3209544"/>
            <a:ext cx="713232" cy="713232"/>
          </a:xfrm>
          <a:prstGeom prst="rect">
            <a:avLst/>
          </a:prstGeom>
        </p:spPr>
      </p:pic>
      <p:pic>
        <p:nvPicPr>
          <p:cNvPr id="32" name="Image 12" descr="AI-generated portrait of the fictional student nora"/>
          <p:cNvPicPr>
            <a:picLocks noChangeAspect="1"/>
          </p:cNvPicPr>
          <p:nvPr/>
        </p:nvPicPr>
        <p:blipFill>
          <a:blip r:embed="rId15"/>
          <a:stretch>
            <a:fillRect/>
          </a:stretch>
        </p:blipFill>
        <p:spPr>
          <a:xfrm>
            <a:off x="8878824" y="3209544"/>
            <a:ext cx="713232" cy="713232"/>
          </a:xfrm>
          <a:prstGeom prst="rect">
            <a:avLst/>
          </a:prstGeom>
        </p:spPr>
      </p:pic>
      <p:pic>
        <p:nvPicPr>
          <p:cNvPr id="33" name="Image 13" descr="AI-generated portrait of the fictional student leo"/>
          <p:cNvPicPr>
            <a:picLocks noChangeAspect="1"/>
          </p:cNvPicPr>
          <p:nvPr/>
        </p:nvPicPr>
        <p:blipFill>
          <a:blip r:embed="rId16"/>
          <a:stretch>
            <a:fillRect/>
          </a:stretch>
        </p:blipFill>
        <p:spPr>
          <a:xfrm>
            <a:off x="9774936" y="3209544"/>
            <a:ext cx="713232" cy="713232"/>
          </a:xfrm>
          <a:prstGeom prst="rect">
            <a:avLst/>
          </a:prstGeom>
        </p:spPr>
      </p:pic>
      <p:pic>
        <p:nvPicPr>
          <p:cNvPr id="34" name="Image 14" descr="AI-generated portrait of the fictional student ella"/>
          <p:cNvPicPr>
            <a:picLocks noChangeAspect="1"/>
          </p:cNvPicPr>
          <p:nvPr/>
        </p:nvPicPr>
        <p:blipFill>
          <a:blip r:embed="rId17"/>
          <a:stretch>
            <a:fillRect/>
          </a:stretch>
        </p:blipFill>
        <p:spPr>
          <a:xfrm>
            <a:off x="10671048" y="3209544"/>
            <a:ext cx="713232" cy="713232"/>
          </a:xfrm>
          <a:prstGeom prst="rect">
            <a:avLst/>
          </a:prstGeom>
        </p:spPr>
      </p:pic>
      <p:pic>
        <p:nvPicPr>
          <p:cNvPr id="35" name="Image 15" descr="AI-generated portrait of the fictional student owen"/>
          <p:cNvPicPr>
            <a:picLocks noChangeAspect="1"/>
          </p:cNvPicPr>
          <p:nvPr/>
        </p:nvPicPr>
        <p:blipFill>
          <a:blip r:embed="rId18"/>
          <a:stretch>
            <a:fillRect/>
          </a:stretch>
        </p:blipFill>
        <p:spPr>
          <a:xfrm>
            <a:off x="7086600" y="4105656"/>
            <a:ext cx="713232" cy="713232"/>
          </a:xfrm>
          <a:prstGeom prst="rect">
            <a:avLst/>
          </a:prstGeom>
        </p:spPr>
      </p:pic>
      <p:pic>
        <p:nvPicPr>
          <p:cNvPr id="36" name="Image 16" descr="AI-generated portrait of the fictional student sophia"/>
          <p:cNvPicPr>
            <a:picLocks noChangeAspect="1"/>
          </p:cNvPicPr>
          <p:nvPr/>
        </p:nvPicPr>
        <p:blipFill>
          <a:blip r:embed="rId19"/>
          <a:stretch>
            <a:fillRect/>
          </a:stretch>
        </p:blipFill>
        <p:spPr>
          <a:xfrm>
            <a:off x="7982712" y="4105656"/>
            <a:ext cx="713232" cy="713232"/>
          </a:xfrm>
          <a:prstGeom prst="rect">
            <a:avLst/>
          </a:prstGeom>
        </p:spPr>
      </p:pic>
      <p:pic>
        <p:nvPicPr>
          <p:cNvPr id="37" name="Image 17" descr="AI-generated portrait of the fictional student daniel"/>
          <p:cNvPicPr>
            <a:picLocks noChangeAspect="1"/>
          </p:cNvPicPr>
          <p:nvPr/>
        </p:nvPicPr>
        <p:blipFill>
          <a:blip r:embed="rId20"/>
          <a:stretch>
            <a:fillRect/>
          </a:stretch>
        </p:blipFill>
        <p:spPr>
          <a:xfrm>
            <a:off x="8878824" y="4105656"/>
            <a:ext cx="713232" cy="713232"/>
          </a:xfrm>
          <a:prstGeom prst="rect">
            <a:avLst/>
          </a:prstGeom>
        </p:spPr>
      </p:pic>
      <p:pic>
        <p:nvPicPr>
          <p:cNvPr id="38" name="Image 18" descr="AI-generated portrait of the fictional student olivia"/>
          <p:cNvPicPr>
            <a:picLocks noChangeAspect="1"/>
          </p:cNvPicPr>
          <p:nvPr/>
        </p:nvPicPr>
        <p:blipFill>
          <a:blip r:embed="rId21"/>
          <a:stretch>
            <a:fillRect/>
          </a:stretch>
        </p:blipFill>
        <p:spPr>
          <a:xfrm>
            <a:off x="9774936" y="4105656"/>
            <a:ext cx="713232" cy="713232"/>
          </a:xfrm>
          <a:prstGeom prst="rect">
            <a:avLst/>
          </a:prstGeom>
        </p:spPr>
      </p:pic>
      <p:pic>
        <p:nvPicPr>
          <p:cNvPr id="39" name="Image 19" descr="AI-generated portrait of the fictional student noah"/>
          <p:cNvPicPr>
            <a:picLocks noChangeAspect="1"/>
          </p:cNvPicPr>
          <p:nvPr/>
        </p:nvPicPr>
        <p:blipFill>
          <a:blip r:embed="rId22"/>
          <a:stretch>
            <a:fillRect/>
          </a:stretch>
        </p:blipFill>
        <p:spPr>
          <a:xfrm>
            <a:off x="10671048" y="4105656"/>
            <a:ext cx="713232" cy="713232"/>
          </a:xfrm>
          <a:prstGeom prst="rect">
            <a:avLst/>
          </a:prstGeom>
        </p:spPr>
      </p:pic>
      <p:pic>
        <p:nvPicPr>
          <p:cNvPr id="40" name="Image 20" descr="AI-generated portrait of the fictional student ethan"/>
          <p:cNvPicPr>
            <a:picLocks noChangeAspect="1"/>
          </p:cNvPicPr>
          <p:nvPr/>
        </p:nvPicPr>
        <p:blipFill>
          <a:blip r:embed="rId23"/>
          <a:stretch>
            <a:fillRect/>
          </a:stretch>
        </p:blipFill>
        <p:spPr>
          <a:xfrm>
            <a:off x="7086600" y="5001768"/>
            <a:ext cx="713232" cy="713232"/>
          </a:xfrm>
          <a:prstGeom prst="rect">
            <a:avLst/>
          </a:prstGeom>
        </p:spPr>
      </p:pic>
      <p:pic>
        <p:nvPicPr>
          <p:cNvPr id="41" name="Image 21" descr="AI-generated portrait of the fictional student grace"/>
          <p:cNvPicPr>
            <a:picLocks noChangeAspect="1"/>
          </p:cNvPicPr>
          <p:nvPr/>
        </p:nvPicPr>
        <p:blipFill>
          <a:blip r:embed="rId24"/>
          <a:stretch>
            <a:fillRect/>
          </a:stretch>
        </p:blipFill>
        <p:spPr>
          <a:xfrm>
            <a:off x="7982712" y="5001768"/>
            <a:ext cx="713232" cy="713232"/>
          </a:xfrm>
          <a:prstGeom prst="rect">
            <a:avLst/>
          </a:prstGeom>
        </p:spPr>
      </p:pic>
      <p:pic>
        <p:nvPicPr>
          <p:cNvPr id="42" name="Image 22" descr="AI-generated portrait of the fictional student jack"/>
          <p:cNvPicPr>
            <a:picLocks noChangeAspect="1"/>
          </p:cNvPicPr>
          <p:nvPr/>
        </p:nvPicPr>
        <p:blipFill>
          <a:blip r:embed="rId25"/>
          <a:stretch>
            <a:fillRect/>
          </a:stretch>
        </p:blipFill>
        <p:spPr>
          <a:xfrm>
            <a:off x="8878824" y="5001768"/>
            <a:ext cx="713232" cy="713232"/>
          </a:xfrm>
          <a:prstGeom prst="rect">
            <a:avLst/>
          </a:prstGeom>
        </p:spPr>
      </p:pic>
      <p:pic>
        <p:nvPicPr>
          <p:cNvPr id="43" name="Image 23" descr="AI-generated portrait of the fictional student dana"/>
          <p:cNvPicPr>
            <a:picLocks noChangeAspect="1"/>
          </p:cNvPicPr>
          <p:nvPr/>
        </p:nvPicPr>
        <p:blipFill>
          <a:blip r:embed="rId26"/>
          <a:stretch>
            <a:fillRect/>
          </a:stretch>
        </p:blipFill>
        <p:spPr>
          <a:xfrm>
            <a:off x="9774936" y="5001768"/>
            <a:ext cx="713232" cy="713232"/>
          </a:xfrm>
          <a:prstGeom prst="rect">
            <a:avLst/>
          </a:prstGeom>
        </p:spPr>
      </p:pic>
      <p:pic>
        <p:nvPicPr>
          <p:cNvPr id="44" name="Image 24" descr="AI-generated portrait of the fictional student operator"/>
          <p:cNvPicPr>
            <a:picLocks noChangeAspect="1"/>
          </p:cNvPicPr>
          <p:nvPr/>
        </p:nvPicPr>
        <p:blipFill>
          <a:blip r:embed="rId27"/>
          <a:stretch>
            <a:fillRect/>
          </a:stretch>
        </p:blipFill>
        <p:spPr>
          <a:xfrm>
            <a:off x="10671048" y="5001768"/>
            <a:ext cx="713232" cy="713232"/>
          </a:xfrm>
          <a:prstGeom prst="rect">
            <a:avLst/>
          </a:prstGeom>
        </p:spPr>
      </p:pic>
      <p:sp>
        <p:nvSpPr>
          <p:cNvPr id="45" name="Shape 17"/>
          <p:cNvSpPr/>
          <p:nvPr/>
        </p:nvSpPr>
        <p:spPr>
          <a:xfrm>
            <a:off x="7040880" y="1371600"/>
            <a:ext cx="804672" cy="804672"/>
          </a:xfrm>
          <a:prstGeom prst="ellipse">
            <a:avLst/>
          </a:prstGeom>
          <a:ln w="50800">
            <a:solidFill>
              <a:srgbClr val="0F766E"/>
            </a:solidFill>
            <a:prstDash val="solid"/>
          </a:ln>
        </p:spPr>
        <p:txBody>
          <a:bodyPr/>
          <a:lstStyle/>
          <a:p>
            <a:endParaRPr lang="en-US"/>
          </a:p>
        </p:txBody>
      </p:sp>
      <p:sp>
        <p:nvSpPr>
          <p:cNvPr id="46" name="Shape 18"/>
          <p:cNvSpPr/>
          <p:nvPr/>
        </p:nvSpPr>
        <p:spPr>
          <a:xfrm>
            <a:off x="8833104" y="2267712"/>
            <a:ext cx="804672" cy="804672"/>
          </a:xfrm>
          <a:prstGeom prst="ellipse">
            <a:avLst/>
          </a:prstGeom>
          <a:ln w="50800">
            <a:solidFill>
              <a:srgbClr val="F5B544"/>
            </a:solidFill>
            <a:prstDash val="solid"/>
          </a:ln>
        </p:spPr>
        <p:txBody>
          <a:bodyPr/>
          <a:lstStyle/>
          <a:p>
            <a:endParaRPr lang="en-US"/>
          </a:p>
        </p:txBody>
      </p:sp>
      <p:sp>
        <p:nvSpPr>
          <p:cNvPr id="47" name="Shape 19"/>
          <p:cNvSpPr/>
          <p:nvPr/>
        </p:nvSpPr>
        <p:spPr>
          <a:xfrm>
            <a:off x="7086600" y="5989320"/>
            <a:ext cx="4526280" cy="365760"/>
          </a:xfrm>
          <a:prstGeom prst="roundRect">
            <a:avLst>
              <a:gd name="adj" fmla="val 50000"/>
            </a:avLst>
          </a:prstGeom>
          <a:solidFill>
            <a:srgbClr val="12202B"/>
          </a:solidFill>
          <a:ln w="12700">
            <a:solidFill>
              <a:srgbClr val="12202B"/>
            </a:solidFill>
            <a:prstDash val="solid"/>
          </a:ln>
        </p:spPr>
        <p:txBody>
          <a:bodyPr/>
          <a:lstStyle/>
          <a:p>
            <a:endParaRPr lang="en-US"/>
          </a:p>
        </p:txBody>
      </p:sp>
      <p:sp>
        <p:nvSpPr>
          <p:cNvPr id="48" name="Text 20"/>
          <p:cNvSpPr txBox="1"/>
          <p:nvPr/>
        </p:nvSpPr>
        <p:spPr>
          <a:xfrm>
            <a:off x="7086600" y="5989320"/>
            <a:ext cx="4526280" cy="365760"/>
          </a:xfrm>
          <a:prstGeom prst="rect">
            <a:avLst/>
          </a:prstGeom>
          <a:noFill/>
          <a:ln/>
        </p:spPr>
        <p:txBody>
          <a:bodyPr wrap="square" lIns="0" tIns="0" rIns="0" bIns="0" rtlCol="0" anchor="ctr"/>
          <a:lstStyle/>
          <a:p>
            <a:pPr marL="0" indent="0" algn="ctr">
              <a:buNone/>
            </a:pPr>
            <a:r>
              <a:rPr lang="en-US" sz="1200" b="1" dirty="0">
                <a:solidFill>
                  <a:srgbClr val="FFFFFF"/>
                </a:solidFill>
              </a:rPr>
              <a:t>Same course · same club · free the same hour</a:t>
            </a:r>
            <a:endParaRPr lang="en-US" sz="1200" dirty="0"/>
          </a:p>
        </p:txBody>
      </p:sp>
      <p:sp>
        <p:nvSpPr>
          <p:cNvPr id="3" name="Slide Number Placeholder 0"/>
          <p:cNvSpPr>
            <a:spLocks noGrp="1"/>
          </p:cNvSpPr>
          <p:nvPr>
            <p:ph type="sldNum" sz="quarter" idx="4294967295"/>
          </p:nvPr>
        </p:nvSpPr>
        <p:spPr>
          <a:xfrm>
            <a:off x="11155680" y="647395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400" b="1" dirty="0">
                <a:solidFill>
                  <a:schemeClr val="tx1"/>
                </a:solidFill>
              </a:rPr>
              <a:t>The idea: introduce people through what they share</a:t>
            </a:r>
            <a:endParaRPr lang="en-US" sz="3400" dirty="0"/>
          </a:p>
        </p:txBody>
      </p:sp>
      <p:sp>
        <p:nvSpPr>
          <p:cNvPr id="4" name="Shape 1"/>
          <p:cNvSpPr/>
          <p:nvPr/>
        </p:nvSpPr>
        <p:spPr>
          <a:xfrm>
            <a:off x="1325880" y="1920240"/>
            <a:ext cx="3291840" cy="3291840"/>
          </a:xfrm>
          <a:prstGeom prst="ellipse">
            <a:avLst/>
          </a:prstGeom>
          <a:solidFill>
            <a:srgbClr val="0F766E">
              <a:alpha val="75000"/>
            </a:srgbClr>
          </a:solidFill>
          <a:ln w="25400">
            <a:solidFill>
              <a:srgbClr val="0F766E"/>
            </a:solidFill>
            <a:prstDash val="solid"/>
          </a:ln>
        </p:spPr>
        <p:txBody>
          <a:bodyPr/>
          <a:lstStyle/>
          <a:p>
            <a:endParaRPr lang="en-US"/>
          </a:p>
        </p:txBody>
      </p:sp>
      <p:sp>
        <p:nvSpPr>
          <p:cNvPr id="5" name="Shape 2"/>
          <p:cNvSpPr/>
          <p:nvPr/>
        </p:nvSpPr>
        <p:spPr>
          <a:xfrm>
            <a:off x="3520440" y="1920240"/>
            <a:ext cx="3291840" cy="3291840"/>
          </a:xfrm>
          <a:prstGeom prst="ellipse">
            <a:avLst/>
          </a:prstGeom>
          <a:solidFill>
            <a:srgbClr val="F5B544">
              <a:alpha val="75000"/>
            </a:srgbClr>
          </a:solidFill>
          <a:ln w="25400">
            <a:solidFill>
              <a:srgbClr val="F5B544"/>
            </a:solidFill>
            <a:prstDash val="solid"/>
          </a:ln>
        </p:spPr>
        <p:txBody>
          <a:bodyPr/>
          <a:lstStyle/>
          <a:p>
            <a:endParaRPr lang="en-US"/>
          </a:p>
        </p:txBody>
      </p:sp>
      <p:sp>
        <p:nvSpPr>
          <p:cNvPr id="6" name="Text 3"/>
          <p:cNvSpPr txBox="1"/>
          <p:nvPr/>
        </p:nvSpPr>
        <p:spPr>
          <a:xfrm>
            <a:off x="1417320" y="3337560"/>
            <a:ext cx="1188720" cy="457200"/>
          </a:xfrm>
          <a:prstGeom prst="rect">
            <a:avLst/>
          </a:prstGeom>
          <a:noFill/>
          <a:ln/>
        </p:spPr>
        <p:txBody>
          <a:bodyPr wrap="square" lIns="0" tIns="0" rIns="0" bIns="0" rtlCol="0" anchor="ctr"/>
          <a:lstStyle/>
          <a:p>
            <a:pPr marL="0" indent="0" algn="ctr">
              <a:buNone/>
            </a:pPr>
            <a:r>
              <a:rPr lang="en-US" sz="2200" b="1" dirty="0">
                <a:solidFill>
                  <a:srgbClr val="12202B"/>
                </a:solidFill>
              </a:rPr>
              <a:t>You</a:t>
            </a:r>
            <a:endParaRPr lang="en-US" sz="2200" dirty="0"/>
          </a:p>
        </p:txBody>
      </p:sp>
      <p:sp>
        <p:nvSpPr>
          <p:cNvPr id="7" name="Text 4"/>
          <p:cNvSpPr txBox="1"/>
          <p:nvPr/>
        </p:nvSpPr>
        <p:spPr>
          <a:xfrm>
            <a:off x="4800600" y="3337560"/>
            <a:ext cx="1737360" cy="457200"/>
          </a:xfrm>
          <a:prstGeom prst="rect">
            <a:avLst/>
          </a:prstGeom>
          <a:noFill/>
          <a:ln/>
        </p:spPr>
        <p:txBody>
          <a:bodyPr wrap="square" lIns="0" tIns="0" rIns="0" bIns="0" rtlCol="0" anchor="ctr"/>
          <a:lstStyle/>
          <a:p>
            <a:pPr marL="0" indent="0" algn="ctr">
              <a:buNone/>
            </a:pPr>
            <a:r>
              <a:rPr lang="en-US" sz="2200" b="1" dirty="0">
                <a:solidFill>
                  <a:srgbClr val="12202B"/>
                </a:solidFill>
              </a:rPr>
              <a:t>Someone new</a:t>
            </a:r>
            <a:endParaRPr lang="en-US" sz="2200" dirty="0"/>
          </a:p>
        </p:txBody>
      </p:sp>
      <p:sp>
        <p:nvSpPr>
          <p:cNvPr id="8" name="Shape 5"/>
          <p:cNvSpPr/>
          <p:nvPr/>
        </p:nvSpPr>
        <p:spPr>
          <a:xfrm>
            <a:off x="2697480" y="2468880"/>
            <a:ext cx="1828800" cy="365760"/>
          </a:xfrm>
          <a:prstGeom prst="roundRect">
            <a:avLst>
              <a:gd name="adj" fmla="val 50000"/>
            </a:avLst>
          </a:prstGeom>
          <a:solidFill>
            <a:srgbClr val="12202B"/>
          </a:solidFill>
          <a:ln w="12700">
            <a:solidFill>
              <a:srgbClr val="12202B"/>
            </a:solidFill>
            <a:prstDash val="solid"/>
          </a:ln>
        </p:spPr>
        <p:txBody>
          <a:bodyPr/>
          <a:lstStyle/>
          <a:p>
            <a:endParaRPr lang="en-US"/>
          </a:p>
        </p:txBody>
      </p:sp>
      <p:sp>
        <p:nvSpPr>
          <p:cNvPr id="9" name="Text 6"/>
          <p:cNvSpPr txBox="1"/>
          <p:nvPr/>
        </p:nvSpPr>
        <p:spPr>
          <a:xfrm>
            <a:off x="2697480" y="2468880"/>
            <a:ext cx="1828800" cy="365760"/>
          </a:xfrm>
          <a:prstGeom prst="rect">
            <a:avLst/>
          </a:prstGeom>
          <a:noFill/>
          <a:ln/>
        </p:spPr>
        <p:txBody>
          <a:bodyPr wrap="square" lIns="0" tIns="0" rIns="0" bIns="0" rtlCol="0" anchor="ctr"/>
          <a:lstStyle/>
          <a:p>
            <a:pPr marL="0" indent="0" algn="ctr">
              <a:buNone/>
            </a:pPr>
            <a:r>
              <a:rPr lang="en-US" sz="1200" b="1" dirty="0">
                <a:solidFill>
                  <a:srgbClr val="FFFFFF"/>
                </a:solidFill>
              </a:rPr>
              <a:t>Same course</a:t>
            </a:r>
            <a:endParaRPr lang="en-US" sz="1200" dirty="0"/>
          </a:p>
        </p:txBody>
      </p:sp>
      <p:sp>
        <p:nvSpPr>
          <p:cNvPr id="10" name="Shape 7"/>
          <p:cNvSpPr/>
          <p:nvPr/>
        </p:nvSpPr>
        <p:spPr>
          <a:xfrm>
            <a:off x="2697480" y="3072384"/>
            <a:ext cx="1828800" cy="365760"/>
          </a:xfrm>
          <a:prstGeom prst="roundRect">
            <a:avLst>
              <a:gd name="adj" fmla="val 50000"/>
            </a:avLst>
          </a:prstGeom>
          <a:solidFill>
            <a:srgbClr val="12202B"/>
          </a:solidFill>
          <a:ln w="12700">
            <a:solidFill>
              <a:srgbClr val="12202B"/>
            </a:solidFill>
            <a:prstDash val="solid"/>
          </a:ln>
        </p:spPr>
        <p:txBody>
          <a:bodyPr/>
          <a:lstStyle/>
          <a:p>
            <a:endParaRPr lang="en-US"/>
          </a:p>
        </p:txBody>
      </p:sp>
      <p:sp>
        <p:nvSpPr>
          <p:cNvPr id="11" name="Text 8"/>
          <p:cNvSpPr txBox="1"/>
          <p:nvPr/>
        </p:nvSpPr>
        <p:spPr>
          <a:xfrm>
            <a:off x="2697480" y="3072384"/>
            <a:ext cx="1828800" cy="365760"/>
          </a:xfrm>
          <a:prstGeom prst="rect">
            <a:avLst/>
          </a:prstGeom>
          <a:noFill/>
          <a:ln/>
        </p:spPr>
        <p:txBody>
          <a:bodyPr wrap="square" lIns="0" tIns="0" rIns="0" bIns="0" rtlCol="0" anchor="ctr"/>
          <a:lstStyle/>
          <a:p>
            <a:pPr marL="0" indent="0" algn="ctr">
              <a:buNone/>
            </a:pPr>
            <a:r>
              <a:rPr lang="en-US" sz="1200" b="1" dirty="0">
                <a:solidFill>
                  <a:srgbClr val="FFFFFF"/>
                </a:solidFill>
              </a:rPr>
              <a:t>Same club</a:t>
            </a:r>
            <a:endParaRPr lang="en-US" sz="1200" dirty="0"/>
          </a:p>
        </p:txBody>
      </p:sp>
      <p:sp>
        <p:nvSpPr>
          <p:cNvPr id="12" name="Shape 9"/>
          <p:cNvSpPr/>
          <p:nvPr/>
        </p:nvSpPr>
        <p:spPr>
          <a:xfrm>
            <a:off x="2697480" y="3675888"/>
            <a:ext cx="1828800" cy="365760"/>
          </a:xfrm>
          <a:prstGeom prst="roundRect">
            <a:avLst>
              <a:gd name="adj" fmla="val 50000"/>
            </a:avLst>
          </a:prstGeom>
          <a:solidFill>
            <a:srgbClr val="12202B"/>
          </a:solidFill>
          <a:ln w="12700">
            <a:solidFill>
              <a:srgbClr val="12202B"/>
            </a:solidFill>
            <a:prstDash val="solid"/>
          </a:ln>
        </p:spPr>
        <p:txBody>
          <a:bodyPr/>
          <a:lstStyle/>
          <a:p>
            <a:endParaRPr lang="en-US"/>
          </a:p>
        </p:txBody>
      </p:sp>
      <p:sp>
        <p:nvSpPr>
          <p:cNvPr id="13" name="Text 10"/>
          <p:cNvSpPr txBox="1"/>
          <p:nvPr/>
        </p:nvSpPr>
        <p:spPr>
          <a:xfrm>
            <a:off x="2697480" y="3675888"/>
            <a:ext cx="1828800" cy="365760"/>
          </a:xfrm>
          <a:prstGeom prst="rect">
            <a:avLst/>
          </a:prstGeom>
          <a:noFill/>
          <a:ln/>
        </p:spPr>
        <p:txBody>
          <a:bodyPr wrap="square" lIns="0" tIns="0" rIns="0" bIns="0" rtlCol="0" anchor="ctr"/>
          <a:lstStyle/>
          <a:p>
            <a:pPr marL="0" indent="0" algn="ctr">
              <a:buNone/>
            </a:pPr>
            <a:r>
              <a:rPr lang="en-US" sz="1200" b="1" dirty="0">
                <a:solidFill>
                  <a:srgbClr val="FFFFFF"/>
                </a:solidFill>
              </a:rPr>
              <a:t>Free same time</a:t>
            </a:r>
            <a:endParaRPr lang="en-US" sz="1200" dirty="0"/>
          </a:p>
        </p:txBody>
      </p:sp>
      <p:sp>
        <p:nvSpPr>
          <p:cNvPr id="14" name="Shape 11"/>
          <p:cNvSpPr/>
          <p:nvPr/>
        </p:nvSpPr>
        <p:spPr>
          <a:xfrm>
            <a:off x="2697480" y="4279392"/>
            <a:ext cx="1828800" cy="365760"/>
          </a:xfrm>
          <a:prstGeom prst="roundRect">
            <a:avLst>
              <a:gd name="adj" fmla="val 50000"/>
            </a:avLst>
          </a:prstGeom>
          <a:solidFill>
            <a:srgbClr val="12202B"/>
          </a:solidFill>
          <a:ln w="12700">
            <a:solidFill>
              <a:srgbClr val="12202B"/>
            </a:solidFill>
            <a:prstDash val="solid"/>
          </a:ln>
        </p:spPr>
        <p:txBody>
          <a:bodyPr/>
          <a:lstStyle/>
          <a:p>
            <a:endParaRPr lang="en-US"/>
          </a:p>
        </p:txBody>
      </p:sp>
      <p:sp>
        <p:nvSpPr>
          <p:cNvPr id="15" name="Text 12"/>
          <p:cNvSpPr txBox="1"/>
          <p:nvPr/>
        </p:nvSpPr>
        <p:spPr>
          <a:xfrm>
            <a:off x="2697480" y="4279392"/>
            <a:ext cx="1828800" cy="365760"/>
          </a:xfrm>
          <a:prstGeom prst="rect">
            <a:avLst/>
          </a:prstGeom>
          <a:noFill/>
          <a:ln/>
        </p:spPr>
        <p:txBody>
          <a:bodyPr wrap="square" lIns="0" tIns="0" rIns="0" bIns="0" rtlCol="0" anchor="ctr"/>
          <a:lstStyle/>
          <a:p>
            <a:pPr marL="0" indent="0" algn="ctr">
              <a:buNone/>
            </a:pPr>
            <a:r>
              <a:rPr lang="en-US" sz="1200" b="1" dirty="0">
                <a:solidFill>
                  <a:srgbClr val="FFFFFF"/>
                </a:solidFill>
              </a:rPr>
              <a:t>Shared interest</a:t>
            </a:r>
            <a:endParaRPr lang="en-US" sz="1200" dirty="0"/>
          </a:p>
        </p:txBody>
      </p:sp>
      <p:sp>
        <p:nvSpPr>
          <p:cNvPr id="16" name="Text 13"/>
          <p:cNvSpPr txBox="1"/>
          <p:nvPr/>
        </p:nvSpPr>
        <p:spPr>
          <a:xfrm>
            <a:off x="548640" y="5577840"/>
            <a:ext cx="6217920" cy="365760"/>
          </a:xfrm>
          <a:prstGeom prst="rect">
            <a:avLst/>
          </a:prstGeom>
          <a:noFill/>
          <a:ln/>
        </p:spPr>
        <p:txBody>
          <a:bodyPr wrap="square" lIns="0" tIns="0" rIns="0" bIns="0" rtlCol="0" anchor="ctr"/>
          <a:lstStyle/>
          <a:p>
            <a:pPr marL="0" indent="0" algn="ctr">
              <a:buNone/>
            </a:pPr>
            <a:r>
              <a:rPr lang="en-US" sz="1400" dirty="0">
                <a:solidFill>
                  <a:srgbClr val="4A5A66"/>
                </a:solidFill>
              </a:rPr>
              <a:t>What you share is the middle of the picture</a:t>
            </a:r>
            <a:endParaRPr lang="en-US" sz="1400" dirty="0"/>
          </a:p>
        </p:txBody>
      </p:sp>
      <p:sp>
        <p:nvSpPr>
          <p:cNvPr id="17" name="step-1-dot"/>
          <p:cNvSpPr/>
          <p:nvPr/>
        </p:nvSpPr>
        <p:spPr>
          <a:xfrm>
            <a:off x="7223760" y="1463040"/>
            <a:ext cx="457200" cy="457200"/>
          </a:xfrm>
          <a:prstGeom prst="ellipse">
            <a:avLst/>
          </a:prstGeom>
          <a:solidFill>
            <a:srgbClr val="0F766E"/>
          </a:solidFill>
          <a:ln w="12700">
            <a:solidFill>
              <a:srgbClr val="0F766E"/>
            </a:solidFill>
            <a:prstDash val="solid"/>
          </a:ln>
        </p:spPr>
        <p:txBody>
          <a:bodyPr/>
          <a:lstStyle/>
          <a:p>
            <a:endParaRPr lang="en-US"/>
          </a:p>
        </p:txBody>
      </p:sp>
      <p:sp>
        <p:nvSpPr>
          <p:cNvPr id="18" name="Text 15"/>
          <p:cNvSpPr txBox="1"/>
          <p:nvPr/>
        </p:nvSpPr>
        <p:spPr>
          <a:xfrm>
            <a:off x="7223760" y="1463040"/>
            <a:ext cx="457200" cy="457200"/>
          </a:xfrm>
          <a:prstGeom prst="rect">
            <a:avLst/>
          </a:prstGeom>
          <a:noFill/>
          <a:ln/>
        </p:spPr>
        <p:txBody>
          <a:bodyPr wrap="square" lIns="0" tIns="0" rIns="0" bIns="0" rtlCol="0" anchor="ctr"/>
          <a:lstStyle/>
          <a:p>
            <a:pPr marL="0" indent="0" algn="ctr">
              <a:buNone/>
            </a:pPr>
            <a:r>
              <a:rPr lang="en-US" sz="1600" b="1" dirty="0">
                <a:solidFill>
                  <a:srgbClr val="12202B"/>
                </a:solidFill>
              </a:rPr>
              <a:t>1</a:t>
            </a:r>
            <a:endParaRPr lang="en-US" sz="1600" dirty="0"/>
          </a:p>
        </p:txBody>
      </p:sp>
      <p:sp>
        <p:nvSpPr>
          <p:cNvPr id="19" name="Text 16"/>
          <p:cNvSpPr txBox="1"/>
          <p:nvPr/>
        </p:nvSpPr>
        <p:spPr>
          <a:xfrm>
            <a:off x="7909560" y="1408176"/>
            <a:ext cx="3703320" cy="365760"/>
          </a:xfrm>
          <a:prstGeom prst="rect">
            <a:avLst/>
          </a:prstGeom>
          <a:noFill/>
          <a:ln/>
        </p:spPr>
        <p:txBody>
          <a:bodyPr wrap="square" lIns="0" tIns="0" rIns="0" bIns="0" rtlCol="0" anchor="ctr"/>
          <a:lstStyle/>
          <a:p>
            <a:pPr marL="0" indent="0">
              <a:buNone/>
            </a:pPr>
            <a:r>
              <a:rPr lang="en-US" sz="1900" b="1" dirty="0">
                <a:solidFill>
                  <a:schemeClr val="tx1"/>
                </a:solidFill>
              </a:rPr>
              <a:t>Only shared things count</a:t>
            </a:r>
            <a:endParaRPr lang="en-US" sz="1900" dirty="0"/>
          </a:p>
        </p:txBody>
      </p:sp>
      <p:sp>
        <p:nvSpPr>
          <p:cNvPr id="20" name="Text 17"/>
          <p:cNvSpPr txBox="1"/>
          <p:nvPr/>
        </p:nvSpPr>
        <p:spPr>
          <a:xfrm>
            <a:off x="7909560" y="1792224"/>
            <a:ext cx="3703320" cy="640080"/>
          </a:xfrm>
          <a:prstGeom prst="rect">
            <a:avLst/>
          </a:prstGeom>
          <a:noFill/>
          <a:ln/>
        </p:spPr>
        <p:txBody>
          <a:bodyPr wrap="square" lIns="0" tIns="0" rIns="0" bIns="0" rtlCol="0" anchor="t"/>
          <a:lstStyle/>
          <a:p>
            <a:pPr marL="0" indent="0">
              <a:buNone/>
            </a:pPr>
            <a:r>
              <a:rPr lang="en-US" sz="1500" dirty="0">
                <a:solidFill>
                  <a:srgbClr val="4A5A66"/>
                </a:solidFill>
              </a:rPr>
              <a:t>Courses, clubs, free time, interests and values make the score. Never looks.</a:t>
            </a:r>
            <a:endParaRPr lang="en-US" sz="1500" dirty="0"/>
          </a:p>
        </p:txBody>
      </p:sp>
      <p:sp>
        <p:nvSpPr>
          <p:cNvPr id="21" name="step-2-dot"/>
          <p:cNvSpPr/>
          <p:nvPr/>
        </p:nvSpPr>
        <p:spPr>
          <a:xfrm>
            <a:off x="7223760" y="2743200"/>
            <a:ext cx="457200" cy="457200"/>
          </a:xfrm>
          <a:prstGeom prst="ellipse">
            <a:avLst/>
          </a:prstGeom>
          <a:solidFill>
            <a:srgbClr val="0F766E"/>
          </a:solidFill>
          <a:ln w="12700">
            <a:solidFill>
              <a:srgbClr val="0F766E"/>
            </a:solidFill>
            <a:prstDash val="solid"/>
          </a:ln>
        </p:spPr>
        <p:txBody>
          <a:bodyPr/>
          <a:lstStyle/>
          <a:p>
            <a:endParaRPr lang="en-US"/>
          </a:p>
        </p:txBody>
      </p:sp>
      <p:sp>
        <p:nvSpPr>
          <p:cNvPr id="22" name="Text 19"/>
          <p:cNvSpPr txBox="1"/>
          <p:nvPr/>
        </p:nvSpPr>
        <p:spPr>
          <a:xfrm>
            <a:off x="7223760" y="2743200"/>
            <a:ext cx="457200" cy="457200"/>
          </a:xfrm>
          <a:prstGeom prst="rect">
            <a:avLst/>
          </a:prstGeom>
          <a:noFill/>
          <a:ln/>
        </p:spPr>
        <p:txBody>
          <a:bodyPr wrap="square" lIns="0" tIns="0" rIns="0" bIns="0" rtlCol="0" anchor="ctr"/>
          <a:lstStyle/>
          <a:p>
            <a:pPr marL="0" indent="0" algn="ctr">
              <a:buNone/>
            </a:pPr>
            <a:r>
              <a:rPr lang="en-US" sz="1600" b="1" dirty="0">
                <a:solidFill>
                  <a:srgbClr val="12202B"/>
                </a:solidFill>
              </a:rPr>
              <a:t>2</a:t>
            </a:r>
            <a:endParaRPr lang="en-US" sz="1600" dirty="0"/>
          </a:p>
        </p:txBody>
      </p:sp>
      <p:sp>
        <p:nvSpPr>
          <p:cNvPr id="23" name="Text 20"/>
          <p:cNvSpPr txBox="1"/>
          <p:nvPr/>
        </p:nvSpPr>
        <p:spPr>
          <a:xfrm>
            <a:off x="7909560" y="2688336"/>
            <a:ext cx="3703320" cy="365760"/>
          </a:xfrm>
          <a:prstGeom prst="rect">
            <a:avLst/>
          </a:prstGeom>
          <a:noFill/>
          <a:ln/>
        </p:spPr>
        <p:txBody>
          <a:bodyPr wrap="square" lIns="0" tIns="0" rIns="0" bIns="0" rtlCol="0" anchor="ctr"/>
          <a:lstStyle/>
          <a:p>
            <a:pPr marL="0" indent="0">
              <a:buNone/>
            </a:pPr>
            <a:r>
              <a:rPr lang="en-US" sz="1900" b="1" dirty="0">
                <a:solidFill>
                  <a:schemeClr val="tx1"/>
                </a:solidFill>
              </a:rPr>
              <a:t>Six people a day</a:t>
            </a:r>
            <a:endParaRPr lang="en-US" sz="1900" dirty="0"/>
          </a:p>
        </p:txBody>
      </p:sp>
      <p:sp>
        <p:nvSpPr>
          <p:cNvPr id="24" name="Text 21"/>
          <p:cNvSpPr txBox="1"/>
          <p:nvPr/>
        </p:nvSpPr>
        <p:spPr>
          <a:xfrm>
            <a:off x="7909560" y="3072384"/>
            <a:ext cx="3703320" cy="640080"/>
          </a:xfrm>
          <a:prstGeom prst="rect">
            <a:avLst/>
          </a:prstGeom>
          <a:noFill/>
          <a:ln/>
        </p:spPr>
        <p:txBody>
          <a:bodyPr wrap="square" lIns="0" tIns="0" rIns="0" bIns="0" rtlCol="0" anchor="t"/>
          <a:lstStyle/>
          <a:p>
            <a:pPr marL="0" indent="0">
              <a:buNone/>
            </a:pPr>
            <a:r>
              <a:rPr lang="en-US" sz="1500" dirty="0">
                <a:solidFill>
                  <a:srgbClr val="4A5A66"/>
                </a:solidFill>
              </a:rPr>
              <a:t>A short list instead of an endless feed.</a:t>
            </a:r>
            <a:endParaRPr lang="en-US" sz="1500" dirty="0"/>
          </a:p>
        </p:txBody>
      </p:sp>
      <p:sp>
        <p:nvSpPr>
          <p:cNvPr id="25" name="step-3-dot"/>
          <p:cNvSpPr/>
          <p:nvPr/>
        </p:nvSpPr>
        <p:spPr>
          <a:xfrm>
            <a:off x="7223760" y="4023360"/>
            <a:ext cx="457200" cy="457200"/>
          </a:xfrm>
          <a:prstGeom prst="ellipse">
            <a:avLst/>
          </a:prstGeom>
          <a:solidFill>
            <a:srgbClr val="0F766E"/>
          </a:solidFill>
          <a:ln w="12700">
            <a:solidFill>
              <a:srgbClr val="0F766E"/>
            </a:solidFill>
            <a:prstDash val="solid"/>
          </a:ln>
        </p:spPr>
        <p:txBody>
          <a:bodyPr/>
          <a:lstStyle/>
          <a:p>
            <a:endParaRPr lang="en-US"/>
          </a:p>
        </p:txBody>
      </p:sp>
      <p:sp>
        <p:nvSpPr>
          <p:cNvPr id="26" name="Text 23"/>
          <p:cNvSpPr txBox="1"/>
          <p:nvPr/>
        </p:nvSpPr>
        <p:spPr>
          <a:xfrm>
            <a:off x="7223760" y="4023360"/>
            <a:ext cx="457200" cy="457200"/>
          </a:xfrm>
          <a:prstGeom prst="rect">
            <a:avLst/>
          </a:prstGeom>
          <a:noFill/>
          <a:ln/>
        </p:spPr>
        <p:txBody>
          <a:bodyPr wrap="square" lIns="0" tIns="0" rIns="0" bIns="0" rtlCol="0" anchor="ctr"/>
          <a:lstStyle/>
          <a:p>
            <a:pPr marL="0" indent="0" algn="ctr">
              <a:buNone/>
            </a:pPr>
            <a:r>
              <a:rPr lang="en-US" sz="1600" b="1" dirty="0">
                <a:solidFill>
                  <a:srgbClr val="12202B"/>
                </a:solidFill>
              </a:rPr>
              <a:t>3</a:t>
            </a:r>
            <a:endParaRPr lang="en-US" sz="1600" dirty="0"/>
          </a:p>
        </p:txBody>
      </p:sp>
      <p:sp>
        <p:nvSpPr>
          <p:cNvPr id="27" name="Text 24"/>
          <p:cNvSpPr txBox="1"/>
          <p:nvPr/>
        </p:nvSpPr>
        <p:spPr>
          <a:xfrm>
            <a:off x="7909560" y="3968496"/>
            <a:ext cx="3703320" cy="365760"/>
          </a:xfrm>
          <a:prstGeom prst="rect">
            <a:avLst/>
          </a:prstGeom>
          <a:noFill/>
          <a:ln/>
        </p:spPr>
        <p:txBody>
          <a:bodyPr wrap="square" lIns="0" tIns="0" rIns="0" bIns="0" rtlCol="0" anchor="ctr"/>
          <a:lstStyle/>
          <a:p>
            <a:pPr marL="0" indent="0">
              <a:buNone/>
            </a:pPr>
            <a:r>
              <a:rPr lang="en-US" sz="1900" b="1" dirty="0">
                <a:solidFill>
                  <a:schemeClr val="tx1"/>
                </a:solidFill>
              </a:rPr>
              <a:t>Every card explains itself</a:t>
            </a:r>
            <a:endParaRPr lang="en-US" sz="1900" dirty="0"/>
          </a:p>
        </p:txBody>
      </p:sp>
      <p:sp>
        <p:nvSpPr>
          <p:cNvPr id="28" name="Text 25"/>
          <p:cNvSpPr txBox="1"/>
          <p:nvPr/>
        </p:nvSpPr>
        <p:spPr>
          <a:xfrm>
            <a:off x="7909560" y="4352544"/>
            <a:ext cx="3703320" cy="640080"/>
          </a:xfrm>
          <a:prstGeom prst="rect">
            <a:avLst/>
          </a:prstGeom>
          <a:noFill/>
          <a:ln/>
        </p:spPr>
        <p:txBody>
          <a:bodyPr wrap="square" lIns="0" tIns="0" rIns="0" bIns="0" rtlCol="0" anchor="t"/>
          <a:lstStyle/>
          <a:p>
            <a:pPr marL="0" indent="0">
              <a:buNone/>
            </a:pPr>
            <a:r>
              <a:rPr lang="en-US" sz="1500" dirty="0">
                <a:solidFill>
                  <a:srgbClr val="4A5A66"/>
                </a:solidFill>
              </a:rPr>
              <a:t>"You're both in Data Structures" tells you exactly why you were introduced.</a:t>
            </a:r>
            <a:endParaRPr lang="en-US" sz="1500" dirty="0"/>
          </a:p>
        </p:txBody>
      </p:sp>
      <p:sp>
        <p:nvSpPr>
          <p:cNvPr id="29" name="Shape 26"/>
          <p:cNvSpPr/>
          <p:nvPr/>
        </p:nvSpPr>
        <p:spPr>
          <a:xfrm>
            <a:off x="7223760" y="5440680"/>
            <a:ext cx="4389120" cy="868680"/>
          </a:xfrm>
          <a:prstGeom prst="roundRect">
            <a:avLst>
              <a:gd name="adj" fmla="val 10526"/>
            </a:avLst>
          </a:prstGeom>
          <a:solidFill>
            <a:srgbClr val="FFF4DA"/>
          </a:solidFill>
          <a:ln w="12700">
            <a:solidFill>
              <a:srgbClr val="F5B544"/>
            </a:solidFill>
            <a:prstDash val="solid"/>
          </a:ln>
        </p:spPr>
        <p:txBody>
          <a:bodyPr/>
          <a:lstStyle/>
          <a:p>
            <a:endParaRPr lang="en-US"/>
          </a:p>
        </p:txBody>
      </p:sp>
      <p:sp>
        <p:nvSpPr>
          <p:cNvPr id="30" name="Text 27"/>
          <p:cNvSpPr txBox="1"/>
          <p:nvPr/>
        </p:nvSpPr>
        <p:spPr>
          <a:xfrm>
            <a:off x="7406640" y="5440680"/>
            <a:ext cx="4023360" cy="868680"/>
          </a:xfrm>
          <a:prstGeom prst="rect">
            <a:avLst/>
          </a:prstGeom>
          <a:noFill/>
          <a:ln/>
        </p:spPr>
        <p:txBody>
          <a:bodyPr wrap="square" lIns="0" tIns="0" rIns="0" bIns="0" rtlCol="0" anchor="ctr"/>
          <a:lstStyle/>
          <a:p>
            <a:pPr marL="0" indent="0">
              <a:buNone/>
            </a:pPr>
            <a:r>
              <a:rPr lang="en-US" sz="1500" dirty="0">
                <a:solidFill>
                  <a:srgbClr val="12202B"/>
                </a:solidFill>
              </a:rPr>
              <a:t>Four modes: Friends · Study buddy · Dating (needs its own consent) · Open</a:t>
            </a:r>
            <a:endParaRPr lang="en-US" sz="1500" dirty="0"/>
          </a:p>
        </p:txBody>
      </p:sp>
      <p:sp>
        <p:nvSpPr>
          <p:cNvPr id="3" name="Slide Number Placeholder 0"/>
          <p:cNvSpPr>
            <a:spLocks noGrp="1"/>
          </p:cNvSpPr>
          <p:nvPr>
            <p:ph type="sldNum" sz="quarter" idx="4294967295"/>
          </p:nvPr>
        </p:nvSpPr>
        <p:spPr>
          <a:xfrm>
            <a:off x="11155680" y="647395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400" b="1" dirty="0">
                <a:solidFill>
                  <a:srgbClr val="FFFFFF"/>
                </a:solidFill>
              </a:rPr>
              <a:t>Meet today's fictional students</a:t>
            </a:r>
            <a:endParaRPr lang="en-US" sz="3400" dirty="0"/>
          </a:p>
        </p:txBody>
      </p:sp>
      <p:pic>
        <p:nvPicPr>
          <p:cNvPr id="4" name="Image 0" descr="AI-generated portrait of Emma"/>
          <p:cNvPicPr>
            <a:picLocks noChangeAspect="1"/>
          </p:cNvPicPr>
          <p:nvPr/>
        </p:nvPicPr>
        <p:blipFill>
          <a:blip r:embed="rId3"/>
          <a:stretch>
            <a:fillRect/>
          </a:stretch>
        </p:blipFill>
        <p:spPr>
          <a:xfrm>
            <a:off x="1005840" y="1371600"/>
            <a:ext cx="1097280" cy="1097280"/>
          </a:xfrm>
          <a:prstGeom prst="rect">
            <a:avLst/>
          </a:prstGeom>
        </p:spPr>
      </p:pic>
      <p:sp>
        <p:nvSpPr>
          <p:cNvPr id="5" name="Text 1"/>
          <p:cNvSpPr txBox="1"/>
          <p:nvPr/>
        </p:nvSpPr>
        <p:spPr>
          <a:xfrm>
            <a:off x="502920" y="2542032"/>
            <a:ext cx="2103120" cy="329184"/>
          </a:xfrm>
          <a:prstGeom prst="rect">
            <a:avLst/>
          </a:prstGeom>
          <a:noFill/>
          <a:ln/>
        </p:spPr>
        <p:txBody>
          <a:bodyPr wrap="square" lIns="0" tIns="0" rIns="0" bIns="0" rtlCol="0" anchor="ctr"/>
          <a:lstStyle/>
          <a:p>
            <a:pPr marL="0" indent="0" algn="ctr">
              <a:buNone/>
            </a:pPr>
            <a:r>
              <a:rPr lang="en-US" sz="1800" b="1" dirty="0">
                <a:solidFill>
                  <a:srgbClr val="FFFFFF"/>
                </a:solidFill>
              </a:rPr>
              <a:t>Emma</a:t>
            </a:r>
            <a:endParaRPr lang="en-US" sz="1800" dirty="0"/>
          </a:p>
        </p:txBody>
      </p:sp>
      <p:sp>
        <p:nvSpPr>
          <p:cNvPr id="6" name="Text 2"/>
          <p:cNvSpPr txBox="1"/>
          <p:nvPr/>
        </p:nvSpPr>
        <p:spPr>
          <a:xfrm>
            <a:off x="502920" y="2852928"/>
            <a:ext cx="2103120" cy="274320"/>
          </a:xfrm>
          <a:prstGeom prst="rect">
            <a:avLst/>
          </a:prstGeom>
          <a:noFill/>
          <a:ln/>
        </p:spPr>
        <p:txBody>
          <a:bodyPr wrap="square" lIns="0" tIns="0" rIns="0" bIns="0" rtlCol="0" anchor="ctr"/>
          <a:lstStyle/>
          <a:p>
            <a:pPr marL="0" indent="0" algn="ctr">
              <a:buNone/>
            </a:pPr>
            <a:r>
              <a:rPr lang="en-US" sz="1300" dirty="0">
                <a:solidFill>
                  <a:srgbClr val="B9CBD3"/>
                </a:solidFill>
              </a:rPr>
              <a:t>Computer Eng.</a:t>
            </a:r>
            <a:endParaRPr lang="en-US" sz="1300" dirty="0"/>
          </a:p>
        </p:txBody>
      </p:sp>
      <p:sp>
        <p:nvSpPr>
          <p:cNvPr id="7" name="Text 3"/>
          <p:cNvSpPr txBox="1"/>
          <p:nvPr/>
        </p:nvSpPr>
        <p:spPr>
          <a:xfrm>
            <a:off x="502920" y="3108960"/>
            <a:ext cx="2103120" cy="274320"/>
          </a:xfrm>
          <a:prstGeom prst="rect">
            <a:avLst/>
          </a:prstGeom>
          <a:noFill/>
          <a:ln/>
        </p:spPr>
        <p:txBody>
          <a:bodyPr wrap="square" lIns="0" tIns="0" rIns="0" bIns="0" rtlCol="0" anchor="ctr"/>
          <a:lstStyle/>
          <a:p>
            <a:pPr marL="0" indent="0" algn="ctr">
              <a:buNone/>
            </a:pPr>
            <a:r>
              <a:rPr lang="en-US" sz="1300" dirty="0">
                <a:solidFill>
                  <a:srgbClr val="F5B544"/>
                </a:solidFill>
              </a:rPr>
              <a:t>The main character</a:t>
            </a:r>
            <a:endParaRPr lang="en-US" sz="1300" dirty="0"/>
          </a:p>
        </p:txBody>
      </p:sp>
      <p:pic>
        <p:nvPicPr>
          <p:cNvPr id="8" name="Image 1" descr="AI-generated portrait of Liam"/>
          <p:cNvPicPr>
            <a:picLocks noChangeAspect="1"/>
          </p:cNvPicPr>
          <p:nvPr/>
        </p:nvPicPr>
        <p:blipFill>
          <a:blip r:embed="rId4"/>
          <a:stretch>
            <a:fillRect/>
          </a:stretch>
        </p:blipFill>
        <p:spPr>
          <a:xfrm>
            <a:off x="3246120" y="1371600"/>
            <a:ext cx="1097280" cy="1097280"/>
          </a:xfrm>
          <a:prstGeom prst="rect">
            <a:avLst/>
          </a:prstGeom>
        </p:spPr>
      </p:pic>
      <p:sp>
        <p:nvSpPr>
          <p:cNvPr id="9" name="Text 4"/>
          <p:cNvSpPr txBox="1"/>
          <p:nvPr/>
        </p:nvSpPr>
        <p:spPr>
          <a:xfrm>
            <a:off x="2743200" y="2542032"/>
            <a:ext cx="2103120" cy="329184"/>
          </a:xfrm>
          <a:prstGeom prst="rect">
            <a:avLst/>
          </a:prstGeom>
          <a:noFill/>
          <a:ln/>
        </p:spPr>
        <p:txBody>
          <a:bodyPr wrap="square" lIns="0" tIns="0" rIns="0" bIns="0" rtlCol="0" anchor="ctr"/>
          <a:lstStyle/>
          <a:p>
            <a:pPr marL="0" indent="0" algn="ctr">
              <a:buNone/>
            </a:pPr>
            <a:r>
              <a:rPr lang="en-US" sz="1800" b="1" dirty="0">
                <a:solidFill>
                  <a:srgbClr val="FFFFFF"/>
                </a:solidFill>
              </a:rPr>
              <a:t>Liam</a:t>
            </a:r>
            <a:endParaRPr lang="en-US" sz="1800" dirty="0"/>
          </a:p>
        </p:txBody>
      </p:sp>
      <p:sp>
        <p:nvSpPr>
          <p:cNvPr id="10" name="Text 5"/>
          <p:cNvSpPr txBox="1"/>
          <p:nvPr/>
        </p:nvSpPr>
        <p:spPr>
          <a:xfrm>
            <a:off x="2743200" y="2852928"/>
            <a:ext cx="2103120" cy="274320"/>
          </a:xfrm>
          <a:prstGeom prst="rect">
            <a:avLst/>
          </a:prstGeom>
          <a:noFill/>
          <a:ln/>
        </p:spPr>
        <p:txBody>
          <a:bodyPr wrap="square" lIns="0" tIns="0" rIns="0" bIns="0" rtlCol="0" anchor="ctr"/>
          <a:lstStyle/>
          <a:p>
            <a:pPr marL="0" indent="0" algn="ctr">
              <a:buNone/>
            </a:pPr>
            <a:r>
              <a:rPr lang="en-US" sz="1300" dirty="0">
                <a:solidFill>
                  <a:srgbClr val="B9CBD3"/>
                </a:solidFill>
              </a:rPr>
              <a:t>Computer Eng.</a:t>
            </a:r>
            <a:endParaRPr lang="en-US" sz="1300" dirty="0"/>
          </a:p>
        </p:txBody>
      </p:sp>
      <p:sp>
        <p:nvSpPr>
          <p:cNvPr id="11" name="Text 6"/>
          <p:cNvSpPr txBox="1"/>
          <p:nvPr/>
        </p:nvSpPr>
        <p:spPr>
          <a:xfrm>
            <a:off x="2743200" y="3108960"/>
            <a:ext cx="2103120" cy="274320"/>
          </a:xfrm>
          <a:prstGeom prst="rect">
            <a:avLst/>
          </a:prstGeom>
          <a:noFill/>
          <a:ln/>
        </p:spPr>
        <p:txBody>
          <a:bodyPr wrap="square" lIns="0" tIns="0" rIns="0" bIns="0" rtlCol="0" anchor="ctr"/>
          <a:lstStyle/>
          <a:p>
            <a:pPr marL="0" indent="0" algn="ctr">
              <a:buNone/>
            </a:pPr>
            <a:r>
              <a:rPr lang="en-US" sz="1300" dirty="0">
                <a:solidFill>
                  <a:srgbClr val="F5B544"/>
                </a:solidFill>
              </a:rPr>
              <a:t>Shares the most with Emma</a:t>
            </a:r>
            <a:endParaRPr lang="en-US" sz="1300" dirty="0"/>
          </a:p>
        </p:txBody>
      </p:sp>
      <p:pic>
        <p:nvPicPr>
          <p:cNvPr id="12" name="Image 2" descr="AI-generated portrait of Sophia"/>
          <p:cNvPicPr>
            <a:picLocks noChangeAspect="1"/>
          </p:cNvPicPr>
          <p:nvPr/>
        </p:nvPicPr>
        <p:blipFill>
          <a:blip r:embed="rId5"/>
          <a:stretch>
            <a:fillRect/>
          </a:stretch>
        </p:blipFill>
        <p:spPr>
          <a:xfrm>
            <a:off x="5486400" y="1371600"/>
            <a:ext cx="1097280" cy="1097280"/>
          </a:xfrm>
          <a:prstGeom prst="rect">
            <a:avLst/>
          </a:prstGeom>
        </p:spPr>
      </p:pic>
      <p:sp>
        <p:nvSpPr>
          <p:cNvPr id="13" name="Text 7"/>
          <p:cNvSpPr txBox="1"/>
          <p:nvPr/>
        </p:nvSpPr>
        <p:spPr>
          <a:xfrm>
            <a:off x="4983480" y="2542032"/>
            <a:ext cx="2103120" cy="329184"/>
          </a:xfrm>
          <a:prstGeom prst="rect">
            <a:avLst/>
          </a:prstGeom>
          <a:noFill/>
          <a:ln/>
        </p:spPr>
        <p:txBody>
          <a:bodyPr wrap="square" lIns="0" tIns="0" rIns="0" bIns="0" rtlCol="0" anchor="ctr"/>
          <a:lstStyle/>
          <a:p>
            <a:pPr marL="0" indent="0" algn="ctr">
              <a:buNone/>
            </a:pPr>
            <a:r>
              <a:rPr lang="en-US" sz="1800" b="1" dirty="0">
                <a:solidFill>
                  <a:srgbClr val="FFFFFF"/>
                </a:solidFill>
              </a:rPr>
              <a:t>Sophia</a:t>
            </a:r>
            <a:endParaRPr lang="en-US" sz="1800" dirty="0"/>
          </a:p>
        </p:txBody>
      </p:sp>
      <p:sp>
        <p:nvSpPr>
          <p:cNvPr id="14" name="Text 8"/>
          <p:cNvSpPr txBox="1"/>
          <p:nvPr/>
        </p:nvSpPr>
        <p:spPr>
          <a:xfrm>
            <a:off x="4983480" y="2852928"/>
            <a:ext cx="2103120" cy="274320"/>
          </a:xfrm>
          <a:prstGeom prst="rect">
            <a:avLst/>
          </a:prstGeom>
          <a:noFill/>
          <a:ln/>
        </p:spPr>
        <p:txBody>
          <a:bodyPr wrap="square" lIns="0" tIns="0" rIns="0" bIns="0" rtlCol="0" anchor="ctr"/>
          <a:lstStyle/>
          <a:p>
            <a:pPr marL="0" indent="0" algn="ctr">
              <a:buNone/>
            </a:pPr>
            <a:r>
              <a:rPr lang="en-US" sz="1300" dirty="0">
                <a:solidFill>
                  <a:srgbClr val="B9CBD3"/>
                </a:solidFill>
              </a:rPr>
              <a:t>Visual Design</a:t>
            </a:r>
            <a:endParaRPr lang="en-US" sz="1300" dirty="0"/>
          </a:p>
        </p:txBody>
      </p:sp>
      <p:sp>
        <p:nvSpPr>
          <p:cNvPr id="15" name="Text 9"/>
          <p:cNvSpPr txBox="1"/>
          <p:nvPr/>
        </p:nvSpPr>
        <p:spPr>
          <a:xfrm>
            <a:off x="4983480" y="3108960"/>
            <a:ext cx="2103120" cy="274320"/>
          </a:xfrm>
          <a:prstGeom prst="rect">
            <a:avLst/>
          </a:prstGeom>
          <a:noFill/>
          <a:ln/>
        </p:spPr>
        <p:txBody>
          <a:bodyPr wrap="square" lIns="0" tIns="0" rIns="0" bIns="0" rtlCol="0" anchor="ctr"/>
          <a:lstStyle/>
          <a:p>
            <a:pPr marL="0" indent="0" algn="ctr">
              <a:buNone/>
            </a:pPr>
            <a:r>
              <a:rPr lang="en-US" sz="1300" dirty="0">
                <a:solidFill>
                  <a:srgbClr val="F5B544"/>
                </a:solidFill>
              </a:rPr>
              <a:t>Waves back</a:t>
            </a:r>
            <a:endParaRPr lang="en-US" sz="1300" dirty="0"/>
          </a:p>
        </p:txBody>
      </p:sp>
      <p:pic>
        <p:nvPicPr>
          <p:cNvPr id="16" name="Image 3" descr="AI-generated portrait of Daniel"/>
          <p:cNvPicPr>
            <a:picLocks noChangeAspect="1"/>
          </p:cNvPicPr>
          <p:nvPr/>
        </p:nvPicPr>
        <p:blipFill>
          <a:blip r:embed="rId6"/>
          <a:stretch>
            <a:fillRect/>
          </a:stretch>
        </p:blipFill>
        <p:spPr>
          <a:xfrm>
            <a:off x="7726680" y="1371600"/>
            <a:ext cx="1097280" cy="1097280"/>
          </a:xfrm>
          <a:prstGeom prst="rect">
            <a:avLst/>
          </a:prstGeom>
        </p:spPr>
      </p:pic>
      <p:sp>
        <p:nvSpPr>
          <p:cNvPr id="17" name="Text 10"/>
          <p:cNvSpPr txBox="1"/>
          <p:nvPr/>
        </p:nvSpPr>
        <p:spPr>
          <a:xfrm>
            <a:off x="7223760" y="2542032"/>
            <a:ext cx="2103120" cy="329184"/>
          </a:xfrm>
          <a:prstGeom prst="rect">
            <a:avLst/>
          </a:prstGeom>
          <a:noFill/>
          <a:ln/>
        </p:spPr>
        <p:txBody>
          <a:bodyPr wrap="square" lIns="0" tIns="0" rIns="0" bIns="0" rtlCol="0" anchor="ctr"/>
          <a:lstStyle/>
          <a:p>
            <a:pPr marL="0" indent="0" algn="ctr">
              <a:buNone/>
            </a:pPr>
            <a:r>
              <a:rPr lang="en-US" sz="1800" b="1" dirty="0">
                <a:solidFill>
                  <a:srgbClr val="FFFFFF"/>
                </a:solidFill>
              </a:rPr>
              <a:t>Daniel</a:t>
            </a:r>
            <a:endParaRPr lang="en-US" sz="1800" dirty="0"/>
          </a:p>
        </p:txBody>
      </p:sp>
      <p:sp>
        <p:nvSpPr>
          <p:cNvPr id="18" name="Text 11"/>
          <p:cNvSpPr txBox="1"/>
          <p:nvPr/>
        </p:nvSpPr>
        <p:spPr>
          <a:xfrm>
            <a:off x="7223760" y="2852928"/>
            <a:ext cx="2103120" cy="274320"/>
          </a:xfrm>
          <a:prstGeom prst="rect">
            <a:avLst/>
          </a:prstGeom>
          <a:noFill/>
          <a:ln/>
        </p:spPr>
        <p:txBody>
          <a:bodyPr wrap="square" lIns="0" tIns="0" rIns="0" bIns="0" rtlCol="0" anchor="ctr"/>
          <a:lstStyle/>
          <a:p>
            <a:pPr marL="0" indent="0" algn="ctr">
              <a:buNone/>
            </a:pPr>
            <a:r>
              <a:rPr lang="en-US" sz="1300" dirty="0">
                <a:solidFill>
                  <a:srgbClr val="B9CBD3"/>
                </a:solidFill>
              </a:rPr>
              <a:t>Business (English)</a:t>
            </a:r>
            <a:endParaRPr lang="en-US" sz="1300" dirty="0"/>
          </a:p>
        </p:txBody>
      </p:sp>
      <p:sp>
        <p:nvSpPr>
          <p:cNvPr id="19" name="Text 12"/>
          <p:cNvSpPr txBox="1"/>
          <p:nvPr/>
        </p:nvSpPr>
        <p:spPr>
          <a:xfrm>
            <a:off x="7223760" y="3108960"/>
            <a:ext cx="2103120" cy="274320"/>
          </a:xfrm>
          <a:prstGeom prst="rect">
            <a:avLst/>
          </a:prstGeom>
          <a:noFill/>
          <a:ln/>
        </p:spPr>
        <p:txBody>
          <a:bodyPr wrap="square" lIns="0" tIns="0" rIns="0" bIns="0" rtlCol="0" anchor="ctr"/>
          <a:lstStyle/>
          <a:p>
            <a:pPr marL="0" indent="0" algn="ctr">
              <a:buNone/>
            </a:pPr>
            <a:r>
              <a:rPr lang="en-US" sz="1300" dirty="0">
                <a:solidFill>
                  <a:srgbClr val="F5B544"/>
                </a:solidFill>
              </a:rPr>
              <a:t>Weaker overlap</a:t>
            </a:r>
            <a:endParaRPr lang="en-US" sz="1300" dirty="0"/>
          </a:p>
        </p:txBody>
      </p:sp>
      <p:pic>
        <p:nvPicPr>
          <p:cNvPr id="20" name="Image 4" descr="AI-generated portrait of Olivia"/>
          <p:cNvPicPr>
            <a:picLocks noChangeAspect="1"/>
          </p:cNvPicPr>
          <p:nvPr/>
        </p:nvPicPr>
        <p:blipFill>
          <a:blip r:embed="rId7"/>
          <a:stretch>
            <a:fillRect/>
          </a:stretch>
        </p:blipFill>
        <p:spPr>
          <a:xfrm>
            <a:off x="9966960" y="1371600"/>
            <a:ext cx="1097280" cy="1097280"/>
          </a:xfrm>
          <a:prstGeom prst="rect">
            <a:avLst/>
          </a:prstGeom>
        </p:spPr>
      </p:pic>
      <p:sp>
        <p:nvSpPr>
          <p:cNvPr id="21" name="Text 13"/>
          <p:cNvSpPr txBox="1"/>
          <p:nvPr/>
        </p:nvSpPr>
        <p:spPr>
          <a:xfrm>
            <a:off x="9464040" y="2542032"/>
            <a:ext cx="2103120" cy="329184"/>
          </a:xfrm>
          <a:prstGeom prst="rect">
            <a:avLst/>
          </a:prstGeom>
          <a:noFill/>
          <a:ln/>
        </p:spPr>
        <p:txBody>
          <a:bodyPr wrap="square" lIns="0" tIns="0" rIns="0" bIns="0" rtlCol="0" anchor="ctr"/>
          <a:lstStyle/>
          <a:p>
            <a:pPr marL="0" indent="0" algn="ctr">
              <a:buNone/>
            </a:pPr>
            <a:r>
              <a:rPr lang="en-US" sz="1800" b="1" dirty="0">
                <a:solidFill>
                  <a:srgbClr val="FFFFFF"/>
                </a:solidFill>
              </a:rPr>
              <a:t>Olivia</a:t>
            </a:r>
            <a:endParaRPr lang="en-US" sz="1800" dirty="0"/>
          </a:p>
        </p:txBody>
      </p:sp>
      <p:sp>
        <p:nvSpPr>
          <p:cNvPr id="22" name="Text 14"/>
          <p:cNvSpPr txBox="1"/>
          <p:nvPr/>
        </p:nvSpPr>
        <p:spPr>
          <a:xfrm>
            <a:off x="9464040" y="2852928"/>
            <a:ext cx="2103120" cy="274320"/>
          </a:xfrm>
          <a:prstGeom prst="rect">
            <a:avLst/>
          </a:prstGeom>
          <a:noFill/>
          <a:ln/>
        </p:spPr>
        <p:txBody>
          <a:bodyPr wrap="square" lIns="0" tIns="0" rIns="0" bIns="0" rtlCol="0" anchor="ctr"/>
          <a:lstStyle/>
          <a:p>
            <a:pPr marL="0" indent="0" algn="ctr">
              <a:buNone/>
            </a:pPr>
            <a:r>
              <a:rPr lang="en-US" sz="1300" dirty="0">
                <a:solidFill>
                  <a:srgbClr val="B9CBD3"/>
                </a:solidFill>
              </a:rPr>
              <a:t>Psychology</a:t>
            </a:r>
            <a:endParaRPr lang="en-US" sz="1300" dirty="0"/>
          </a:p>
        </p:txBody>
      </p:sp>
      <p:sp>
        <p:nvSpPr>
          <p:cNvPr id="23" name="Text 15"/>
          <p:cNvSpPr txBox="1"/>
          <p:nvPr/>
        </p:nvSpPr>
        <p:spPr>
          <a:xfrm>
            <a:off x="9464040" y="3108960"/>
            <a:ext cx="2103120" cy="274320"/>
          </a:xfrm>
          <a:prstGeom prst="rect">
            <a:avLst/>
          </a:prstGeom>
          <a:noFill/>
          <a:ln/>
        </p:spPr>
        <p:txBody>
          <a:bodyPr wrap="square" lIns="0" tIns="0" rIns="0" bIns="0" rtlCol="0" anchor="ctr"/>
          <a:lstStyle/>
          <a:p>
            <a:pPr marL="0" indent="0" algn="ctr">
              <a:buNone/>
            </a:pPr>
            <a:r>
              <a:rPr lang="en-US" sz="1300" dirty="0">
                <a:solidFill>
                  <a:srgbClr val="F5B544"/>
                </a:solidFill>
              </a:rPr>
              <a:t>Reports Jack</a:t>
            </a:r>
            <a:endParaRPr lang="en-US" sz="1300" dirty="0"/>
          </a:p>
        </p:txBody>
      </p:sp>
      <p:pic>
        <p:nvPicPr>
          <p:cNvPr id="24" name="Image 5" descr="AI-generated portrait of Noah"/>
          <p:cNvPicPr>
            <a:picLocks noChangeAspect="1"/>
          </p:cNvPicPr>
          <p:nvPr/>
        </p:nvPicPr>
        <p:blipFill>
          <a:blip r:embed="rId8"/>
          <a:stretch>
            <a:fillRect/>
          </a:stretch>
        </p:blipFill>
        <p:spPr>
          <a:xfrm>
            <a:off x="1005840" y="3703320"/>
            <a:ext cx="1097280" cy="1097280"/>
          </a:xfrm>
          <a:prstGeom prst="rect">
            <a:avLst/>
          </a:prstGeom>
        </p:spPr>
      </p:pic>
      <p:sp>
        <p:nvSpPr>
          <p:cNvPr id="25" name="Text 16"/>
          <p:cNvSpPr txBox="1"/>
          <p:nvPr/>
        </p:nvSpPr>
        <p:spPr>
          <a:xfrm>
            <a:off x="502920" y="4873752"/>
            <a:ext cx="2103120" cy="329184"/>
          </a:xfrm>
          <a:prstGeom prst="rect">
            <a:avLst/>
          </a:prstGeom>
          <a:noFill/>
          <a:ln/>
        </p:spPr>
        <p:txBody>
          <a:bodyPr wrap="square" lIns="0" tIns="0" rIns="0" bIns="0" rtlCol="0" anchor="ctr"/>
          <a:lstStyle/>
          <a:p>
            <a:pPr marL="0" indent="0" algn="ctr">
              <a:buNone/>
            </a:pPr>
            <a:r>
              <a:rPr lang="en-US" sz="1800" b="1" dirty="0">
                <a:solidFill>
                  <a:srgbClr val="FFFFFF"/>
                </a:solidFill>
              </a:rPr>
              <a:t>Noah</a:t>
            </a:r>
            <a:endParaRPr lang="en-US" sz="1800" dirty="0"/>
          </a:p>
        </p:txBody>
      </p:sp>
      <p:sp>
        <p:nvSpPr>
          <p:cNvPr id="26" name="Text 17"/>
          <p:cNvSpPr txBox="1"/>
          <p:nvPr/>
        </p:nvSpPr>
        <p:spPr>
          <a:xfrm>
            <a:off x="502920" y="5184648"/>
            <a:ext cx="2103120" cy="274320"/>
          </a:xfrm>
          <a:prstGeom prst="rect">
            <a:avLst/>
          </a:prstGeom>
          <a:noFill/>
          <a:ln/>
        </p:spPr>
        <p:txBody>
          <a:bodyPr wrap="square" lIns="0" tIns="0" rIns="0" bIns="0" rtlCol="0" anchor="ctr"/>
          <a:lstStyle/>
          <a:p>
            <a:pPr marL="0" indent="0" algn="ctr">
              <a:buNone/>
            </a:pPr>
            <a:r>
              <a:rPr lang="en-US" sz="1300" dirty="0">
                <a:solidFill>
                  <a:srgbClr val="B9CBD3"/>
                </a:solidFill>
              </a:rPr>
              <a:t>Computer Eng. (English)</a:t>
            </a:r>
            <a:endParaRPr lang="en-US" sz="1300" dirty="0"/>
          </a:p>
        </p:txBody>
      </p:sp>
      <p:sp>
        <p:nvSpPr>
          <p:cNvPr id="27" name="Text 18"/>
          <p:cNvSpPr txBox="1"/>
          <p:nvPr/>
        </p:nvSpPr>
        <p:spPr>
          <a:xfrm>
            <a:off x="502920" y="5440680"/>
            <a:ext cx="2103120" cy="274320"/>
          </a:xfrm>
          <a:prstGeom prst="rect">
            <a:avLst/>
          </a:prstGeom>
          <a:noFill/>
          <a:ln/>
        </p:spPr>
        <p:txBody>
          <a:bodyPr wrap="square" lIns="0" tIns="0" rIns="0" bIns="0" rtlCol="0" anchor="ctr"/>
          <a:lstStyle/>
          <a:p>
            <a:pPr marL="0" indent="0" algn="ctr">
              <a:buNone/>
            </a:pPr>
            <a:r>
              <a:rPr lang="en-US" sz="1300" dirty="0">
                <a:solidFill>
                  <a:srgbClr val="F5B544"/>
                </a:solidFill>
              </a:rPr>
              <a:t>Uses Open mode</a:t>
            </a:r>
            <a:endParaRPr lang="en-US" sz="1300" dirty="0"/>
          </a:p>
        </p:txBody>
      </p:sp>
      <p:pic>
        <p:nvPicPr>
          <p:cNvPr id="28" name="Image 6" descr="AI-generated portrait of Ethan"/>
          <p:cNvPicPr>
            <a:picLocks noChangeAspect="1"/>
          </p:cNvPicPr>
          <p:nvPr/>
        </p:nvPicPr>
        <p:blipFill>
          <a:blip r:embed="rId9"/>
          <a:stretch>
            <a:fillRect/>
          </a:stretch>
        </p:blipFill>
        <p:spPr>
          <a:xfrm>
            <a:off x="3246120" y="3703320"/>
            <a:ext cx="1097280" cy="1097280"/>
          </a:xfrm>
          <a:prstGeom prst="rect">
            <a:avLst/>
          </a:prstGeom>
        </p:spPr>
      </p:pic>
      <p:sp>
        <p:nvSpPr>
          <p:cNvPr id="29" name="Text 19"/>
          <p:cNvSpPr txBox="1"/>
          <p:nvPr/>
        </p:nvSpPr>
        <p:spPr>
          <a:xfrm>
            <a:off x="2743200" y="4873752"/>
            <a:ext cx="2103120" cy="329184"/>
          </a:xfrm>
          <a:prstGeom prst="rect">
            <a:avLst/>
          </a:prstGeom>
          <a:noFill/>
          <a:ln/>
        </p:spPr>
        <p:txBody>
          <a:bodyPr wrap="square" lIns="0" tIns="0" rIns="0" bIns="0" rtlCol="0" anchor="ctr"/>
          <a:lstStyle/>
          <a:p>
            <a:pPr marL="0" indent="0" algn="ctr">
              <a:buNone/>
            </a:pPr>
            <a:r>
              <a:rPr lang="en-US" sz="1800" b="1" dirty="0">
                <a:solidFill>
                  <a:srgbClr val="FFFFFF"/>
                </a:solidFill>
              </a:rPr>
              <a:t>Ethan</a:t>
            </a:r>
            <a:endParaRPr lang="en-US" sz="1800" dirty="0"/>
          </a:p>
        </p:txBody>
      </p:sp>
      <p:sp>
        <p:nvSpPr>
          <p:cNvPr id="30" name="Text 20"/>
          <p:cNvSpPr txBox="1"/>
          <p:nvPr/>
        </p:nvSpPr>
        <p:spPr>
          <a:xfrm>
            <a:off x="2743200" y="5184648"/>
            <a:ext cx="2103120" cy="274320"/>
          </a:xfrm>
          <a:prstGeom prst="rect">
            <a:avLst/>
          </a:prstGeom>
          <a:noFill/>
          <a:ln/>
        </p:spPr>
        <p:txBody>
          <a:bodyPr wrap="square" lIns="0" tIns="0" rIns="0" bIns="0" rtlCol="0" anchor="ctr"/>
          <a:lstStyle/>
          <a:p>
            <a:pPr marL="0" indent="0" algn="ctr">
              <a:buNone/>
            </a:pPr>
            <a:r>
              <a:rPr lang="en-US" sz="1300" dirty="0">
                <a:solidFill>
                  <a:srgbClr val="B9CBD3"/>
                </a:solidFill>
              </a:rPr>
              <a:t>Economics</a:t>
            </a:r>
            <a:endParaRPr lang="en-US" sz="1300" dirty="0"/>
          </a:p>
        </p:txBody>
      </p:sp>
      <p:sp>
        <p:nvSpPr>
          <p:cNvPr id="31" name="Text 21"/>
          <p:cNvSpPr txBox="1"/>
          <p:nvPr/>
        </p:nvSpPr>
        <p:spPr>
          <a:xfrm>
            <a:off x="2743200" y="5440680"/>
            <a:ext cx="2103120" cy="274320"/>
          </a:xfrm>
          <a:prstGeom prst="rect">
            <a:avLst/>
          </a:prstGeom>
          <a:noFill/>
          <a:ln/>
        </p:spPr>
        <p:txBody>
          <a:bodyPr wrap="square" lIns="0" tIns="0" rIns="0" bIns="0" rtlCol="0" anchor="ctr"/>
          <a:lstStyle/>
          <a:p>
            <a:pPr marL="0" indent="0" algn="ctr">
              <a:buNone/>
            </a:pPr>
            <a:r>
              <a:rPr lang="en-US" sz="1300" dirty="0">
                <a:solidFill>
                  <a:srgbClr val="F5B544"/>
                </a:solidFill>
              </a:rPr>
              <a:t>No shared free time</a:t>
            </a:r>
            <a:endParaRPr lang="en-US" sz="1300" dirty="0"/>
          </a:p>
        </p:txBody>
      </p:sp>
      <p:pic>
        <p:nvPicPr>
          <p:cNvPr id="32" name="Image 7" descr="AI-generated portrait of Grace"/>
          <p:cNvPicPr>
            <a:picLocks noChangeAspect="1"/>
          </p:cNvPicPr>
          <p:nvPr/>
        </p:nvPicPr>
        <p:blipFill>
          <a:blip r:embed="rId10"/>
          <a:stretch>
            <a:fillRect/>
          </a:stretch>
        </p:blipFill>
        <p:spPr>
          <a:xfrm>
            <a:off x="5486400" y="3703320"/>
            <a:ext cx="1097280" cy="1097280"/>
          </a:xfrm>
          <a:prstGeom prst="rect">
            <a:avLst/>
          </a:prstGeom>
        </p:spPr>
      </p:pic>
      <p:sp>
        <p:nvSpPr>
          <p:cNvPr id="33" name="Text 22"/>
          <p:cNvSpPr txBox="1"/>
          <p:nvPr/>
        </p:nvSpPr>
        <p:spPr>
          <a:xfrm>
            <a:off x="4983480" y="4873752"/>
            <a:ext cx="2103120" cy="329184"/>
          </a:xfrm>
          <a:prstGeom prst="rect">
            <a:avLst/>
          </a:prstGeom>
          <a:noFill/>
          <a:ln/>
        </p:spPr>
        <p:txBody>
          <a:bodyPr wrap="square" lIns="0" tIns="0" rIns="0" bIns="0" rtlCol="0" anchor="ctr"/>
          <a:lstStyle/>
          <a:p>
            <a:pPr marL="0" indent="0" algn="ctr">
              <a:buNone/>
            </a:pPr>
            <a:r>
              <a:rPr lang="en-US" sz="1800" b="1" dirty="0">
                <a:solidFill>
                  <a:srgbClr val="FFFFFF"/>
                </a:solidFill>
              </a:rPr>
              <a:t>Grace</a:t>
            </a:r>
            <a:endParaRPr lang="en-US" sz="1800" dirty="0"/>
          </a:p>
        </p:txBody>
      </p:sp>
      <p:sp>
        <p:nvSpPr>
          <p:cNvPr id="34" name="Text 23"/>
          <p:cNvSpPr txBox="1"/>
          <p:nvPr/>
        </p:nvSpPr>
        <p:spPr>
          <a:xfrm>
            <a:off x="4983480" y="5184648"/>
            <a:ext cx="2103120" cy="274320"/>
          </a:xfrm>
          <a:prstGeom prst="rect">
            <a:avLst/>
          </a:prstGeom>
          <a:noFill/>
          <a:ln/>
        </p:spPr>
        <p:txBody>
          <a:bodyPr wrap="square" lIns="0" tIns="0" rIns="0" bIns="0" rtlCol="0" anchor="ctr"/>
          <a:lstStyle/>
          <a:p>
            <a:pPr marL="0" indent="0" algn="ctr">
              <a:buNone/>
            </a:pPr>
            <a:r>
              <a:rPr lang="en-US" sz="1300" dirty="0">
                <a:solidFill>
                  <a:srgbClr val="B9CBD3"/>
                </a:solidFill>
              </a:rPr>
              <a:t>Industrial Design</a:t>
            </a:r>
            <a:endParaRPr lang="en-US" sz="1300" dirty="0"/>
          </a:p>
        </p:txBody>
      </p:sp>
      <p:sp>
        <p:nvSpPr>
          <p:cNvPr id="35" name="Text 24"/>
          <p:cNvSpPr txBox="1"/>
          <p:nvPr/>
        </p:nvSpPr>
        <p:spPr>
          <a:xfrm>
            <a:off x="4983480" y="5440680"/>
            <a:ext cx="2103120" cy="274320"/>
          </a:xfrm>
          <a:prstGeom prst="rect">
            <a:avLst/>
          </a:prstGeom>
          <a:noFill/>
          <a:ln/>
        </p:spPr>
        <p:txBody>
          <a:bodyPr wrap="square" lIns="0" tIns="0" rIns="0" bIns="0" rtlCol="0" anchor="ctr"/>
          <a:lstStyle/>
          <a:p>
            <a:pPr marL="0" indent="0" algn="ctr">
              <a:buNone/>
            </a:pPr>
            <a:r>
              <a:rPr lang="en-US" sz="1300" dirty="0">
                <a:solidFill>
                  <a:srgbClr val="F5B544"/>
                </a:solidFill>
              </a:rPr>
              <a:t>Lower rank</a:t>
            </a:r>
            <a:endParaRPr lang="en-US" sz="1300" dirty="0"/>
          </a:p>
        </p:txBody>
      </p:sp>
      <p:pic>
        <p:nvPicPr>
          <p:cNvPr id="36" name="Image 8" descr="AI-generated portrait of Jack"/>
          <p:cNvPicPr>
            <a:picLocks noChangeAspect="1"/>
          </p:cNvPicPr>
          <p:nvPr/>
        </p:nvPicPr>
        <p:blipFill>
          <a:blip r:embed="rId11"/>
          <a:stretch>
            <a:fillRect/>
          </a:stretch>
        </p:blipFill>
        <p:spPr>
          <a:xfrm>
            <a:off x="7726680" y="3703320"/>
            <a:ext cx="1097280" cy="1097280"/>
          </a:xfrm>
          <a:prstGeom prst="rect">
            <a:avLst/>
          </a:prstGeom>
        </p:spPr>
      </p:pic>
      <p:sp>
        <p:nvSpPr>
          <p:cNvPr id="37" name="Text 25"/>
          <p:cNvSpPr txBox="1"/>
          <p:nvPr/>
        </p:nvSpPr>
        <p:spPr>
          <a:xfrm>
            <a:off x="7223760" y="4873752"/>
            <a:ext cx="2103120" cy="329184"/>
          </a:xfrm>
          <a:prstGeom prst="rect">
            <a:avLst/>
          </a:prstGeom>
          <a:noFill/>
          <a:ln/>
        </p:spPr>
        <p:txBody>
          <a:bodyPr wrap="square" lIns="0" tIns="0" rIns="0" bIns="0" rtlCol="0" anchor="ctr"/>
          <a:lstStyle/>
          <a:p>
            <a:pPr marL="0" indent="0" algn="ctr">
              <a:buNone/>
            </a:pPr>
            <a:r>
              <a:rPr lang="en-US" sz="1800" b="1" dirty="0">
                <a:solidFill>
                  <a:srgbClr val="FFFFFF"/>
                </a:solidFill>
              </a:rPr>
              <a:t>Jack</a:t>
            </a:r>
            <a:endParaRPr lang="en-US" sz="1800" dirty="0"/>
          </a:p>
        </p:txBody>
      </p:sp>
      <p:sp>
        <p:nvSpPr>
          <p:cNvPr id="38" name="Text 26"/>
          <p:cNvSpPr txBox="1"/>
          <p:nvPr/>
        </p:nvSpPr>
        <p:spPr>
          <a:xfrm>
            <a:off x="7223760" y="5184648"/>
            <a:ext cx="2103120" cy="274320"/>
          </a:xfrm>
          <a:prstGeom prst="rect">
            <a:avLst/>
          </a:prstGeom>
          <a:noFill/>
          <a:ln/>
        </p:spPr>
        <p:txBody>
          <a:bodyPr wrap="square" lIns="0" tIns="0" rIns="0" bIns="0" rtlCol="0" anchor="ctr"/>
          <a:lstStyle/>
          <a:p>
            <a:pPr marL="0" indent="0" algn="ctr">
              <a:buNone/>
            </a:pPr>
            <a:r>
              <a:rPr lang="en-US" sz="1300" dirty="0">
                <a:solidFill>
                  <a:srgbClr val="B9CBD3"/>
                </a:solidFill>
              </a:rPr>
              <a:t>Law</a:t>
            </a:r>
            <a:endParaRPr lang="en-US" sz="1300" dirty="0"/>
          </a:p>
        </p:txBody>
      </p:sp>
      <p:sp>
        <p:nvSpPr>
          <p:cNvPr id="39" name="Text 27"/>
          <p:cNvSpPr txBox="1"/>
          <p:nvPr/>
        </p:nvSpPr>
        <p:spPr>
          <a:xfrm>
            <a:off x="7223760" y="5440680"/>
            <a:ext cx="2103120" cy="274320"/>
          </a:xfrm>
          <a:prstGeom prst="rect">
            <a:avLst/>
          </a:prstGeom>
          <a:noFill/>
          <a:ln/>
        </p:spPr>
        <p:txBody>
          <a:bodyPr wrap="square" lIns="0" tIns="0" rIns="0" bIns="0" rtlCol="0" anchor="ctr"/>
          <a:lstStyle/>
          <a:p>
            <a:pPr marL="0" indent="0" algn="ctr">
              <a:buNone/>
            </a:pPr>
            <a:r>
              <a:rPr lang="en-US" sz="1300" dirty="0">
                <a:solidFill>
                  <a:srgbClr val="F5B544"/>
                </a:solidFill>
              </a:rPr>
              <a:t>Gets suspended</a:t>
            </a:r>
            <a:endParaRPr lang="en-US" sz="1300" dirty="0"/>
          </a:p>
        </p:txBody>
      </p:sp>
      <p:pic>
        <p:nvPicPr>
          <p:cNvPr id="40" name="Image 9" descr="AI-generated portrait of Dana"/>
          <p:cNvPicPr>
            <a:picLocks noChangeAspect="1"/>
          </p:cNvPicPr>
          <p:nvPr/>
        </p:nvPicPr>
        <p:blipFill>
          <a:blip r:embed="rId12"/>
          <a:stretch>
            <a:fillRect/>
          </a:stretch>
        </p:blipFill>
        <p:spPr>
          <a:xfrm>
            <a:off x="9966960" y="3703320"/>
            <a:ext cx="1097280" cy="1097280"/>
          </a:xfrm>
          <a:prstGeom prst="rect">
            <a:avLst/>
          </a:prstGeom>
        </p:spPr>
      </p:pic>
      <p:sp>
        <p:nvSpPr>
          <p:cNvPr id="41" name="Text 28"/>
          <p:cNvSpPr txBox="1"/>
          <p:nvPr/>
        </p:nvSpPr>
        <p:spPr>
          <a:xfrm>
            <a:off x="9464040" y="4873752"/>
            <a:ext cx="2103120" cy="329184"/>
          </a:xfrm>
          <a:prstGeom prst="rect">
            <a:avLst/>
          </a:prstGeom>
          <a:noFill/>
          <a:ln/>
        </p:spPr>
        <p:txBody>
          <a:bodyPr wrap="square" lIns="0" tIns="0" rIns="0" bIns="0" rtlCol="0" anchor="ctr"/>
          <a:lstStyle/>
          <a:p>
            <a:pPr marL="0" indent="0" algn="ctr">
              <a:buNone/>
            </a:pPr>
            <a:r>
              <a:rPr lang="en-US" sz="1800" b="1" dirty="0">
                <a:solidFill>
                  <a:srgbClr val="FFFFFF"/>
                </a:solidFill>
              </a:rPr>
              <a:t>Dana</a:t>
            </a:r>
            <a:endParaRPr lang="en-US" sz="1800" dirty="0"/>
          </a:p>
        </p:txBody>
      </p:sp>
      <p:sp>
        <p:nvSpPr>
          <p:cNvPr id="42" name="Text 29"/>
          <p:cNvSpPr txBox="1"/>
          <p:nvPr/>
        </p:nvSpPr>
        <p:spPr>
          <a:xfrm>
            <a:off x="9464040" y="5184648"/>
            <a:ext cx="2103120" cy="274320"/>
          </a:xfrm>
          <a:prstGeom prst="rect">
            <a:avLst/>
          </a:prstGeom>
          <a:noFill/>
          <a:ln/>
        </p:spPr>
        <p:txBody>
          <a:bodyPr wrap="square" lIns="0" tIns="0" rIns="0" bIns="0" rtlCol="0" anchor="ctr"/>
          <a:lstStyle/>
          <a:p>
            <a:pPr marL="0" indent="0" algn="ctr">
              <a:buNone/>
            </a:pPr>
            <a:r>
              <a:rPr lang="en-US" sz="1300" dirty="0">
                <a:solidFill>
                  <a:srgbClr val="B9CBD3"/>
                </a:solidFill>
              </a:rPr>
              <a:t>Visual Design</a:t>
            </a:r>
            <a:endParaRPr lang="en-US" sz="1300" dirty="0"/>
          </a:p>
        </p:txBody>
      </p:sp>
      <p:sp>
        <p:nvSpPr>
          <p:cNvPr id="43" name="Text 30"/>
          <p:cNvSpPr txBox="1"/>
          <p:nvPr/>
        </p:nvSpPr>
        <p:spPr>
          <a:xfrm>
            <a:off x="9464040" y="5440680"/>
            <a:ext cx="2103120" cy="274320"/>
          </a:xfrm>
          <a:prstGeom prst="rect">
            <a:avLst/>
          </a:prstGeom>
          <a:noFill/>
          <a:ln/>
        </p:spPr>
        <p:txBody>
          <a:bodyPr wrap="square" lIns="0" tIns="0" rIns="0" bIns="0" rtlCol="0" anchor="ctr"/>
          <a:lstStyle/>
          <a:p>
            <a:pPr marL="0" indent="0" algn="ctr">
              <a:buNone/>
            </a:pPr>
            <a:r>
              <a:rPr lang="en-US" sz="1300" dirty="0">
                <a:solidFill>
                  <a:srgbClr val="F5B544"/>
                </a:solidFill>
              </a:rPr>
              <a:t>Joins live</a:t>
            </a:r>
            <a:endParaRPr lang="en-US" sz="1300" dirty="0"/>
          </a:p>
        </p:txBody>
      </p:sp>
      <p:sp>
        <p:nvSpPr>
          <p:cNvPr id="44" name="Text 31"/>
          <p:cNvSpPr txBox="1"/>
          <p:nvPr/>
        </p:nvSpPr>
        <p:spPr>
          <a:xfrm>
            <a:off x="548640" y="6053328"/>
            <a:ext cx="11064240" cy="365760"/>
          </a:xfrm>
          <a:prstGeom prst="rect">
            <a:avLst/>
          </a:prstGeom>
          <a:noFill/>
          <a:ln/>
        </p:spPr>
        <p:txBody>
          <a:bodyPr wrap="square" lIns="0" tIns="0" rIns="0" bIns="0" rtlCol="0" anchor="ctr"/>
          <a:lstStyle/>
          <a:p>
            <a:pPr marL="0" indent="0" algn="ctr">
              <a:buNone/>
            </a:pPr>
            <a:r>
              <a:rPr lang="en-US" sz="1400" dirty="0">
                <a:solidFill>
                  <a:srgbClr val="CFE3E0"/>
                </a:solidFill>
              </a:rPr>
              <a:t>Fake campus: Hartwell University, 25 invented students, one throwaway database on this laptop. Portraits are AI-generated, not real people.</a:t>
            </a:r>
            <a:endParaRPr lang="en-US" sz="1400" dirty="0"/>
          </a:p>
        </p:txBody>
      </p:sp>
      <p:sp>
        <p:nvSpPr>
          <p:cNvPr id="3" name="Slide Number Placeholder 0"/>
          <p:cNvSpPr>
            <a:spLocks noGrp="1"/>
          </p:cNvSpPr>
          <p:nvPr>
            <p:ph type="sldNum" sz="quarter" idx="4294967295"/>
          </p:nvPr>
        </p:nvSpPr>
        <p:spPr>
          <a:xfrm>
            <a:off x="11155680" y="647395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FA0A9"/>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400" b="1" dirty="0">
                <a:solidFill>
                  <a:schemeClr val="tx1"/>
                </a:solidFill>
              </a:rPr>
              <a:t>The app at a glance: four tabs</a:t>
            </a:r>
            <a:endParaRPr lang="en-US" sz="3400" dirty="0"/>
          </a:p>
        </p:txBody>
      </p:sp>
      <p:pic>
        <p:nvPicPr>
          <p:cNvPr id="4" name="Image 0" descr="Phone screenshot of the Picks tab"/>
          <p:cNvPicPr>
            <a:picLocks noChangeAspect="1"/>
          </p:cNvPicPr>
          <p:nvPr/>
        </p:nvPicPr>
        <p:blipFill>
          <a:blip r:embed="rId3"/>
          <a:stretch>
            <a:fillRect/>
          </a:stretch>
        </p:blipFill>
        <p:spPr>
          <a:xfrm>
            <a:off x="868680" y="1417320"/>
            <a:ext cx="2008527" cy="4160520"/>
          </a:xfrm>
          <a:prstGeom prst="rect">
            <a:avLst/>
          </a:prstGeom>
        </p:spPr>
      </p:pic>
      <p:sp>
        <p:nvSpPr>
          <p:cNvPr id="5" name="Text 1"/>
          <p:cNvSpPr txBox="1"/>
          <p:nvPr/>
        </p:nvSpPr>
        <p:spPr>
          <a:xfrm>
            <a:off x="685800" y="5577840"/>
            <a:ext cx="2651760" cy="329184"/>
          </a:xfrm>
          <a:prstGeom prst="rect">
            <a:avLst/>
          </a:prstGeom>
          <a:noFill/>
          <a:ln/>
        </p:spPr>
        <p:txBody>
          <a:bodyPr wrap="square" lIns="0" tIns="0" rIns="0" bIns="0" rtlCol="0" anchor="ctr"/>
          <a:lstStyle/>
          <a:p>
            <a:pPr marL="0" indent="0" algn="ctr">
              <a:buNone/>
            </a:pPr>
            <a:r>
              <a:rPr lang="en-US" sz="1800" b="1" dirty="0">
                <a:solidFill>
                  <a:schemeClr val="tx1"/>
                </a:solidFill>
              </a:rPr>
              <a:t>Picks</a:t>
            </a:r>
            <a:endParaRPr lang="en-US" sz="1800" dirty="0"/>
          </a:p>
        </p:txBody>
      </p:sp>
      <p:sp>
        <p:nvSpPr>
          <p:cNvPr id="6" name="Text 2"/>
          <p:cNvSpPr txBox="1"/>
          <p:nvPr/>
        </p:nvSpPr>
        <p:spPr>
          <a:xfrm>
            <a:off x="685800" y="5907024"/>
            <a:ext cx="2651760" cy="457200"/>
          </a:xfrm>
          <a:prstGeom prst="rect">
            <a:avLst/>
          </a:prstGeom>
          <a:noFill/>
          <a:ln/>
        </p:spPr>
        <p:txBody>
          <a:bodyPr wrap="square" lIns="0" tIns="0" rIns="0" bIns="0" rtlCol="0" anchor="t"/>
          <a:lstStyle/>
          <a:p>
            <a:pPr marL="0" indent="0" algn="ctr">
              <a:buNone/>
            </a:pPr>
            <a:r>
              <a:rPr lang="en-US" sz="1300" dirty="0">
                <a:solidFill>
                  <a:srgbClr val="4A5A66"/>
                </a:solidFill>
              </a:rPr>
              <a:t>Six people a day, each one explained</a:t>
            </a:r>
            <a:endParaRPr lang="en-US" sz="1300" dirty="0"/>
          </a:p>
        </p:txBody>
      </p:sp>
      <p:pic>
        <p:nvPicPr>
          <p:cNvPr id="7" name="Image 1" descr="Phone screenshot of the Waves tab"/>
          <p:cNvPicPr>
            <a:picLocks noChangeAspect="1"/>
          </p:cNvPicPr>
          <p:nvPr/>
        </p:nvPicPr>
        <p:blipFill>
          <a:blip r:embed="rId4"/>
          <a:stretch>
            <a:fillRect/>
          </a:stretch>
        </p:blipFill>
        <p:spPr>
          <a:xfrm>
            <a:off x="3703320" y="1417320"/>
            <a:ext cx="2008527" cy="4160520"/>
          </a:xfrm>
          <a:prstGeom prst="rect">
            <a:avLst/>
          </a:prstGeom>
        </p:spPr>
      </p:pic>
      <p:sp>
        <p:nvSpPr>
          <p:cNvPr id="8" name="Text 3"/>
          <p:cNvSpPr txBox="1"/>
          <p:nvPr/>
        </p:nvSpPr>
        <p:spPr>
          <a:xfrm>
            <a:off x="3520440" y="5577840"/>
            <a:ext cx="2651760" cy="329184"/>
          </a:xfrm>
          <a:prstGeom prst="rect">
            <a:avLst/>
          </a:prstGeom>
          <a:noFill/>
          <a:ln/>
        </p:spPr>
        <p:txBody>
          <a:bodyPr wrap="square" lIns="0" tIns="0" rIns="0" bIns="0" rtlCol="0" anchor="ctr"/>
          <a:lstStyle/>
          <a:p>
            <a:pPr marL="0" indent="0" algn="ctr">
              <a:buNone/>
            </a:pPr>
            <a:r>
              <a:rPr lang="en-US" sz="1800" b="1" dirty="0">
                <a:solidFill>
                  <a:schemeClr val="tx1"/>
                </a:solidFill>
              </a:rPr>
              <a:t>Waves</a:t>
            </a:r>
            <a:endParaRPr lang="en-US" sz="1800" dirty="0"/>
          </a:p>
        </p:txBody>
      </p:sp>
      <p:sp>
        <p:nvSpPr>
          <p:cNvPr id="9" name="Text 4"/>
          <p:cNvSpPr txBox="1"/>
          <p:nvPr/>
        </p:nvSpPr>
        <p:spPr>
          <a:xfrm>
            <a:off x="3520440" y="5907024"/>
            <a:ext cx="2651760" cy="457200"/>
          </a:xfrm>
          <a:prstGeom prst="rect">
            <a:avLst/>
          </a:prstGeom>
          <a:noFill/>
          <a:ln/>
        </p:spPr>
        <p:txBody>
          <a:bodyPr wrap="square" lIns="0" tIns="0" rIns="0" bIns="0" rtlCol="0" anchor="t"/>
          <a:lstStyle/>
          <a:p>
            <a:pPr marL="0" indent="0" algn="ctr">
              <a:buNone/>
            </a:pPr>
            <a:r>
              <a:rPr lang="en-US" sz="1300" dirty="0">
                <a:solidFill>
                  <a:srgbClr val="4A5A66"/>
                </a:solidFill>
              </a:rPr>
              <a:t>Who waved at you, with an optional note</a:t>
            </a:r>
            <a:endParaRPr lang="en-US" sz="1300" dirty="0"/>
          </a:p>
        </p:txBody>
      </p:sp>
      <p:pic>
        <p:nvPicPr>
          <p:cNvPr id="10" name="Image 2" descr="Phone screenshot of the Matches tab"/>
          <p:cNvPicPr>
            <a:picLocks noChangeAspect="1"/>
          </p:cNvPicPr>
          <p:nvPr/>
        </p:nvPicPr>
        <p:blipFill>
          <a:blip r:embed="rId5"/>
          <a:stretch>
            <a:fillRect/>
          </a:stretch>
        </p:blipFill>
        <p:spPr>
          <a:xfrm>
            <a:off x="6537960" y="1417320"/>
            <a:ext cx="2008527" cy="4160520"/>
          </a:xfrm>
          <a:prstGeom prst="rect">
            <a:avLst/>
          </a:prstGeom>
        </p:spPr>
      </p:pic>
      <p:sp>
        <p:nvSpPr>
          <p:cNvPr id="11" name="Text 5"/>
          <p:cNvSpPr txBox="1"/>
          <p:nvPr/>
        </p:nvSpPr>
        <p:spPr>
          <a:xfrm>
            <a:off x="6355080" y="5577840"/>
            <a:ext cx="2651760" cy="329184"/>
          </a:xfrm>
          <a:prstGeom prst="rect">
            <a:avLst/>
          </a:prstGeom>
          <a:noFill/>
          <a:ln/>
        </p:spPr>
        <p:txBody>
          <a:bodyPr wrap="square" lIns="0" tIns="0" rIns="0" bIns="0" rtlCol="0" anchor="ctr"/>
          <a:lstStyle/>
          <a:p>
            <a:pPr marL="0" indent="0" algn="ctr">
              <a:buNone/>
            </a:pPr>
            <a:r>
              <a:rPr lang="en-US" sz="1800" b="1" dirty="0">
                <a:solidFill>
                  <a:schemeClr val="tx1"/>
                </a:solidFill>
              </a:rPr>
              <a:t>Matches</a:t>
            </a:r>
            <a:endParaRPr lang="en-US" sz="1800" dirty="0"/>
          </a:p>
        </p:txBody>
      </p:sp>
      <p:sp>
        <p:nvSpPr>
          <p:cNvPr id="12" name="Text 6"/>
          <p:cNvSpPr txBox="1"/>
          <p:nvPr/>
        </p:nvSpPr>
        <p:spPr>
          <a:xfrm>
            <a:off x="6355080" y="5907024"/>
            <a:ext cx="2651760" cy="457200"/>
          </a:xfrm>
          <a:prstGeom prst="rect">
            <a:avLst/>
          </a:prstGeom>
          <a:noFill/>
          <a:ln/>
        </p:spPr>
        <p:txBody>
          <a:bodyPr wrap="square" lIns="0" tIns="0" rIns="0" bIns="0" rtlCol="0" anchor="t"/>
          <a:lstStyle/>
          <a:p>
            <a:pPr marL="0" indent="0" algn="ctr">
              <a:buNone/>
            </a:pPr>
            <a:r>
              <a:rPr lang="en-US" sz="1300" dirty="0">
                <a:solidFill>
                  <a:srgbClr val="4A5A66"/>
                </a:solidFill>
              </a:rPr>
              <a:t>Chat and plan a meetup with mutual waves</a:t>
            </a:r>
            <a:endParaRPr lang="en-US" sz="1300" dirty="0"/>
          </a:p>
        </p:txBody>
      </p:sp>
      <p:pic>
        <p:nvPicPr>
          <p:cNvPr id="13" name="Image 3" descr="Phone screenshot of the Me tab"/>
          <p:cNvPicPr>
            <a:picLocks noChangeAspect="1"/>
          </p:cNvPicPr>
          <p:nvPr/>
        </p:nvPicPr>
        <p:blipFill>
          <a:blip r:embed="rId6"/>
          <a:stretch>
            <a:fillRect/>
          </a:stretch>
        </p:blipFill>
        <p:spPr>
          <a:xfrm>
            <a:off x="9372600" y="1417320"/>
            <a:ext cx="2008527" cy="4160520"/>
          </a:xfrm>
          <a:prstGeom prst="rect">
            <a:avLst/>
          </a:prstGeom>
        </p:spPr>
      </p:pic>
      <p:sp>
        <p:nvSpPr>
          <p:cNvPr id="14" name="Text 7"/>
          <p:cNvSpPr txBox="1"/>
          <p:nvPr/>
        </p:nvSpPr>
        <p:spPr>
          <a:xfrm>
            <a:off x="9189720" y="5577840"/>
            <a:ext cx="2651760" cy="329184"/>
          </a:xfrm>
          <a:prstGeom prst="rect">
            <a:avLst/>
          </a:prstGeom>
          <a:noFill/>
          <a:ln/>
        </p:spPr>
        <p:txBody>
          <a:bodyPr wrap="square" lIns="0" tIns="0" rIns="0" bIns="0" rtlCol="0" anchor="ctr"/>
          <a:lstStyle/>
          <a:p>
            <a:pPr marL="0" indent="0" algn="ctr">
              <a:buNone/>
            </a:pPr>
            <a:r>
              <a:rPr lang="en-US" sz="1800" b="1" dirty="0">
                <a:solidFill>
                  <a:schemeClr val="tx1"/>
                </a:solidFill>
              </a:rPr>
              <a:t>Me</a:t>
            </a:r>
            <a:endParaRPr lang="en-US" sz="1800" dirty="0"/>
          </a:p>
        </p:txBody>
      </p:sp>
      <p:sp>
        <p:nvSpPr>
          <p:cNvPr id="15" name="Text 8"/>
          <p:cNvSpPr txBox="1"/>
          <p:nvPr/>
        </p:nvSpPr>
        <p:spPr>
          <a:xfrm>
            <a:off x="9189720" y="5907024"/>
            <a:ext cx="2651760" cy="457200"/>
          </a:xfrm>
          <a:prstGeom prst="rect">
            <a:avLst/>
          </a:prstGeom>
          <a:noFill/>
          <a:ln/>
        </p:spPr>
        <p:txBody>
          <a:bodyPr wrap="square" lIns="0" tIns="0" rIns="0" bIns="0" rtlCol="0" anchor="t"/>
          <a:lstStyle/>
          <a:p>
            <a:pPr marL="0" indent="0" algn="ctr">
              <a:buNone/>
            </a:pPr>
            <a:r>
              <a:rPr lang="en-US" sz="1300" dirty="0">
                <a:solidFill>
                  <a:srgbClr val="4A5A66"/>
                </a:solidFill>
              </a:rPr>
              <a:t>Edit your profile, privacy, data export</a:t>
            </a:r>
            <a:endParaRPr lang="en-US" sz="1300" dirty="0"/>
          </a:p>
        </p:txBody>
      </p:sp>
      <p:sp>
        <p:nvSpPr>
          <p:cNvPr id="25" name="Slide Number Placeholder 0"/>
          <p:cNvSpPr>
            <a:spLocks noGrp="1"/>
          </p:cNvSpPr>
          <p:nvPr>
            <p:ph type="sldNum" sz="quarter" idx="4294967295"/>
          </p:nvPr>
        </p:nvSpPr>
        <p:spPr>
          <a:xfrm>
            <a:off x="11155680" y="647395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480560" y="548640"/>
            <a:ext cx="7223760" cy="1371600"/>
          </a:xfrm>
          <a:prstGeom prst="rect">
            <a:avLst/>
          </a:prstGeom>
          <a:noFill/>
          <a:ln/>
        </p:spPr>
        <p:txBody>
          <a:bodyPr wrap="square" lIns="0" tIns="0" rIns="0" bIns="0" rtlCol="0" anchor="t"/>
          <a:lstStyle/>
          <a:p>
            <a:pPr marL="0" indent="0" algn="l">
              <a:buNone/>
            </a:pPr>
            <a:r>
              <a:rPr lang="en-US" sz="3400" b="1" dirty="0">
                <a:solidFill>
                  <a:srgbClr val="FFFFFF"/>
                </a:solidFill>
              </a:rPr>
              <a:t>Joining takes about three minutes</a:t>
            </a:r>
            <a:endParaRPr lang="en-US" sz="3400" dirty="0"/>
          </a:p>
        </p:txBody>
      </p:sp>
      <p:pic>
        <p:nvPicPr>
          <p:cNvPr id="3" name="Media 0">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822960" y="548640"/>
            <a:ext cx="2781942" cy="5760720"/>
          </a:xfrm>
          <a:prstGeom prst="rect">
            <a:avLst/>
          </a:prstGeom>
        </p:spPr>
      </p:pic>
      <p:sp>
        <p:nvSpPr>
          <p:cNvPr id="5" name="step-1-dot"/>
          <p:cNvSpPr/>
          <p:nvPr/>
        </p:nvSpPr>
        <p:spPr>
          <a:xfrm>
            <a:off x="4480560" y="2011680"/>
            <a:ext cx="457200" cy="457200"/>
          </a:xfrm>
          <a:prstGeom prst="ellipse">
            <a:avLst/>
          </a:prstGeom>
          <a:solidFill>
            <a:srgbClr val="F5B544"/>
          </a:solidFill>
          <a:ln w="12700">
            <a:solidFill>
              <a:srgbClr val="F5B544"/>
            </a:solidFill>
            <a:prstDash val="solid"/>
          </a:ln>
        </p:spPr>
        <p:txBody>
          <a:bodyPr/>
          <a:lstStyle/>
          <a:p>
            <a:endParaRPr lang="en-US"/>
          </a:p>
        </p:txBody>
      </p:sp>
      <p:sp>
        <p:nvSpPr>
          <p:cNvPr id="6" name="Text 2"/>
          <p:cNvSpPr txBox="1"/>
          <p:nvPr/>
        </p:nvSpPr>
        <p:spPr>
          <a:xfrm>
            <a:off x="4480560" y="2011680"/>
            <a:ext cx="457200" cy="457200"/>
          </a:xfrm>
          <a:prstGeom prst="rect">
            <a:avLst/>
          </a:prstGeom>
          <a:noFill/>
          <a:ln/>
        </p:spPr>
        <p:txBody>
          <a:bodyPr wrap="square" lIns="0" tIns="0" rIns="0" bIns="0" rtlCol="0" anchor="ctr"/>
          <a:lstStyle/>
          <a:p>
            <a:pPr marL="0" indent="0" algn="ctr">
              <a:buNone/>
            </a:pPr>
            <a:r>
              <a:rPr lang="en-US" sz="1600" b="1" dirty="0">
                <a:solidFill>
                  <a:srgbClr val="12202B"/>
                </a:solidFill>
              </a:rPr>
              <a:t>1</a:t>
            </a:r>
            <a:endParaRPr lang="en-US" sz="1600" dirty="0"/>
          </a:p>
        </p:txBody>
      </p:sp>
      <p:sp>
        <p:nvSpPr>
          <p:cNvPr id="7" name="Text 3"/>
          <p:cNvSpPr txBox="1"/>
          <p:nvPr/>
        </p:nvSpPr>
        <p:spPr>
          <a:xfrm>
            <a:off x="5166360" y="1956816"/>
            <a:ext cx="6446520" cy="365760"/>
          </a:xfrm>
          <a:prstGeom prst="rect">
            <a:avLst/>
          </a:prstGeom>
          <a:noFill/>
          <a:ln/>
        </p:spPr>
        <p:txBody>
          <a:bodyPr wrap="square" lIns="0" tIns="0" rIns="0" bIns="0" rtlCol="0" anchor="ctr"/>
          <a:lstStyle/>
          <a:p>
            <a:pPr marL="0" indent="0">
              <a:buNone/>
            </a:pPr>
            <a:r>
              <a:rPr lang="en-US" sz="1900" b="1" dirty="0">
                <a:solidFill>
                  <a:srgbClr val="FFFFFF"/>
                </a:solidFill>
              </a:rPr>
              <a:t>Emailed code, no password</a:t>
            </a:r>
            <a:endParaRPr lang="en-US" sz="1900" dirty="0"/>
          </a:p>
        </p:txBody>
      </p:sp>
      <p:sp>
        <p:nvSpPr>
          <p:cNvPr id="8" name="Text 4"/>
          <p:cNvSpPr txBox="1"/>
          <p:nvPr/>
        </p:nvSpPr>
        <p:spPr>
          <a:xfrm>
            <a:off x="5166360" y="2340864"/>
            <a:ext cx="6446520" cy="640080"/>
          </a:xfrm>
          <a:prstGeom prst="rect">
            <a:avLst/>
          </a:prstGeom>
          <a:noFill/>
          <a:ln/>
        </p:spPr>
        <p:txBody>
          <a:bodyPr wrap="square" lIns="0" tIns="0" rIns="0" bIns="0" rtlCol="0" anchor="t"/>
          <a:lstStyle/>
          <a:p>
            <a:pPr marL="0" indent="0">
              <a:buNone/>
            </a:pPr>
            <a:r>
              <a:rPr lang="en-US" sz="1400" dirty="0">
                <a:solidFill>
                  <a:srgbClr val="B9CBD3"/>
                </a:solidFill>
              </a:rPr>
              <a:t>Sign in with a school email and a six-digit code.</a:t>
            </a:r>
            <a:endParaRPr lang="en-US" sz="1400" dirty="0"/>
          </a:p>
        </p:txBody>
      </p:sp>
      <p:sp>
        <p:nvSpPr>
          <p:cNvPr id="9" name="step-2-dot"/>
          <p:cNvSpPr/>
          <p:nvPr/>
        </p:nvSpPr>
        <p:spPr>
          <a:xfrm>
            <a:off x="4480560" y="3063240"/>
            <a:ext cx="457200" cy="457200"/>
          </a:xfrm>
          <a:prstGeom prst="ellipse">
            <a:avLst/>
          </a:prstGeom>
          <a:solidFill>
            <a:srgbClr val="F5B544"/>
          </a:solidFill>
          <a:ln w="12700">
            <a:solidFill>
              <a:srgbClr val="F5B544"/>
            </a:solidFill>
            <a:prstDash val="solid"/>
          </a:ln>
        </p:spPr>
        <p:txBody>
          <a:bodyPr/>
          <a:lstStyle/>
          <a:p>
            <a:endParaRPr lang="en-US"/>
          </a:p>
        </p:txBody>
      </p:sp>
      <p:sp>
        <p:nvSpPr>
          <p:cNvPr id="10" name="Text 6"/>
          <p:cNvSpPr txBox="1"/>
          <p:nvPr/>
        </p:nvSpPr>
        <p:spPr>
          <a:xfrm>
            <a:off x="4480560" y="3063240"/>
            <a:ext cx="457200" cy="457200"/>
          </a:xfrm>
          <a:prstGeom prst="rect">
            <a:avLst/>
          </a:prstGeom>
          <a:noFill/>
          <a:ln/>
        </p:spPr>
        <p:txBody>
          <a:bodyPr wrap="square" lIns="0" tIns="0" rIns="0" bIns="0" rtlCol="0" anchor="ctr"/>
          <a:lstStyle/>
          <a:p>
            <a:pPr marL="0" indent="0" algn="ctr">
              <a:buNone/>
            </a:pPr>
            <a:r>
              <a:rPr lang="en-US" sz="1600" b="1" dirty="0">
                <a:solidFill>
                  <a:srgbClr val="12202B"/>
                </a:solidFill>
              </a:rPr>
              <a:t>2</a:t>
            </a:r>
            <a:endParaRPr lang="en-US" sz="1600" dirty="0"/>
          </a:p>
        </p:txBody>
      </p:sp>
      <p:sp>
        <p:nvSpPr>
          <p:cNvPr id="11" name="Text 7"/>
          <p:cNvSpPr txBox="1"/>
          <p:nvPr/>
        </p:nvSpPr>
        <p:spPr>
          <a:xfrm>
            <a:off x="5166360" y="3008376"/>
            <a:ext cx="6446520" cy="365760"/>
          </a:xfrm>
          <a:prstGeom prst="rect">
            <a:avLst/>
          </a:prstGeom>
          <a:noFill/>
          <a:ln/>
        </p:spPr>
        <p:txBody>
          <a:bodyPr wrap="square" lIns="0" tIns="0" rIns="0" bIns="0" rtlCol="0" anchor="ctr"/>
          <a:lstStyle/>
          <a:p>
            <a:pPr marL="0" indent="0">
              <a:buNone/>
            </a:pPr>
            <a:r>
              <a:rPr lang="en-US" sz="1900" b="1" dirty="0">
                <a:solidFill>
                  <a:srgbClr val="FFFFFF"/>
                </a:solidFill>
              </a:rPr>
              <a:t>Age check, keeps only the year</a:t>
            </a:r>
            <a:endParaRPr lang="en-US" sz="1900" dirty="0"/>
          </a:p>
        </p:txBody>
      </p:sp>
      <p:sp>
        <p:nvSpPr>
          <p:cNvPr id="12" name="Text 8"/>
          <p:cNvSpPr txBox="1"/>
          <p:nvPr/>
        </p:nvSpPr>
        <p:spPr>
          <a:xfrm>
            <a:off x="5166360" y="3392424"/>
            <a:ext cx="6446520" cy="640080"/>
          </a:xfrm>
          <a:prstGeom prst="rect">
            <a:avLst/>
          </a:prstGeom>
          <a:noFill/>
          <a:ln/>
        </p:spPr>
        <p:txBody>
          <a:bodyPr wrap="square" lIns="0" tIns="0" rIns="0" bIns="0" rtlCol="0" anchor="t"/>
          <a:lstStyle/>
          <a:p>
            <a:pPr marL="0" indent="0">
              <a:buNone/>
            </a:pPr>
            <a:r>
              <a:rPr lang="en-US" sz="1400" dirty="0">
                <a:solidFill>
                  <a:srgbClr val="B9CBD3"/>
                </a:solidFill>
              </a:rPr>
              <a:t>The full birth date is checked, then only the year is stored.</a:t>
            </a:r>
            <a:endParaRPr lang="en-US" sz="1400" dirty="0"/>
          </a:p>
        </p:txBody>
      </p:sp>
      <p:sp>
        <p:nvSpPr>
          <p:cNvPr id="13" name="step-3-dot"/>
          <p:cNvSpPr/>
          <p:nvPr/>
        </p:nvSpPr>
        <p:spPr>
          <a:xfrm>
            <a:off x="4480560" y="4114800"/>
            <a:ext cx="457200" cy="457200"/>
          </a:xfrm>
          <a:prstGeom prst="ellipse">
            <a:avLst/>
          </a:prstGeom>
          <a:solidFill>
            <a:srgbClr val="F5B544"/>
          </a:solidFill>
          <a:ln w="12700">
            <a:solidFill>
              <a:srgbClr val="F5B544"/>
            </a:solidFill>
            <a:prstDash val="solid"/>
          </a:ln>
        </p:spPr>
        <p:txBody>
          <a:bodyPr/>
          <a:lstStyle/>
          <a:p>
            <a:endParaRPr lang="en-US"/>
          </a:p>
        </p:txBody>
      </p:sp>
      <p:sp>
        <p:nvSpPr>
          <p:cNvPr id="14" name="Text 10"/>
          <p:cNvSpPr txBox="1"/>
          <p:nvPr/>
        </p:nvSpPr>
        <p:spPr>
          <a:xfrm>
            <a:off x="4480560" y="4114800"/>
            <a:ext cx="457200" cy="457200"/>
          </a:xfrm>
          <a:prstGeom prst="rect">
            <a:avLst/>
          </a:prstGeom>
          <a:noFill/>
          <a:ln/>
        </p:spPr>
        <p:txBody>
          <a:bodyPr wrap="square" lIns="0" tIns="0" rIns="0" bIns="0" rtlCol="0" anchor="ctr"/>
          <a:lstStyle/>
          <a:p>
            <a:pPr marL="0" indent="0" algn="ctr">
              <a:buNone/>
            </a:pPr>
            <a:r>
              <a:rPr lang="en-US" sz="1600" b="1" dirty="0">
                <a:solidFill>
                  <a:srgbClr val="12202B"/>
                </a:solidFill>
              </a:rPr>
              <a:t>3</a:t>
            </a:r>
            <a:endParaRPr lang="en-US" sz="1600" dirty="0"/>
          </a:p>
        </p:txBody>
      </p:sp>
      <p:sp>
        <p:nvSpPr>
          <p:cNvPr id="15" name="Text 11"/>
          <p:cNvSpPr txBox="1"/>
          <p:nvPr/>
        </p:nvSpPr>
        <p:spPr>
          <a:xfrm>
            <a:off x="5166360" y="4059936"/>
            <a:ext cx="6446520" cy="365760"/>
          </a:xfrm>
          <a:prstGeom prst="rect">
            <a:avLst/>
          </a:prstGeom>
          <a:noFill/>
          <a:ln/>
        </p:spPr>
        <p:txBody>
          <a:bodyPr wrap="square" lIns="0" tIns="0" rIns="0" bIns="0" rtlCol="0" anchor="ctr"/>
          <a:lstStyle/>
          <a:p>
            <a:pPr marL="0" indent="0">
              <a:buNone/>
            </a:pPr>
            <a:r>
              <a:rPr lang="en-US" sz="1900" b="1" dirty="0">
                <a:solidFill>
                  <a:srgbClr val="FFFFFF"/>
                </a:solidFill>
              </a:rPr>
              <a:t>The overlap questions</a:t>
            </a:r>
            <a:endParaRPr lang="en-US" sz="1900" dirty="0"/>
          </a:p>
        </p:txBody>
      </p:sp>
      <p:sp>
        <p:nvSpPr>
          <p:cNvPr id="16" name="Text 12"/>
          <p:cNvSpPr txBox="1"/>
          <p:nvPr/>
        </p:nvSpPr>
        <p:spPr>
          <a:xfrm>
            <a:off x="5166360" y="4443984"/>
            <a:ext cx="6446520" cy="640080"/>
          </a:xfrm>
          <a:prstGeom prst="rect">
            <a:avLst/>
          </a:prstGeom>
          <a:noFill/>
          <a:ln/>
        </p:spPr>
        <p:txBody>
          <a:bodyPr wrap="square" lIns="0" tIns="0" rIns="0" bIns="0" rtlCol="0" anchor="t"/>
          <a:lstStyle/>
          <a:p>
            <a:pPr marL="0" indent="0">
              <a:buNone/>
            </a:pPr>
            <a:r>
              <a:rPr lang="en-US" sz="1400" dirty="0">
                <a:solidFill>
                  <a:srgbClr val="B9CBD3"/>
                </a:solidFill>
              </a:rPr>
              <a:t>Courses, clubs, free-time grid, interests, three short prompts.</a:t>
            </a:r>
            <a:endParaRPr lang="en-US" sz="1400" dirty="0"/>
          </a:p>
        </p:txBody>
      </p:sp>
      <p:sp>
        <p:nvSpPr>
          <p:cNvPr id="17" name="step-4-dot"/>
          <p:cNvSpPr/>
          <p:nvPr/>
        </p:nvSpPr>
        <p:spPr>
          <a:xfrm>
            <a:off x="4480560" y="5166360"/>
            <a:ext cx="457200" cy="457200"/>
          </a:xfrm>
          <a:prstGeom prst="ellipse">
            <a:avLst/>
          </a:prstGeom>
          <a:solidFill>
            <a:srgbClr val="F5B544"/>
          </a:solidFill>
          <a:ln w="12700">
            <a:solidFill>
              <a:srgbClr val="F5B544"/>
            </a:solidFill>
            <a:prstDash val="solid"/>
          </a:ln>
        </p:spPr>
        <p:txBody>
          <a:bodyPr/>
          <a:lstStyle/>
          <a:p>
            <a:endParaRPr lang="en-US"/>
          </a:p>
        </p:txBody>
      </p:sp>
      <p:sp>
        <p:nvSpPr>
          <p:cNvPr id="18" name="Text 14"/>
          <p:cNvSpPr txBox="1"/>
          <p:nvPr/>
        </p:nvSpPr>
        <p:spPr>
          <a:xfrm>
            <a:off x="4480560" y="5166360"/>
            <a:ext cx="457200" cy="457200"/>
          </a:xfrm>
          <a:prstGeom prst="rect">
            <a:avLst/>
          </a:prstGeom>
          <a:noFill/>
          <a:ln/>
        </p:spPr>
        <p:txBody>
          <a:bodyPr wrap="square" lIns="0" tIns="0" rIns="0" bIns="0" rtlCol="0" anchor="ctr"/>
          <a:lstStyle/>
          <a:p>
            <a:pPr marL="0" indent="0" algn="ctr">
              <a:buNone/>
            </a:pPr>
            <a:r>
              <a:rPr lang="en-US" sz="1600" b="1" dirty="0">
                <a:solidFill>
                  <a:srgbClr val="12202B"/>
                </a:solidFill>
              </a:rPr>
              <a:t>4</a:t>
            </a:r>
            <a:endParaRPr lang="en-US" sz="1600" dirty="0"/>
          </a:p>
        </p:txBody>
      </p:sp>
      <p:sp>
        <p:nvSpPr>
          <p:cNvPr id="19" name="Text 15"/>
          <p:cNvSpPr txBox="1"/>
          <p:nvPr/>
        </p:nvSpPr>
        <p:spPr>
          <a:xfrm>
            <a:off x="5166360" y="5111496"/>
            <a:ext cx="6446520" cy="365760"/>
          </a:xfrm>
          <a:prstGeom prst="rect">
            <a:avLst/>
          </a:prstGeom>
          <a:noFill/>
          <a:ln/>
        </p:spPr>
        <p:txBody>
          <a:bodyPr wrap="square" lIns="0" tIns="0" rIns="0" bIns="0" rtlCol="0" anchor="ctr"/>
          <a:lstStyle/>
          <a:p>
            <a:pPr marL="0" indent="0">
              <a:buNone/>
            </a:pPr>
            <a:r>
              <a:rPr lang="en-US" sz="1900" b="1" dirty="0">
                <a:solidFill>
                  <a:srgbClr val="FFFFFF"/>
                </a:solidFill>
              </a:rPr>
              <a:t>Photos and a selfie, checked by a human</a:t>
            </a:r>
            <a:endParaRPr lang="en-US" sz="1900" dirty="0"/>
          </a:p>
        </p:txBody>
      </p:sp>
      <p:sp>
        <p:nvSpPr>
          <p:cNvPr id="20" name="Text 16"/>
          <p:cNvSpPr txBox="1"/>
          <p:nvPr/>
        </p:nvSpPr>
        <p:spPr>
          <a:xfrm>
            <a:off x="5166360" y="5495544"/>
            <a:ext cx="6446520" cy="640080"/>
          </a:xfrm>
          <a:prstGeom prst="rect">
            <a:avLst/>
          </a:prstGeom>
          <a:noFill/>
          <a:ln/>
        </p:spPr>
        <p:txBody>
          <a:bodyPr wrap="square" lIns="0" tIns="0" rIns="0" bIns="0" rtlCol="0" anchor="t"/>
          <a:lstStyle/>
          <a:p>
            <a:pPr marL="0" indent="0">
              <a:buNone/>
            </a:pPr>
            <a:r>
              <a:rPr lang="en-US" sz="1400" dirty="0">
                <a:solidFill>
                  <a:srgbClr val="B9CBD3"/>
                </a:solidFill>
              </a:rPr>
              <a:t>A moderator approves; the selfie is then deleted.</a:t>
            </a:r>
            <a:endParaRPr lang="en-US" sz="1400" dirty="0"/>
          </a:p>
        </p:txBody>
      </p:sp>
      <p:sp>
        <p:nvSpPr>
          <p:cNvPr id="21" name="Text 17"/>
          <p:cNvSpPr txBox="1"/>
          <p:nvPr/>
        </p:nvSpPr>
        <p:spPr>
          <a:xfrm>
            <a:off x="548640" y="6355080"/>
            <a:ext cx="3291840" cy="365760"/>
          </a:xfrm>
          <a:prstGeom prst="rect">
            <a:avLst/>
          </a:prstGeom>
          <a:noFill/>
          <a:ln/>
        </p:spPr>
        <p:txBody>
          <a:bodyPr wrap="square" lIns="0" tIns="0" rIns="0" bIns="0" rtlCol="0" anchor="ctr"/>
          <a:lstStyle/>
          <a:p>
            <a:pPr marL="0" indent="0" algn="ctr">
              <a:buNone/>
            </a:pPr>
            <a:r>
              <a:rPr lang="en-US" sz="1200" dirty="0">
                <a:solidFill>
                  <a:srgbClr val="B9CBD3"/>
                </a:solidFill>
              </a:rPr>
              <a:t>Screen recording of the real app · sped up 1.5×</a:t>
            </a:r>
            <a:endParaRPr lang="en-US" sz="1200" dirty="0"/>
          </a:p>
        </p:txBody>
      </p:sp>
      <p:sp>
        <p:nvSpPr>
          <p:cNvPr id="25" name="Slide Number Placeholder 0"/>
          <p:cNvSpPr>
            <a:spLocks noGrp="1"/>
          </p:cNvSpPr>
          <p:nvPr>
            <p:ph type="sldNum" sz="quarter" idx="4294967295"/>
          </p:nvPr>
        </p:nvSpPr>
        <p:spPr>
          <a:xfrm>
            <a:off x="11155680" y="647395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FA0A9"/>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400" b="1" dirty="0">
                <a:solidFill>
                  <a:schemeClr val="tx1"/>
                </a:solidFill>
              </a:rPr>
              <a:t>Every question feeds one part of the score</a:t>
            </a:r>
            <a:endParaRPr lang="en-US" sz="3400" dirty="0"/>
          </a:p>
        </p:txBody>
      </p:sp>
      <p:pic>
        <p:nvPicPr>
          <p:cNvPr id="4" name="Image 0" descr="wiz-courses-picked"/>
          <p:cNvPicPr>
            <a:picLocks noChangeAspect="1"/>
          </p:cNvPicPr>
          <p:nvPr/>
        </p:nvPicPr>
        <p:blipFill>
          <a:blip r:embed="rId3"/>
          <a:stretch>
            <a:fillRect/>
          </a:stretch>
        </p:blipFill>
        <p:spPr>
          <a:xfrm>
            <a:off x="868680" y="1371600"/>
            <a:ext cx="1809881" cy="3749040"/>
          </a:xfrm>
          <a:prstGeom prst="rect">
            <a:avLst/>
          </a:prstGeom>
        </p:spPr>
      </p:pic>
      <p:sp>
        <p:nvSpPr>
          <p:cNvPr id="5" name="Text 1"/>
          <p:cNvSpPr txBox="1"/>
          <p:nvPr/>
        </p:nvSpPr>
        <p:spPr>
          <a:xfrm>
            <a:off x="685800" y="5193792"/>
            <a:ext cx="2651760" cy="329184"/>
          </a:xfrm>
          <a:prstGeom prst="rect">
            <a:avLst/>
          </a:prstGeom>
          <a:noFill/>
          <a:ln/>
        </p:spPr>
        <p:txBody>
          <a:bodyPr wrap="square" lIns="0" tIns="0" rIns="0" bIns="0" rtlCol="0" anchor="ctr"/>
          <a:lstStyle/>
          <a:p>
            <a:pPr marL="0" indent="0" algn="ctr">
              <a:buNone/>
            </a:pPr>
            <a:r>
              <a:rPr lang="en-US" sz="1800" b="1" dirty="0">
                <a:solidFill>
                  <a:schemeClr val="tx1"/>
                </a:solidFill>
              </a:rPr>
              <a:t>Courses</a:t>
            </a:r>
            <a:endParaRPr lang="en-US" sz="1800" dirty="0"/>
          </a:p>
        </p:txBody>
      </p:sp>
      <p:sp>
        <p:nvSpPr>
          <p:cNvPr id="6" name="Text 2"/>
          <p:cNvSpPr txBox="1"/>
          <p:nvPr/>
        </p:nvSpPr>
        <p:spPr>
          <a:xfrm>
            <a:off x="685800" y="5532120"/>
            <a:ext cx="2651760" cy="320040"/>
          </a:xfrm>
          <a:prstGeom prst="rect">
            <a:avLst/>
          </a:prstGeom>
          <a:noFill/>
          <a:ln/>
        </p:spPr>
        <p:txBody>
          <a:bodyPr wrap="square" lIns="0" tIns="0" rIns="0" bIns="0" rtlCol="0" anchor="ctr"/>
          <a:lstStyle/>
          <a:p>
            <a:pPr marL="0" indent="0" algn="ctr">
              <a:buNone/>
            </a:pPr>
            <a:r>
              <a:rPr lang="en-US" sz="1400" b="1" dirty="0">
                <a:solidFill>
                  <a:srgbClr val="0F766E"/>
                </a:solidFill>
              </a:rPr>
              <a:t>Same course section → term C</a:t>
            </a:r>
            <a:endParaRPr lang="en-US" sz="1400" dirty="0"/>
          </a:p>
        </p:txBody>
      </p:sp>
      <p:pic>
        <p:nvPicPr>
          <p:cNvPr id="7" name="Image 1" descr="wiz-freetime"/>
          <p:cNvPicPr>
            <a:picLocks noChangeAspect="1"/>
          </p:cNvPicPr>
          <p:nvPr/>
        </p:nvPicPr>
        <p:blipFill>
          <a:blip r:embed="rId4"/>
          <a:stretch>
            <a:fillRect/>
          </a:stretch>
        </p:blipFill>
        <p:spPr>
          <a:xfrm>
            <a:off x="3703320" y="1371600"/>
            <a:ext cx="1809881" cy="3749040"/>
          </a:xfrm>
          <a:prstGeom prst="rect">
            <a:avLst/>
          </a:prstGeom>
        </p:spPr>
      </p:pic>
      <p:sp>
        <p:nvSpPr>
          <p:cNvPr id="8" name="Text 3"/>
          <p:cNvSpPr txBox="1"/>
          <p:nvPr/>
        </p:nvSpPr>
        <p:spPr>
          <a:xfrm>
            <a:off x="3520440" y="5193792"/>
            <a:ext cx="2651760" cy="329184"/>
          </a:xfrm>
          <a:prstGeom prst="rect">
            <a:avLst/>
          </a:prstGeom>
          <a:noFill/>
          <a:ln/>
        </p:spPr>
        <p:txBody>
          <a:bodyPr wrap="square" lIns="0" tIns="0" rIns="0" bIns="0" rtlCol="0" anchor="ctr"/>
          <a:lstStyle/>
          <a:p>
            <a:pPr marL="0" indent="0" algn="ctr">
              <a:buNone/>
            </a:pPr>
            <a:r>
              <a:rPr lang="en-US" sz="1800" b="1" dirty="0">
                <a:solidFill>
                  <a:schemeClr val="tx1"/>
                </a:solidFill>
              </a:rPr>
              <a:t>Free time</a:t>
            </a:r>
            <a:endParaRPr lang="en-US" sz="1800" dirty="0"/>
          </a:p>
        </p:txBody>
      </p:sp>
      <p:sp>
        <p:nvSpPr>
          <p:cNvPr id="9" name="Text 4"/>
          <p:cNvSpPr txBox="1"/>
          <p:nvPr/>
        </p:nvSpPr>
        <p:spPr>
          <a:xfrm>
            <a:off x="3520440" y="5532120"/>
            <a:ext cx="2651760" cy="320040"/>
          </a:xfrm>
          <a:prstGeom prst="rect">
            <a:avLst/>
          </a:prstGeom>
          <a:noFill/>
          <a:ln/>
        </p:spPr>
        <p:txBody>
          <a:bodyPr wrap="square" lIns="0" tIns="0" rIns="0" bIns="0" rtlCol="0" anchor="ctr"/>
          <a:lstStyle/>
          <a:p>
            <a:pPr marL="0" indent="0" algn="ctr">
              <a:buNone/>
            </a:pPr>
            <a:r>
              <a:rPr lang="en-US" sz="1400" b="1" dirty="0">
                <a:solidFill>
                  <a:srgbClr val="0F766E"/>
                </a:solidFill>
              </a:rPr>
              <a:t>Same free hours → term T</a:t>
            </a:r>
            <a:endParaRPr lang="en-US" sz="1400" dirty="0"/>
          </a:p>
        </p:txBody>
      </p:sp>
      <p:pic>
        <p:nvPicPr>
          <p:cNvPr id="10" name="Image 2" descr="wiz-interests"/>
          <p:cNvPicPr>
            <a:picLocks noChangeAspect="1"/>
          </p:cNvPicPr>
          <p:nvPr/>
        </p:nvPicPr>
        <p:blipFill>
          <a:blip r:embed="rId5"/>
          <a:stretch>
            <a:fillRect/>
          </a:stretch>
        </p:blipFill>
        <p:spPr>
          <a:xfrm>
            <a:off x="6537960" y="1371600"/>
            <a:ext cx="1809881" cy="3749040"/>
          </a:xfrm>
          <a:prstGeom prst="rect">
            <a:avLst/>
          </a:prstGeom>
        </p:spPr>
      </p:pic>
      <p:sp>
        <p:nvSpPr>
          <p:cNvPr id="11" name="Text 5"/>
          <p:cNvSpPr txBox="1"/>
          <p:nvPr/>
        </p:nvSpPr>
        <p:spPr>
          <a:xfrm>
            <a:off x="6355080" y="5193792"/>
            <a:ext cx="2651760" cy="329184"/>
          </a:xfrm>
          <a:prstGeom prst="rect">
            <a:avLst/>
          </a:prstGeom>
          <a:noFill/>
          <a:ln/>
        </p:spPr>
        <p:txBody>
          <a:bodyPr wrap="square" lIns="0" tIns="0" rIns="0" bIns="0" rtlCol="0" anchor="ctr"/>
          <a:lstStyle/>
          <a:p>
            <a:pPr marL="0" indent="0" algn="ctr">
              <a:buNone/>
            </a:pPr>
            <a:r>
              <a:rPr lang="en-US" sz="1800" b="1" dirty="0">
                <a:solidFill>
                  <a:schemeClr val="tx1"/>
                </a:solidFill>
              </a:rPr>
              <a:t>Interests</a:t>
            </a:r>
            <a:endParaRPr lang="en-US" sz="1800" dirty="0"/>
          </a:p>
        </p:txBody>
      </p:sp>
      <p:sp>
        <p:nvSpPr>
          <p:cNvPr id="12" name="Text 6"/>
          <p:cNvSpPr txBox="1"/>
          <p:nvPr/>
        </p:nvSpPr>
        <p:spPr>
          <a:xfrm>
            <a:off x="6355080" y="5532120"/>
            <a:ext cx="2651760" cy="320040"/>
          </a:xfrm>
          <a:prstGeom prst="rect">
            <a:avLst/>
          </a:prstGeom>
          <a:noFill/>
          <a:ln/>
        </p:spPr>
        <p:txBody>
          <a:bodyPr wrap="square" lIns="0" tIns="0" rIns="0" bIns="0" rtlCol="0" anchor="ctr"/>
          <a:lstStyle/>
          <a:p>
            <a:pPr marL="0" indent="0" algn="ctr">
              <a:buNone/>
            </a:pPr>
            <a:r>
              <a:rPr lang="en-US" sz="1400" b="1" dirty="0">
                <a:solidFill>
                  <a:srgbClr val="0F766E"/>
                </a:solidFill>
              </a:rPr>
              <a:t>Shared interests → term I</a:t>
            </a:r>
            <a:endParaRPr lang="en-US" sz="1400" dirty="0"/>
          </a:p>
        </p:txBody>
      </p:sp>
      <p:pic>
        <p:nvPicPr>
          <p:cNvPr id="13" name="Image 3" descr="wiz-values"/>
          <p:cNvPicPr>
            <a:picLocks noChangeAspect="1"/>
          </p:cNvPicPr>
          <p:nvPr/>
        </p:nvPicPr>
        <p:blipFill>
          <a:blip r:embed="rId6"/>
          <a:stretch>
            <a:fillRect/>
          </a:stretch>
        </p:blipFill>
        <p:spPr>
          <a:xfrm>
            <a:off x="9372600" y="1371600"/>
            <a:ext cx="1809881" cy="3749040"/>
          </a:xfrm>
          <a:prstGeom prst="rect">
            <a:avLst/>
          </a:prstGeom>
        </p:spPr>
      </p:pic>
      <p:sp>
        <p:nvSpPr>
          <p:cNvPr id="14" name="Text 7"/>
          <p:cNvSpPr txBox="1"/>
          <p:nvPr/>
        </p:nvSpPr>
        <p:spPr>
          <a:xfrm>
            <a:off x="9189720" y="5193792"/>
            <a:ext cx="2651760" cy="329184"/>
          </a:xfrm>
          <a:prstGeom prst="rect">
            <a:avLst/>
          </a:prstGeom>
          <a:noFill/>
          <a:ln/>
        </p:spPr>
        <p:txBody>
          <a:bodyPr wrap="square" lIns="0" tIns="0" rIns="0" bIns="0" rtlCol="0" anchor="ctr"/>
          <a:lstStyle/>
          <a:p>
            <a:pPr marL="0" indent="0" algn="ctr">
              <a:buNone/>
            </a:pPr>
            <a:r>
              <a:rPr lang="en-US" sz="1800" b="1" dirty="0">
                <a:solidFill>
                  <a:schemeClr val="tx1"/>
                </a:solidFill>
              </a:rPr>
              <a:t>Values quiz</a:t>
            </a:r>
            <a:endParaRPr lang="en-US" sz="1800" dirty="0"/>
          </a:p>
        </p:txBody>
      </p:sp>
      <p:sp>
        <p:nvSpPr>
          <p:cNvPr id="15" name="Text 8"/>
          <p:cNvSpPr txBox="1"/>
          <p:nvPr/>
        </p:nvSpPr>
        <p:spPr>
          <a:xfrm>
            <a:off x="9189720" y="5532120"/>
            <a:ext cx="2651760" cy="320040"/>
          </a:xfrm>
          <a:prstGeom prst="rect">
            <a:avLst/>
          </a:prstGeom>
          <a:noFill/>
          <a:ln/>
        </p:spPr>
        <p:txBody>
          <a:bodyPr wrap="square" lIns="0" tIns="0" rIns="0" bIns="0" rtlCol="0" anchor="ctr"/>
          <a:lstStyle/>
          <a:p>
            <a:pPr marL="0" indent="0" algn="ctr">
              <a:buNone/>
            </a:pPr>
            <a:r>
              <a:rPr lang="en-US" sz="1400" b="1" dirty="0">
                <a:solidFill>
                  <a:srgbClr val="0F766E"/>
                </a:solidFill>
              </a:rPr>
              <a:t>Similar answers → term V</a:t>
            </a:r>
            <a:endParaRPr lang="en-US" sz="1400" dirty="0"/>
          </a:p>
        </p:txBody>
      </p:sp>
      <p:sp>
        <p:nvSpPr>
          <p:cNvPr id="16" name="Text 9"/>
          <p:cNvSpPr txBox="1"/>
          <p:nvPr/>
        </p:nvSpPr>
        <p:spPr>
          <a:xfrm>
            <a:off x="548640" y="5943600"/>
            <a:ext cx="11064240" cy="365760"/>
          </a:xfrm>
          <a:prstGeom prst="rect">
            <a:avLst/>
          </a:prstGeom>
          <a:noFill/>
          <a:ln/>
        </p:spPr>
        <p:txBody>
          <a:bodyPr wrap="square" lIns="0" tIns="0" rIns="0" bIns="0" rtlCol="0" anchor="ctr"/>
          <a:lstStyle/>
          <a:p>
            <a:pPr marL="0" indent="0" algn="ctr">
              <a:buNone/>
            </a:pPr>
            <a:r>
              <a:rPr lang="en-US" sz="1400" dirty="0">
                <a:solidFill>
                  <a:srgbClr val="4A5A66"/>
                </a:solidFill>
              </a:rPr>
              <a:t>Clubs feed term K. Nothing here asks about looks.</a:t>
            </a:r>
            <a:endParaRPr lang="en-US" sz="1400" dirty="0"/>
          </a:p>
        </p:txBody>
      </p:sp>
      <p:sp>
        <p:nvSpPr>
          <p:cNvPr id="25" name="Slide Number Placeholder 0"/>
          <p:cNvSpPr>
            <a:spLocks noGrp="1"/>
          </p:cNvSpPr>
          <p:nvPr>
            <p:ph type="sldNum" sz="quarter" idx="4294967295"/>
          </p:nvPr>
        </p:nvSpPr>
        <p:spPr>
          <a:xfrm>
            <a:off x="11155680" y="647395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480560" y="548640"/>
            <a:ext cx="7223760" cy="1371600"/>
          </a:xfrm>
          <a:prstGeom prst="rect">
            <a:avLst/>
          </a:prstGeom>
          <a:noFill/>
          <a:ln/>
        </p:spPr>
        <p:txBody>
          <a:bodyPr wrap="square" lIns="0" tIns="0" rIns="0" bIns="0" rtlCol="0" anchor="t"/>
          <a:lstStyle/>
          <a:p>
            <a:pPr marL="0" indent="0" algn="l">
              <a:buNone/>
            </a:pPr>
            <a:r>
              <a:rPr lang="en-US" sz="3400" b="1" dirty="0">
                <a:solidFill>
                  <a:srgbClr val="FFFFFF"/>
                </a:solidFill>
              </a:rPr>
              <a:t>Six people a day, each one explained</a:t>
            </a:r>
            <a:endParaRPr lang="en-US" sz="3400" dirty="0"/>
          </a:p>
        </p:txBody>
      </p:sp>
      <p:pic>
        <p:nvPicPr>
          <p:cNvPr id="3" name="Media 0">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822960" y="548640"/>
            <a:ext cx="2781942" cy="5760720"/>
          </a:xfrm>
          <a:prstGeom prst="rect">
            <a:avLst/>
          </a:prstGeom>
        </p:spPr>
      </p:pic>
      <p:sp>
        <p:nvSpPr>
          <p:cNvPr id="5" name="step-1-dot"/>
          <p:cNvSpPr/>
          <p:nvPr/>
        </p:nvSpPr>
        <p:spPr>
          <a:xfrm>
            <a:off x="4480560" y="2011680"/>
            <a:ext cx="457200" cy="457200"/>
          </a:xfrm>
          <a:prstGeom prst="ellipse">
            <a:avLst/>
          </a:prstGeom>
          <a:solidFill>
            <a:srgbClr val="F5B544"/>
          </a:solidFill>
          <a:ln w="12700">
            <a:solidFill>
              <a:srgbClr val="F5B544"/>
            </a:solidFill>
            <a:prstDash val="solid"/>
          </a:ln>
        </p:spPr>
        <p:txBody>
          <a:bodyPr/>
          <a:lstStyle/>
          <a:p>
            <a:endParaRPr lang="en-US"/>
          </a:p>
        </p:txBody>
      </p:sp>
      <p:sp>
        <p:nvSpPr>
          <p:cNvPr id="6" name="Text 2"/>
          <p:cNvSpPr txBox="1"/>
          <p:nvPr/>
        </p:nvSpPr>
        <p:spPr>
          <a:xfrm>
            <a:off x="4480560" y="2011680"/>
            <a:ext cx="457200" cy="457200"/>
          </a:xfrm>
          <a:prstGeom prst="rect">
            <a:avLst/>
          </a:prstGeom>
          <a:noFill/>
          <a:ln/>
        </p:spPr>
        <p:txBody>
          <a:bodyPr wrap="square" lIns="0" tIns="0" rIns="0" bIns="0" rtlCol="0" anchor="ctr"/>
          <a:lstStyle/>
          <a:p>
            <a:pPr marL="0" indent="0" algn="ctr">
              <a:buNone/>
            </a:pPr>
            <a:r>
              <a:rPr lang="en-US" sz="1600" b="1" dirty="0">
                <a:solidFill>
                  <a:srgbClr val="12202B"/>
                </a:solidFill>
              </a:rPr>
              <a:t>1</a:t>
            </a:r>
            <a:endParaRPr lang="en-US" sz="1600" dirty="0"/>
          </a:p>
        </p:txBody>
      </p:sp>
      <p:sp>
        <p:nvSpPr>
          <p:cNvPr id="7" name="Text 3"/>
          <p:cNvSpPr txBox="1"/>
          <p:nvPr/>
        </p:nvSpPr>
        <p:spPr>
          <a:xfrm>
            <a:off x="5166360" y="1956816"/>
            <a:ext cx="6446520" cy="365760"/>
          </a:xfrm>
          <a:prstGeom prst="rect">
            <a:avLst/>
          </a:prstGeom>
          <a:noFill/>
          <a:ln/>
        </p:spPr>
        <p:txBody>
          <a:bodyPr wrap="square" lIns="0" tIns="0" rIns="0" bIns="0" rtlCol="0" anchor="ctr"/>
          <a:lstStyle/>
          <a:p>
            <a:pPr marL="0" indent="0">
              <a:buNone/>
            </a:pPr>
            <a:r>
              <a:rPr lang="en-US" sz="1900" b="1" dirty="0">
                <a:solidFill>
                  <a:srgbClr val="FFFFFF"/>
                </a:solidFill>
              </a:rPr>
              <a:t>Swipe right to wave, left to pass</a:t>
            </a:r>
            <a:endParaRPr lang="en-US" sz="1900" dirty="0"/>
          </a:p>
        </p:txBody>
      </p:sp>
      <p:sp>
        <p:nvSpPr>
          <p:cNvPr id="8" name="Text 4"/>
          <p:cNvSpPr txBox="1"/>
          <p:nvPr/>
        </p:nvSpPr>
        <p:spPr>
          <a:xfrm>
            <a:off x="5166360" y="2340864"/>
            <a:ext cx="6446520" cy="640080"/>
          </a:xfrm>
          <a:prstGeom prst="rect">
            <a:avLst/>
          </a:prstGeom>
          <a:noFill/>
          <a:ln/>
        </p:spPr>
        <p:txBody>
          <a:bodyPr wrap="square" lIns="0" tIns="0" rIns="0" bIns="0" rtlCol="0" anchor="t"/>
          <a:lstStyle/>
          <a:p>
            <a:pPr marL="0" indent="0">
              <a:buNone/>
            </a:pPr>
            <a:r>
              <a:rPr lang="en-US" sz="1400" dirty="0">
                <a:solidFill>
                  <a:srgbClr val="B9CBD3"/>
                </a:solidFill>
              </a:rPr>
              <a:t>Or use the buttons. A decided card folds away.</a:t>
            </a:r>
            <a:endParaRPr lang="en-US" sz="1400" dirty="0"/>
          </a:p>
        </p:txBody>
      </p:sp>
      <p:sp>
        <p:nvSpPr>
          <p:cNvPr id="9" name="step-2-dot"/>
          <p:cNvSpPr/>
          <p:nvPr/>
        </p:nvSpPr>
        <p:spPr>
          <a:xfrm>
            <a:off x="4480560" y="3063240"/>
            <a:ext cx="457200" cy="457200"/>
          </a:xfrm>
          <a:prstGeom prst="ellipse">
            <a:avLst/>
          </a:prstGeom>
          <a:solidFill>
            <a:srgbClr val="F5B544"/>
          </a:solidFill>
          <a:ln w="12700">
            <a:solidFill>
              <a:srgbClr val="F5B544"/>
            </a:solidFill>
            <a:prstDash val="solid"/>
          </a:ln>
        </p:spPr>
        <p:txBody>
          <a:bodyPr/>
          <a:lstStyle/>
          <a:p>
            <a:endParaRPr lang="en-US"/>
          </a:p>
        </p:txBody>
      </p:sp>
      <p:sp>
        <p:nvSpPr>
          <p:cNvPr id="10" name="Text 6"/>
          <p:cNvSpPr txBox="1"/>
          <p:nvPr/>
        </p:nvSpPr>
        <p:spPr>
          <a:xfrm>
            <a:off x="4480560" y="3063240"/>
            <a:ext cx="457200" cy="457200"/>
          </a:xfrm>
          <a:prstGeom prst="rect">
            <a:avLst/>
          </a:prstGeom>
          <a:noFill/>
          <a:ln/>
        </p:spPr>
        <p:txBody>
          <a:bodyPr wrap="square" lIns="0" tIns="0" rIns="0" bIns="0" rtlCol="0" anchor="ctr"/>
          <a:lstStyle/>
          <a:p>
            <a:pPr marL="0" indent="0" algn="ctr">
              <a:buNone/>
            </a:pPr>
            <a:r>
              <a:rPr lang="en-US" sz="1600" b="1" dirty="0">
                <a:solidFill>
                  <a:srgbClr val="12202B"/>
                </a:solidFill>
              </a:rPr>
              <a:t>2</a:t>
            </a:r>
            <a:endParaRPr lang="en-US" sz="1600" dirty="0"/>
          </a:p>
        </p:txBody>
      </p:sp>
      <p:sp>
        <p:nvSpPr>
          <p:cNvPr id="11" name="Text 7"/>
          <p:cNvSpPr txBox="1"/>
          <p:nvPr/>
        </p:nvSpPr>
        <p:spPr>
          <a:xfrm>
            <a:off x="5166360" y="3008376"/>
            <a:ext cx="6446520" cy="365760"/>
          </a:xfrm>
          <a:prstGeom prst="rect">
            <a:avLst/>
          </a:prstGeom>
          <a:noFill/>
          <a:ln/>
        </p:spPr>
        <p:txBody>
          <a:bodyPr wrap="square" lIns="0" tIns="0" rIns="0" bIns="0" rtlCol="0" anchor="ctr"/>
          <a:lstStyle/>
          <a:p>
            <a:pPr marL="0" indent="0">
              <a:buNone/>
            </a:pPr>
            <a:r>
              <a:rPr lang="en-US" sz="1900" b="1" dirty="0">
                <a:solidFill>
                  <a:srgbClr val="FFFFFF"/>
                </a:solidFill>
              </a:rPr>
              <a:t>"Why you overlap" chips</a:t>
            </a:r>
            <a:endParaRPr lang="en-US" sz="1900" dirty="0"/>
          </a:p>
        </p:txBody>
      </p:sp>
      <p:sp>
        <p:nvSpPr>
          <p:cNvPr id="12" name="Text 8"/>
          <p:cNvSpPr txBox="1"/>
          <p:nvPr/>
        </p:nvSpPr>
        <p:spPr>
          <a:xfrm>
            <a:off x="5166360" y="3392424"/>
            <a:ext cx="6446520" cy="640080"/>
          </a:xfrm>
          <a:prstGeom prst="rect">
            <a:avLst/>
          </a:prstGeom>
          <a:noFill/>
          <a:ln/>
        </p:spPr>
        <p:txBody>
          <a:bodyPr wrap="square" lIns="0" tIns="0" rIns="0" bIns="0" rtlCol="0" anchor="t"/>
          <a:lstStyle/>
          <a:p>
            <a:pPr marL="0" indent="0">
              <a:buNone/>
            </a:pPr>
            <a:r>
              <a:rPr lang="en-US" sz="1400" dirty="0">
                <a:solidFill>
                  <a:srgbClr val="B9CBD3"/>
                </a:solidFill>
              </a:rPr>
              <a:t>Same section, shared club, free at the same time: every reason is shown.</a:t>
            </a:r>
            <a:endParaRPr lang="en-US" sz="1400" dirty="0"/>
          </a:p>
        </p:txBody>
      </p:sp>
      <p:sp>
        <p:nvSpPr>
          <p:cNvPr id="13" name="step-3-dot"/>
          <p:cNvSpPr/>
          <p:nvPr/>
        </p:nvSpPr>
        <p:spPr>
          <a:xfrm>
            <a:off x="4480560" y="4114800"/>
            <a:ext cx="457200" cy="457200"/>
          </a:xfrm>
          <a:prstGeom prst="ellipse">
            <a:avLst/>
          </a:prstGeom>
          <a:solidFill>
            <a:srgbClr val="F5B544"/>
          </a:solidFill>
          <a:ln w="12700">
            <a:solidFill>
              <a:srgbClr val="F5B544"/>
            </a:solidFill>
            <a:prstDash val="solid"/>
          </a:ln>
        </p:spPr>
        <p:txBody>
          <a:bodyPr/>
          <a:lstStyle/>
          <a:p>
            <a:endParaRPr lang="en-US"/>
          </a:p>
        </p:txBody>
      </p:sp>
      <p:sp>
        <p:nvSpPr>
          <p:cNvPr id="14" name="Text 10"/>
          <p:cNvSpPr txBox="1"/>
          <p:nvPr/>
        </p:nvSpPr>
        <p:spPr>
          <a:xfrm>
            <a:off x="4480560" y="4114800"/>
            <a:ext cx="457200" cy="457200"/>
          </a:xfrm>
          <a:prstGeom prst="rect">
            <a:avLst/>
          </a:prstGeom>
          <a:noFill/>
          <a:ln/>
        </p:spPr>
        <p:txBody>
          <a:bodyPr wrap="square" lIns="0" tIns="0" rIns="0" bIns="0" rtlCol="0" anchor="ctr"/>
          <a:lstStyle/>
          <a:p>
            <a:pPr marL="0" indent="0" algn="ctr">
              <a:buNone/>
            </a:pPr>
            <a:r>
              <a:rPr lang="en-US" sz="1600" b="1" dirty="0">
                <a:solidFill>
                  <a:srgbClr val="12202B"/>
                </a:solidFill>
              </a:rPr>
              <a:t>3</a:t>
            </a:r>
            <a:endParaRPr lang="en-US" sz="1600" dirty="0"/>
          </a:p>
        </p:txBody>
      </p:sp>
      <p:sp>
        <p:nvSpPr>
          <p:cNvPr id="15" name="Text 11"/>
          <p:cNvSpPr txBox="1"/>
          <p:nvPr/>
        </p:nvSpPr>
        <p:spPr>
          <a:xfrm>
            <a:off x="5166360" y="4059936"/>
            <a:ext cx="6446520" cy="365760"/>
          </a:xfrm>
          <a:prstGeom prst="rect">
            <a:avLst/>
          </a:prstGeom>
          <a:noFill/>
          <a:ln/>
        </p:spPr>
        <p:txBody>
          <a:bodyPr wrap="square" lIns="0" tIns="0" rIns="0" bIns="0" rtlCol="0" anchor="ctr"/>
          <a:lstStyle/>
          <a:p>
            <a:pPr marL="0" indent="0">
              <a:buNone/>
            </a:pPr>
            <a:r>
              <a:rPr lang="en-US" sz="1900" b="1" dirty="0">
                <a:solidFill>
                  <a:srgbClr val="FFFFFF"/>
                </a:solidFill>
              </a:rPr>
              <a:t>React to a photo or prompt</a:t>
            </a:r>
            <a:endParaRPr lang="en-US" sz="1900" dirty="0"/>
          </a:p>
        </p:txBody>
      </p:sp>
      <p:sp>
        <p:nvSpPr>
          <p:cNvPr id="16" name="Text 12"/>
          <p:cNvSpPr txBox="1"/>
          <p:nvPr/>
        </p:nvSpPr>
        <p:spPr>
          <a:xfrm>
            <a:off x="5166360" y="4443984"/>
            <a:ext cx="6446520" cy="640080"/>
          </a:xfrm>
          <a:prstGeom prst="rect">
            <a:avLst/>
          </a:prstGeom>
          <a:noFill/>
          <a:ln/>
        </p:spPr>
        <p:txBody>
          <a:bodyPr wrap="square" lIns="0" tIns="0" rIns="0" bIns="0" rtlCol="0" anchor="t"/>
          <a:lstStyle/>
          <a:p>
            <a:pPr marL="0" indent="0">
              <a:buNone/>
            </a:pPr>
            <a:r>
              <a:rPr lang="en-US" sz="1400" dirty="0">
                <a:solidFill>
                  <a:srgbClr val="B9CBD3"/>
                </a:solidFill>
              </a:rPr>
              <a:t>A note makes a better opener than a bare like.</a:t>
            </a:r>
            <a:endParaRPr lang="en-US" sz="1400" dirty="0"/>
          </a:p>
        </p:txBody>
      </p:sp>
      <p:sp>
        <p:nvSpPr>
          <p:cNvPr id="17" name="step-4-dot"/>
          <p:cNvSpPr/>
          <p:nvPr/>
        </p:nvSpPr>
        <p:spPr>
          <a:xfrm>
            <a:off x="4480560" y="5166360"/>
            <a:ext cx="457200" cy="457200"/>
          </a:xfrm>
          <a:prstGeom prst="ellipse">
            <a:avLst/>
          </a:prstGeom>
          <a:solidFill>
            <a:srgbClr val="F5B544"/>
          </a:solidFill>
          <a:ln w="12700">
            <a:solidFill>
              <a:srgbClr val="F5B544"/>
            </a:solidFill>
            <a:prstDash val="solid"/>
          </a:ln>
        </p:spPr>
        <p:txBody>
          <a:bodyPr/>
          <a:lstStyle/>
          <a:p>
            <a:endParaRPr lang="en-US"/>
          </a:p>
        </p:txBody>
      </p:sp>
      <p:sp>
        <p:nvSpPr>
          <p:cNvPr id="18" name="Text 14"/>
          <p:cNvSpPr txBox="1"/>
          <p:nvPr/>
        </p:nvSpPr>
        <p:spPr>
          <a:xfrm>
            <a:off x="4480560" y="5166360"/>
            <a:ext cx="457200" cy="457200"/>
          </a:xfrm>
          <a:prstGeom prst="rect">
            <a:avLst/>
          </a:prstGeom>
          <a:noFill/>
          <a:ln/>
        </p:spPr>
        <p:txBody>
          <a:bodyPr wrap="square" lIns="0" tIns="0" rIns="0" bIns="0" rtlCol="0" anchor="ctr"/>
          <a:lstStyle/>
          <a:p>
            <a:pPr marL="0" indent="0" algn="ctr">
              <a:buNone/>
            </a:pPr>
            <a:r>
              <a:rPr lang="en-US" sz="1600" b="1" dirty="0">
                <a:solidFill>
                  <a:srgbClr val="12202B"/>
                </a:solidFill>
              </a:rPr>
              <a:t>4</a:t>
            </a:r>
            <a:endParaRPr lang="en-US" sz="1600" dirty="0"/>
          </a:p>
        </p:txBody>
      </p:sp>
      <p:sp>
        <p:nvSpPr>
          <p:cNvPr id="19" name="Text 15"/>
          <p:cNvSpPr txBox="1"/>
          <p:nvPr/>
        </p:nvSpPr>
        <p:spPr>
          <a:xfrm>
            <a:off x="5166360" y="5111496"/>
            <a:ext cx="6446520" cy="365760"/>
          </a:xfrm>
          <a:prstGeom prst="rect">
            <a:avLst/>
          </a:prstGeom>
          <a:noFill/>
          <a:ln/>
        </p:spPr>
        <p:txBody>
          <a:bodyPr wrap="square" lIns="0" tIns="0" rIns="0" bIns="0" rtlCol="0" anchor="ctr"/>
          <a:lstStyle/>
          <a:p>
            <a:pPr marL="0" indent="0">
              <a:buNone/>
            </a:pPr>
            <a:r>
              <a:rPr lang="en-US" sz="1900" b="1" dirty="0">
                <a:solidFill>
                  <a:srgbClr val="FFFFFF"/>
                </a:solidFill>
              </a:rPr>
              <a:t>Private until mutual</a:t>
            </a:r>
            <a:endParaRPr lang="en-US" sz="1900" dirty="0"/>
          </a:p>
        </p:txBody>
      </p:sp>
      <p:sp>
        <p:nvSpPr>
          <p:cNvPr id="20" name="Text 16"/>
          <p:cNvSpPr txBox="1"/>
          <p:nvPr/>
        </p:nvSpPr>
        <p:spPr>
          <a:xfrm>
            <a:off x="5166360" y="5495544"/>
            <a:ext cx="6446520" cy="640080"/>
          </a:xfrm>
          <a:prstGeom prst="rect">
            <a:avLst/>
          </a:prstGeom>
          <a:noFill/>
          <a:ln/>
        </p:spPr>
        <p:txBody>
          <a:bodyPr wrap="square" lIns="0" tIns="0" rIns="0" bIns="0" rtlCol="0" anchor="t"/>
          <a:lstStyle/>
          <a:p>
            <a:pPr marL="0" indent="0">
              <a:buNone/>
            </a:pPr>
            <a:r>
              <a:rPr lang="en-US" sz="1400" dirty="0">
                <a:solidFill>
                  <a:srgbClr val="B9CBD3"/>
                </a:solidFill>
              </a:rPr>
              <a:t>A match only exists when both people wave.</a:t>
            </a:r>
            <a:endParaRPr lang="en-US" sz="1400" dirty="0"/>
          </a:p>
        </p:txBody>
      </p:sp>
      <p:sp>
        <p:nvSpPr>
          <p:cNvPr id="21" name="Text 17"/>
          <p:cNvSpPr txBox="1"/>
          <p:nvPr/>
        </p:nvSpPr>
        <p:spPr>
          <a:xfrm>
            <a:off x="548640" y="6355080"/>
            <a:ext cx="3291840" cy="365760"/>
          </a:xfrm>
          <a:prstGeom prst="rect">
            <a:avLst/>
          </a:prstGeom>
          <a:noFill/>
          <a:ln/>
        </p:spPr>
        <p:txBody>
          <a:bodyPr wrap="square" lIns="0" tIns="0" rIns="0" bIns="0" rtlCol="0" anchor="ctr"/>
          <a:lstStyle/>
          <a:p>
            <a:pPr marL="0" indent="0" algn="ctr">
              <a:buNone/>
            </a:pPr>
            <a:r>
              <a:rPr lang="en-US" sz="1200" dirty="0">
                <a:solidFill>
                  <a:srgbClr val="B9CBD3"/>
                </a:solidFill>
              </a:rPr>
              <a:t>Screen recording of the real app</a:t>
            </a:r>
            <a:endParaRPr lang="en-US" sz="1200" dirty="0"/>
          </a:p>
        </p:txBody>
      </p:sp>
      <p:sp>
        <p:nvSpPr>
          <p:cNvPr id="25" name="Slide Number Placeholder 0"/>
          <p:cNvSpPr>
            <a:spLocks noGrp="1"/>
          </p:cNvSpPr>
          <p:nvPr>
            <p:ph type="sldNum" sz="quarter" idx="4294967295"/>
          </p:nvPr>
        </p:nvSpPr>
        <p:spPr>
          <a:xfrm>
            <a:off x="11155680" y="647395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FA0A9"/>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400" b="1" dirty="0">
                <a:solidFill>
                  <a:schemeClr val="tx1"/>
                </a:solidFill>
              </a:rPr>
              <a:t>Every card says why you were introduced</a:t>
            </a:r>
            <a:endParaRPr lang="en-US" sz="3400" dirty="0"/>
          </a:p>
        </p:txBody>
      </p:sp>
      <p:pic>
        <p:nvPicPr>
          <p:cNvPr id="4" name="Image 0" descr="A pick card showing the reasons for the match"/>
          <p:cNvPicPr>
            <a:picLocks noChangeAspect="1"/>
          </p:cNvPicPr>
          <p:nvPr/>
        </p:nvPicPr>
        <p:blipFill>
          <a:blip r:embed="rId3"/>
          <a:stretch>
            <a:fillRect/>
          </a:stretch>
        </p:blipFill>
        <p:spPr>
          <a:xfrm>
            <a:off x="822960" y="1325880"/>
            <a:ext cx="2383746" cy="4937760"/>
          </a:xfrm>
          <a:prstGeom prst="rect">
            <a:avLst/>
          </a:prstGeom>
        </p:spPr>
      </p:pic>
      <p:pic>
        <p:nvPicPr>
          <p:cNvPr id="5" name="Image 1" descr="Writing a short note to send with a wave"/>
          <p:cNvPicPr>
            <a:picLocks noChangeAspect="1"/>
          </p:cNvPicPr>
          <p:nvPr/>
        </p:nvPicPr>
        <p:blipFill>
          <a:blip r:embed="rId4"/>
          <a:stretch>
            <a:fillRect/>
          </a:stretch>
        </p:blipFill>
        <p:spPr>
          <a:xfrm>
            <a:off x="3566160" y="1325880"/>
            <a:ext cx="2383746" cy="4937760"/>
          </a:xfrm>
          <a:prstGeom prst="rect">
            <a:avLst/>
          </a:prstGeom>
        </p:spPr>
      </p:pic>
      <p:sp>
        <p:nvSpPr>
          <p:cNvPr id="6" name="Shape 1"/>
          <p:cNvSpPr/>
          <p:nvPr/>
        </p:nvSpPr>
        <p:spPr>
          <a:xfrm>
            <a:off x="6583680" y="1417320"/>
            <a:ext cx="5029200" cy="1371600"/>
          </a:xfrm>
          <a:prstGeom prst="roundRect">
            <a:avLst>
              <a:gd name="adj" fmla="val 8000"/>
            </a:avLst>
          </a:prstGeom>
          <a:solidFill>
            <a:srgbClr val="FFFFFF"/>
          </a:solidFill>
          <a:ln w="12700">
            <a:solidFill>
              <a:srgbClr val="E4E0D6"/>
            </a:solidFill>
            <a:prstDash val="solid"/>
          </a:ln>
        </p:spPr>
        <p:txBody>
          <a:bodyPr/>
          <a:lstStyle/>
          <a:p>
            <a:endParaRPr lang="en-US"/>
          </a:p>
        </p:txBody>
      </p:sp>
      <p:sp>
        <p:nvSpPr>
          <p:cNvPr id="7" name="Shape 2"/>
          <p:cNvSpPr/>
          <p:nvPr/>
        </p:nvSpPr>
        <p:spPr>
          <a:xfrm>
            <a:off x="6784848" y="1636776"/>
            <a:ext cx="219456" cy="219456"/>
          </a:xfrm>
          <a:prstGeom prst="ellipse">
            <a:avLst/>
          </a:prstGeom>
          <a:solidFill>
            <a:srgbClr val="0F766E"/>
          </a:solidFill>
          <a:ln w="12700">
            <a:solidFill>
              <a:srgbClr val="0F766E"/>
            </a:solidFill>
            <a:prstDash val="solid"/>
          </a:ln>
        </p:spPr>
        <p:txBody>
          <a:bodyPr/>
          <a:lstStyle/>
          <a:p>
            <a:endParaRPr lang="en-US"/>
          </a:p>
        </p:txBody>
      </p:sp>
      <p:sp>
        <p:nvSpPr>
          <p:cNvPr id="8" name="Text 3"/>
          <p:cNvSpPr txBox="1"/>
          <p:nvPr/>
        </p:nvSpPr>
        <p:spPr>
          <a:xfrm>
            <a:off x="7132320" y="1527048"/>
            <a:ext cx="4297680" cy="438912"/>
          </a:xfrm>
          <a:prstGeom prst="rect">
            <a:avLst/>
          </a:prstGeom>
          <a:noFill/>
          <a:ln/>
        </p:spPr>
        <p:txBody>
          <a:bodyPr wrap="square" lIns="0" tIns="0" rIns="0" bIns="0" rtlCol="0" anchor="ctr"/>
          <a:lstStyle/>
          <a:p>
            <a:pPr marL="0" indent="0">
              <a:buNone/>
            </a:pPr>
            <a:r>
              <a:rPr lang="en-US" sz="1700" b="1" dirty="0">
                <a:solidFill>
                  <a:schemeClr val="tx1"/>
                </a:solidFill>
              </a:rPr>
              <a:t>Reasons are facts, not guesses</a:t>
            </a:r>
            <a:endParaRPr lang="en-US" sz="1700" dirty="0"/>
          </a:p>
        </p:txBody>
      </p:sp>
      <p:sp>
        <p:nvSpPr>
          <p:cNvPr id="9" name="Text 4"/>
          <p:cNvSpPr txBox="1"/>
          <p:nvPr/>
        </p:nvSpPr>
        <p:spPr>
          <a:xfrm>
            <a:off x="6784848" y="2075688"/>
            <a:ext cx="4626864" cy="585216"/>
          </a:xfrm>
          <a:prstGeom prst="rect">
            <a:avLst/>
          </a:prstGeom>
          <a:noFill/>
          <a:ln/>
        </p:spPr>
        <p:txBody>
          <a:bodyPr wrap="square" lIns="0" tIns="0" rIns="0" bIns="0" rtlCol="0" anchor="t"/>
          <a:lstStyle/>
          <a:p>
            <a:pPr marL="0" indent="0">
              <a:buNone/>
            </a:pPr>
            <a:r>
              <a:rPr lang="en-US" sz="1400" dirty="0">
                <a:solidFill>
                  <a:srgbClr val="4A5A66"/>
                </a:solidFill>
              </a:rPr>
              <a:t>Each chip comes from something both people entered, such as a course section or a club.</a:t>
            </a:r>
            <a:endParaRPr lang="en-US" sz="1400" dirty="0"/>
          </a:p>
        </p:txBody>
      </p:sp>
      <p:sp>
        <p:nvSpPr>
          <p:cNvPr id="10" name="Shape 5"/>
          <p:cNvSpPr/>
          <p:nvPr/>
        </p:nvSpPr>
        <p:spPr>
          <a:xfrm>
            <a:off x="6583680" y="2926080"/>
            <a:ext cx="5029200" cy="1371600"/>
          </a:xfrm>
          <a:prstGeom prst="roundRect">
            <a:avLst>
              <a:gd name="adj" fmla="val 8000"/>
            </a:avLst>
          </a:prstGeom>
          <a:solidFill>
            <a:srgbClr val="FFFFFF"/>
          </a:solidFill>
          <a:ln w="12700">
            <a:solidFill>
              <a:srgbClr val="E4E0D6"/>
            </a:solidFill>
            <a:prstDash val="solid"/>
          </a:ln>
        </p:spPr>
        <p:txBody>
          <a:bodyPr/>
          <a:lstStyle/>
          <a:p>
            <a:endParaRPr lang="en-US"/>
          </a:p>
        </p:txBody>
      </p:sp>
      <p:sp>
        <p:nvSpPr>
          <p:cNvPr id="11" name="Shape 6"/>
          <p:cNvSpPr/>
          <p:nvPr/>
        </p:nvSpPr>
        <p:spPr>
          <a:xfrm>
            <a:off x="6784848" y="3145536"/>
            <a:ext cx="219456" cy="219456"/>
          </a:xfrm>
          <a:prstGeom prst="ellipse">
            <a:avLst/>
          </a:prstGeom>
          <a:solidFill>
            <a:srgbClr val="5B3FA6"/>
          </a:solidFill>
          <a:ln w="12700">
            <a:solidFill>
              <a:srgbClr val="5B3FA6"/>
            </a:solidFill>
            <a:prstDash val="solid"/>
          </a:ln>
        </p:spPr>
        <p:txBody>
          <a:bodyPr/>
          <a:lstStyle/>
          <a:p>
            <a:endParaRPr lang="en-US"/>
          </a:p>
        </p:txBody>
      </p:sp>
      <p:sp>
        <p:nvSpPr>
          <p:cNvPr id="12" name="Text 7"/>
          <p:cNvSpPr txBox="1"/>
          <p:nvPr/>
        </p:nvSpPr>
        <p:spPr>
          <a:xfrm>
            <a:off x="7132320" y="3035808"/>
            <a:ext cx="4297680" cy="438912"/>
          </a:xfrm>
          <a:prstGeom prst="rect">
            <a:avLst/>
          </a:prstGeom>
          <a:noFill/>
          <a:ln/>
        </p:spPr>
        <p:txBody>
          <a:bodyPr wrap="square" lIns="0" tIns="0" rIns="0" bIns="0" rtlCol="0" anchor="ctr"/>
          <a:lstStyle/>
          <a:p>
            <a:pPr marL="0" indent="0">
              <a:buNone/>
            </a:pPr>
            <a:r>
              <a:rPr lang="en-US" sz="1700" b="1" dirty="0">
                <a:solidFill>
                  <a:schemeClr val="tx1"/>
                </a:solidFill>
              </a:rPr>
              <a:t>React with a short note</a:t>
            </a:r>
            <a:endParaRPr lang="en-US" sz="1700" dirty="0"/>
          </a:p>
        </p:txBody>
      </p:sp>
      <p:sp>
        <p:nvSpPr>
          <p:cNvPr id="13" name="Text 8"/>
          <p:cNvSpPr txBox="1"/>
          <p:nvPr/>
        </p:nvSpPr>
        <p:spPr>
          <a:xfrm>
            <a:off x="6784848" y="3584448"/>
            <a:ext cx="4626864" cy="585216"/>
          </a:xfrm>
          <a:prstGeom prst="rect">
            <a:avLst/>
          </a:prstGeom>
          <a:noFill/>
          <a:ln/>
        </p:spPr>
        <p:txBody>
          <a:bodyPr wrap="square" lIns="0" tIns="0" rIns="0" bIns="0" rtlCol="0" anchor="t"/>
          <a:lstStyle/>
          <a:p>
            <a:pPr marL="0" indent="0">
              <a:buNone/>
            </a:pPr>
            <a:r>
              <a:rPr lang="en-US" sz="1400" dirty="0">
                <a:solidFill>
                  <a:srgbClr val="4A5A66"/>
                </a:solidFill>
              </a:rPr>
              <a:t>Tap the heart on a photo or an answer and write a few words. A note makes a better opener.</a:t>
            </a:r>
            <a:endParaRPr lang="en-US" sz="1400" dirty="0"/>
          </a:p>
        </p:txBody>
      </p:sp>
      <p:sp>
        <p:nvSpPr>
          <p:cNvPr id="14" name="Shape 9"/>
          <p:cNvSpPr/>
          <p:nvPr/>
        </p:nvSpPr>
        <p:spPr>
          <a:xfrm>
            <a:off x="6583680" y="4434840"/>
            <a:ext cx="5029200" cy="1371600"/>
          </a:xfrm>
          <a:prstGeom prst="roundRect">
            <a:avLst>
              <a:gd name="adj" fmla="val 8000"/>
            </a:avLst>
          </a:prstGeom>
          <a:solidFill>
            <a:srgbClr val="FFFFFF"/>
          </a:solidFill>
          <a:ln w="12700">
            <a:solidFill>
              <a:srgbClr val="E4E0D6"/>
            </a:solidFill>
            <a:prstDash val="solid"/>
          </a:ln>
        </p:spPr>
        <p:txBody>
          <a:bodyPr/>
          <a:lstStyle/>
          <a:p>
            <a:endParaRPr lang="en-US"/>
          </a:p>
        </p:txBody>
      </p:sp>
      <p:sp>
        <p:nvSpPr>
          <p:cNvPr id="15" name="Shape 10"/>
          <p:cNvSpPr/>
          <p:nvPr/>
        </p:nvSpPr>
        <p:spPr>
          <a:xfrm>
            <a:off x="6784848" y="4654296"/>
            <a:ext cx="219456" cy="219456"/>
          </a:xfrm>
          <a:prstGeom prst="ellipse">
            <a:avLst/>
          </a:prstGeom>
          <a:solidFill>
            <a:srgbClr val="B7791F"/>
          </a:solidFill>
          <a:ln w="12700">
            <a:solidFill>
              <a:srgbClr val="B7791F"/>
            </a:solidFill>
            <a:prstDash val="solid"/>
          </a:ln>
        </p:spPr>
        <p:txBody>
          <a:bodyPr/>
          <a:lstStyle/>
          <a:p>
            <a:endParaRPr lang="en-US"/>
          </a:p>
        </p:txBody>
      </p:sp>
      <p:sp>
        <p:nvSpPr>
          <p:cNvPr id="16" name="Text 11"/>
          <p:cNvSpPr txBox="1"/>
          <p:nvPr/>
        </p:nvSpPr>
        <p:spPr>
          <a:xfrm>
            <a:off x="7132320" y="4544568"/>
            <a:ext cx="4297680" cy="438912"/>
          </a:xfrm>
          <a:prstGeom prst="rect">
            <a:avLst/>
          </a:prstGeom>
          <a:noFill/>
          <a:ln/>
        </p:spPr>
        <p:txBody>
          <a:bodyPr wrap="square" lIns="0" tIns="0" rIns="0" bIns="0" rtlCol="0" anchor="ctr"/>
          <a:lstStyle/>
          <a:p>
            <a:pPr marL="0" indent="0">
              <a:buNone/>
            </a:pPr>
            <a:r>
              <a:rPr lang="en-US" sz="1700" b="1" dirty="0">
                <a:solidFill>
                  <a:schemeClr val="tx1"/>
                </a:solidFill>
              </a:rPr>
              <a:t>A wave is private</a:t>
            </a:r>
            <a:endParaRPr lang="en-US" sz="1700" dirty="0"/>
          </a:p>
        </p:txBody>
      </p:sp>
      <p:sp>
        <p:nvSpPr>
          <p:cNvPr id="17" name="Text 12"/>
          <p:cNvSpPr txBox="1"/>
          <p:nvPr/>
        </p:nvSpPr>
        <p:spPr>
          <a:xfrm>
            <a:off x="6784848" y="5093208"/>
            <a:ext cx="4626864" cy="585216"/>
          </a:xfrm>
          <a:prstGeom prst="rect">
            <a:avLst/>
          </a:prstGeom>
          <a:noFill/>
          <a:ln/>
        </p:spPr>
        <p:txBody>
          <a:bodyPr wrap="square" lIns="0" tIns="0" rIns="0" bIns="0" rtlCol="0" anchor="t"/>
          <a:lstStyle/>
          <a:p>
            <a:pPr marL="0" indent="0">
              <a:buNone/>
            </a:pPr>
            <a:r>
              <a:rPr lang="en-US" sz="1400" dirty="0">
                <a:solidFill>
                  <a:srgbClr val="4A5A66"/>
                </a:solidFill>
              </a:rPr>
              <a:t>Nothing is shared unless the other person also waves back. A note only travels with your wave.</a:t>
            </a:r>
            <a:endParaRPr lang="en-US" sz="1400" dirty="0"/>
          </a:p>
        </p:txBody>
      </p:sp>
      <p:sp>
        <p:nvSpPr>
          <p:cNvPr id="25" name="Slide Number Placeholder 0"/>
          <p:cNvSpPr>
            <a:spLocks noGrp="1"/>
          </p:cNvSpPr>
          <p:nvPr>
            <p:ph type="sldNum" sz="quarter" idx="4294967295"/>
          </p:nvPr>
        </p:nvSpPr>
        <p:spPr>
          <a:xfrm>
            <a:off x="11155680" y="647395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480560" y="548640"/>
            <a:ext cx="7223760" cy="1371600"/>
          </a:xfrm>
          <a:prstGeom prst="rect">
            <a:avLst/>
          </a:prstGeom>
          <a:noFill/>
          <a:ln/>
        </p:spPr>
        <p:txBody>
          <a:bodyPr wrap="square" lIns="0" tIns="0" rIns="0" bIns="0" rtlCol="0" anchor="t"/>
          <a:lstStyle/>
          <a:p>
            <a:pPr marL="0" indent="0" algn="l">
              <a:buNone/>
            </a:pPr>
            <a:r>
              <a:rPr lang="en-US" sz="3400" b="1" dirty="0">
                <a:solidFill>
                  <a:srgbClr val="FFFFFF"/>
                </a:solidFill>
              </a:rPr>
              <a:t>Mutual wave, match, chat</a:t>
            </a:r>
            <a:endParaRPr lang="en-US" sz="3400" dirty="0"/>
          </a:p>
        </p:txBody>
      </p:sp>
      <p:pic>
        <p:nvPicPr>
          <p:cNvPr id="3" name="Media 0">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822960" y="548640"/>
            <a:ext cx="2781942" cy="5760720"/>
          </a:xfrm>
          <a:prstGeom prst="rect">
            <a:avLst/>
          </a:prstGeom>
        </p:spPr>
      </p:pic>
      <p:sp>
        <p:nvSpPr>
          <p:cNvPr id="5" name="step-1-dot"/>
          <p:cNvSpPr/>
          <p:nvPr/>
        </p:nvSpPr>
        <p:spPr>
          <a:xfrm>
            <a:off x="4480560" y="2011680"/>
            <a:ext cx="457200" cy="457200"/>
          </a:xfrm>
          <a:prstGeom prst="ellipse">
            <a:avLst/>
          </a:prstGeom>
          <a:solidFill>
            <a:srgbClr val="F5B544"/>
          </a:solidFill>
          <a:ln w="12700">
            <a:solidFill>
              <a:srgbClr val="F5B544"/>
            </a:solidFill>
            <a:prstDash val="solid"/>
          </a:ln>
        </p:spPr>
        <p:txBody>
          <a:bodyPr/>
          <a:lstStyle/>
          <a:p>
            <a:endParaRPr lang="en-US"/>
          </a:p>
        </p:txBody>
      </p:sp>
      <p:sp>
        <p:nvSpPr>
          <p:cNvPr id="6" name="Text 2"/>
          <p:cNvSpPr txBox="1"/>
          <p:nvPr/>
        </p:nvSpPr>
        <p:spPr>
          <a:xfrm>
            <a:off x="4480560" y="2011680"/>
            <a:ext cx="457200" cy="457200"/>
          </a:xfrm>
          <a:prstGeom prst="rect">
            <a:avLst/>
          </a:prstGeom>
          <a:noFill/>
          <a:ln/>
        </p:spPr>
        <p:txBody>
          <a:bodyPr wrap="square" lIns="0" tIns="0" rIns="0" bIns="0" rtlCol="0" anchor="ctr"/>
          <a:lstStyle/>
          <a:p>
            <a:pPr marL="0" indent="0" algn="ctr">
              <a:buNone/>
            </a:pPr>
            <a:r>
              <a:rPr lang="en-US" sz="1600" b="1" dirty="0">
                <a:solidFill>
                  <a:srgbClr val="12202B"/>
                </a:solidFill>
              </a:rPr>
              <a:t>1</a:t>
            </a:r>
            <a:endParaRPr lang="en-US" sz="1600" dirty="0"/>
          </a:p>
        </p:txBody>
      </p:sp>
      <p:sp>
        <p:nvSpPr>
          <p:cNvPr id="7" name="Text 3"/>
          <p:cNvSpPr txBox="1"/>
          <p:nvPr/>
        </p:nvSpPr>
        <p:spPr>
          <a:xfrm>
            <a:off x="5166360" y="1956816"/>
            <a:ext cx="6446520" cy="365760"/>
          </a:xfrm>
          <a:prstGeom prst="rect">
            <a:avLst/>
          </a:prstGeom>
          <a:noFill/>
          <a:ln/>
        </p:spPr>
        <p:txBody>
          <a:bodyPr wrap="square" lIns="0" tIns="0" rIns="0" bIns="0" rtlCol="0" anchor="ctr"/>
          <a:lstStyle/>
          <a:p>
            <a:pPr marL="0" indent="0">
              <a:buNone/>
            </a:pPr>
            <a:r>
              <a:rPr lang="en-US" sz="1900" b="1" dirty="0">
                <a:solidFill>
                  <a:srgbClr val="FFFFFF"/>
                </a:solidFill>
              </a:rPr>
              <a:t>A match appears on mutual wave</a:t>
            </a:r>
            <a:endParaRPr lang="en-US" sz="1900" dirty="0"/>
          </a:p>
        </p:txBody>
      </p:sp>
      <p:sp>
        <p:nvSpPr>
          <p:cNvPr id="8" name="Text 4"/>
          <p:cNvSpPr txBox="1"/>
          <p:nvPr/>
        </p:nvSpPr>
        <p:spPr>
          <a:xfrm>
            <a:off x="5166360" y="2340864"/>
            <a:ext cx="6446520" cy="640080"/>
          </a:xfrm>
          <a:prstGeom prst="rect">
            <a:avLst/>
          </a:prstGeom>
          <a:noFill/>
          <a:ln/>
        </p:spPr>
        <p:txBody>
          <a:bodyPr wrap="square" lIns="0" tIns="0" rIns="0" bIns="0" rtlCol="0" anchor="t"/>
          <a:lstStyle/>
          <a:p>
            <a:pPr marL="0" indent="0">
              <a:buNone/>
            </a:pPr>
            <a:r>
              <a:rPr lang="en-US" sz="1400" dirty="0">
                <a:solidFill>
                  <a:srgbClr val="B9CBD3"/>
                </a:solidFill>
              </a:rPr>
              <a:t>Both people can now see each other's profile.</a:t>
            </a:r>
            <a:endParaRPr lang="en-US" sz="1400" dirty="0"/>
          </a:p>
        </p:txBody>
      </p:sp>
      <p:sp>
        <p:nvSpPr>
          <p:cNvPr id="9" name="step-2-dot"/>
          <p:cNvSpPr/>
          <p:nvPr/>
        </p:nvSpPr>
        <p:spPr>
          <a:xfrm>
            <a:off x="4480560" y="3200400"/>
            <a:ext cx="457200" cy="457200"/>
          </a:xfrm>
          <a:prstGeom prst="ellipse">
            <a:avLst/>
          </a:prstGeom>
          <a:solidFill>
            <a:srgbClr val="F5B544"/>
          </a:solidFill>
          <a:ln w="12700">
            <a:solidFill>
              <a:srgbClr val="F5B544"/>
            </a:solidFill>
            <a:prstDash val="solid"/>
          </a:ln>
        </p:spPr>
        <p:txBody>
          <a:bodyPr/>
          <a:lstStyle/>
          <a:p>
            <a:endParaRPr lang="en-US"/>
          </a:p>
        </p:txBody>
      </p:sp>
      <p:sp>
        <p:nvSpPr>
          <p:cNvPr id="10" name="Text 6"/>
          <p:cNvSpPr txBox="1"/>
          <p:nvPr/>
        </p:nvSpPr>
        <p:spPr>
          <a:xfrm>
            <a:off x="4480560" y="3200400"/>
            <a:ext cx="457200" cy="457200"/>
          </a:xfrm>
          <a:prstGeom prst="rect">
            <a:avLst/>
          </a:prstGeom>
          <a:noFill/>
          <a:ln/>
        </p:spPr>
        <p:txBody>
          <a:bodyPr wrap="square" lIns="0" tIns="0" rIns="0" bIns="0" rtlCol="0" anchor="ctr"/>
          <a:lstStyle/>
          <a:p>
            <a:pPr marL="0" indent="0" algn="ctr">
              <a:buNone/>
            </a:pPr>
            <a:r>
              <a:rPr lang="en-US" sz="1600" b="1" dirty="0">
                <a:solidFill>
                  <a:srgbClr val="12202B"/>
                </a:solidFill>
              </a:rPr>
              <a:t>2</a:t>
            </a:r>
            <a:endParaRPr lang="en-US" sz="1600" dirty="0"/>
          </a:p>
        </p:txBody>
      </p:sp>
      <p:sp>
        <p:nvSpPr>
          <p:cNvPr id="11" name="Text 7"/>
          <p:cNvSpPr txBox="1"/>
          <p:nvPr/>
        </p:nvSpPr>
        <p:spPr>
          <a:xfrm>
            <a:off x="5166360" y="3145536"/>
            <a:ext cx="6446520" cy="365760"/>
          </a:xfrm>
          <a:prstGeom prst="rect">
            <a:avLst/>
          </a:prstGeom>
          <a:noFill/>
          <a:ln/>
        </p:spPr>
        <p:txBody>
          <a:bodyPr wrap="square" lIns="0" tIns="0" rIns="0" bIns="0" rtlCol="0" anchor="ctr"/>
          <a:lstStyle/>
          <a:p>
            <a:pPr marL="0" indent="0">
              <a:buNone/>
            </a:pPr>
            <a:r>
              <a:rPr lang="en-US" sz="1900" b="1" dirty="0">
                <a:solidFill>
                  <a:srgbClr val="FFFFFF"/>
                </a:solidFill>
              </a:rPr>
              <a:t>Icebreakers from what you share</a:t>
            </a:r>
            <a:endParaRPr lang="en-US" sz="1900" dirty="0"/>
          </a:p>
        </p:txBody>
      </p:sp>
      <p:sp>
        <p:nvSpPr>
          <p:cNvPr id="12" name="Text 8"/>
          <p:cNvSpPr txBox="1"/>
          <p:nvPr/>
        </p:nvSpPr>
        <p:spPr>
          <a:xfrm>
            <a:off x="5166360" y="3529584"/>
            <a:ext cx="6446520" cy="640080"/>
          </a:xfrm>
          <a:prstGeom prst="rect">
            <a:avLst/>
          </a:prstGeom>
          <a:noFill/>
          <a:ln/>
        </p:spPr>
        <p:txBody>
          <a:bodyPr wrap="square" lIns="0" tIns="0" rIns="0" bIns="0" rtlCol="0" anchor="t"/>
          <a:lstStyle/>
          <a:p>
            <a:pPr marL="0" indent="0">
              <a:buNone/>
            </a:pPr>
            <a:r>
              <a:rPr lang="en-US" sz="1400" dirty="0">
                <a:solidFill>
                  <a:srgbClr val="B9CBD3"/>
                </a:solidFill>
              </a:rPr>
              <a:t>Suggested openers are built from shared items only.</a:t>
            </a:r>
            <a:endParaRPr lang="en-US" sz="1400" dirty="0"/>
          </a:p>
        </p:txBody>
      </p:sp>
      <p:sp>
        <p:nvSpPr>
          <p:cNvPr id="13" name="step-3-dot"/>
          <p:cNvSpPr/>
          <p:nvPr/>
        </p:nvSpPr>
        <p:spPr>
          <a:xfrm>
            <a:off x="4480560" y="4389120"/>
            <a:ext cx="457200" cy="457200"/>
          </a:xfrm>
          <a:prstGeom prst="ellipse">
            <a:avLst/>
          </a:prstGeom>
          <a:solidFill>
            <a:srgbClr val="F5B544"/>
          </a:solidFill>
          <a:ln w="12700">
            <a:solidFill>
              <a:srgbClr val="F5B544"/>
            </a:solidFill>
            <a:prstDash val="solid"/>
          </a:ln>
        </p:spPr>
        <p:txBody>
          <a:bodyPr/>
          <a:lstStyle/>
          <a:p>
            <a:endParaRPr lang="en-US"/>
          </a:p>
        </p:txBody>
      </p:sp>
      <p:sp>
        <p:nvSpPr>
          <p:cNvPr id="14" name="Text 10"/>
          <p:cNvSpPr txBox="1"/>
          <p:nvPr/>
        </p:nvSpPr>
        <p:spPr>
          <a:xfrm>
            <a:off x="4480560" y="4389120"/>
            <a:ext cx="457200" cy="457200"/>
          </a:xfrm>
          <a:prstGeom prst="rect">
            <a:avLst/>
          </a:prstGeom>
          <a:noFill/>
          <a:ln/>
        </p:spPr>
        <p:txBody>
          <a:bodyPr wrap="square" lIns="0" tIns="0" rIns="0" bIns="0" rtlCol="0" anchor="ctr"/>
          <a:lstStyle/>
          <a:p>
            <a:pPr marL="0" indent="0" algn="ctr">
              <a:buNone/>
            </a:pPr>
            <a:r>
              <a:rPr lang="en-US" sz="1600" b="1" dirty="0">
                <a:solidFill>
                  <a:srgbClr val="12202B"/>
                </a:solidFill>
              </a:rPr>
              <a:t>3</a:t>
            </a:r>
            <a:endParaRPr lang="en-US" sz="1600" dirty="0"/>
          </a:p>
        </p:txBody>
      </p:sp>
      <p:sp>
        <p:nvSpPr>
          <p:cNvPr id="15" name="Text 11"/>
          <p:cNvSpPr txBox="1"/>
          <p:nvPr/>
        </p:nvSpPr>
        <p:spPr>
          <a:xfrm>
            <a:off x="5166360" y="4334256"/>
            <a:ext cx="6446520" cy="365760"/>
          </a:xfrm>
          <a:prstGeom prst="rect">
            <a:avLst/>
          </a:prstGeom>
          <a:noFill/>
          <a:ln/>
        </p:spPr>
        <p:txBody>
          <a:bodyPr wrap="square" lIns="0" tIns="0" rIns="0" bIns="0" rtlCol="0" anchor="ctr"/>
          <a:lstStyle/>
          <a:p>
            <a:pPr marL="0" indent="0">
              <a:buNone/>
            </a:pPr>
            <a:r>
              <a:rPr lang="en-US" sz="1900" b="1" dirty="0">
                <a:solidFill>
                  <a:srgbClr val="FFFFFF"/>
                </a:solidFill>
              </a:rPr>
              <a:t>The chat stays private</a:t>
            </a:r>
            <a:endParaRPr lang="en-US" sz="1900" dirty="0"/>
          </a:p>
        </p:txBody>
      </p:sp>
      <p:sp>
        <p:nvSpPr>
          <p:cNvPr id="16" name="Text 12"/>
          <p:cNvSpPr txBox="1"/>
          <p:nvPr/>
        </p:nvSpPr>
        <p:spPr>
          <a:xfrm>
            <a:off x="5166360" y="4718304"/>
            <a:ext cx="6446520" cy="640080"/>
          </a:xfrm>
          <a:prstGeom prst="rect">
            <a:avLst/>
          </a:prstGeom>
          <a:noFill/>
          <a:ln/>
        </p:spPr>
        <p:txBody>
          <a:bodyPr wrap="square" lIns="0" tIns="0" rIns="0" bIns="0" rtlCol="0" anchor="t"/>
          <a:lstStyle/>
          <a:p>
            <a:pPr marL="0" indent="0">
              <a:buNone/>
            </a:pPr>
            <a:r>
              <a:rPr lang="en-US" sz="1400" dirty="0">
                <a:solidFill>
                  <a:srgbClr val="B9CBD3"/>
                </a:solidFill>
              </a:rPr>
              <a:t>It is never logged. Moderators only see what a reporter attaches.</a:t>
            </a:r>
            <a:endParaRPr lang="en-US" sz="1400" dirty="0"/>
          </a:p>
        </p:txBody>
      </p:sp>
      <p:sp>
        <p:nvSpPr>
          <p:cNvPr id="17" name="Text 13"/>
          <p:cNvSpPr txBox="1"/>
          <p:nvPr/>
        </p:nvSpPr>
        <p:spPr>
          <a:xfrm>
            <a:off x="548640" y="6355080"/>
            <a:ext cx="3291840" cy="365760"/>
          </a:xfrm>
          <a:prstGeom prst="rect">
            <a:avLst/>
          </a:prstGeom>
          <a:noFill/>
          <a:ln/>
        </p:spPr>
        <p:txBody>
          <a:bodyPr wrap="square" lIns="0" tIns="0" rIns="0" bIns="0" rtlCol="0" anchor="ctr"/>
          <a:lstStyle/>
          <a:p>
            <a:pPr marL="0" indent="0" algn="ctr">
              <a:buNone/>
            </a:pPr>
            <a:r>
              <a:rPr lang="en-US" sz="1200" dirty="0">
                <a:solidFill>
                  <a:srgbClr val="B9CBD3"/>
                </a:solidFill>
              </a:rPr>
              <a:t>Screen recording of the real app</a:t>
            </a:r>
            <a:endParaRPr lang="en-US" sz="1200" dirty="0"/>
          </a:p>
        </p:txBody>
      </p:sp>
      <p:sp>
        <p:nvSpPr>
          <p:cNvPr id="25" name="Slide Number Placeholder 0"/>
          <p:cNvSpPr>
            <a:spLocks noGrp="1"/>
          </p:cNvSpPr>
          <p:nvPr>
            <p:ph type="sldNum" sz="quarter" idx="4294967295"/>
          </p:nvPr>
        </p:nvSpPr>
        <p:spPr>
          <a:xfrm>
            <a:off x="11155680" y="647395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FA0A9"/>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480560" y="548640"/>
            <a:ext cx="7223760" cy="1371600"/>
          </a:xfrm>
          <a:prstGeom prst="rect">
            <a:avLst/>
          </a:prstGeom>
          <a:noFill/>
          <a:ln/>
        </p:spPr>
        <p:txBody>
          <a:bodyPr wrap="square" lIns="0" tIns="0" rIns="0" bIns="0" rtlCol="0" anchor="t"/>
          <a:lstStyle/>
          <a:p>
            <a:pPr marL="0" indent="0" algn="l">
              <a:buNone/>
            </a:pPr>
            <a:r>
              <a:rPr lang="en-US" sz="3400" b="1" dirty="0">
                <a:solidFill>
                  <a:srgbClr val="FFFFFF"/>
                </a:solidFill>
              </a:rPr>
              <a:t>Plan the meetup from shared free time</a:t>
            </a:r>
            <a:endParaRPr lang="en-US" sz="3400" dirty="0"/>
          </a:p>
        </p:txBody>
      </p:sp>
      <p:pic>
        <p:nvPicPr>
          <p:cNvPr id="3" name="Media 0">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822960" y="548640"/>
            <a:ext cx="2781942" cy="5760720"/>
          </a:xfrm>
          <a:prstGeom prst="rect">
            <a:avLst/>
          </a:prstGeom>
        </p:spPr>
      </p:pic>
      <p:sp>
        <p:nvSpPr>
          <p:cNvPr id="5" name="step-1-dot"/>
          <p:cNvSpPr/>
          <p:nvPr/>
        </p:nvSpPr>
        <p:spPr>
          <a:xfrm>
            <a:off x="4480560" y="2011680"/>
            <a:ext cx="457200" cy="457200"/>
          </a:xfrm>
          <a:prstGeom prst="ellipse">
            <a:avLst/>
          </a:prstGeom>
          <a:solidFill>
            <a:srgbClr val="F5B544"/>
          </a:solidFill>
          <a:ln w="12700">
            <a:solidFill>
              <a:srgbClr val="F5B544"/>
            </a:solidFill>
            <a:prstDash val="solid"/>
          </a:ln>
        </p:spPr>
        <p:txBody>
          <a:bodyPr/>
          <a:lstStyle/>
          <a:p>
            <a:endParaRPr lang="en-US"/>
          </a:p>
        </p:txBody>
      </p:sp>
      <p:sp>
        <p:nvSpPr>
          <p:cNvPr id="6" name="Text 2"/>
          <p:cNvSpPr txBox="1"/>
          <p:nvPr/>
        </p:nvSpPr>
        <p:spPr>
          <a:xfrm>
            <a:off x="4480560" y="2011680"/>
            <a:ext cx="457200" cy="457200"/>
          </a:xfrm>
          <a:prstGeom prst="rect">
            <a:avLst/>
          </a:prstGeom>
          <a:noFill/>
          <a:ln/>
        </p:spPr>
        <p:txBody>
          <a:bodyPr wrap="square" lIns="0" tIns="0" rIns="0" bIns="0" rtlCol="0" anchor="ctr"/>
          <a:lstStyle/>
          <a:p>
            <a:pPr marL="0" indent="0" algn="ctr">
              <a:buNone/>
            </a:pPr>
            <a:r>
              <a:rPr lang="en-US" sz="1600" b="1" dirty="0">
                <a:solidFill>
                  <a:srgbClr val="12202B"/>
                </a:solidFill>
              </a:rPr>
              <a:t>1</a:t>
            </a:r>
            <a:endParaRPr lang="en-US" sz="1600" dirty="0"/>
          </a:p>
        </p:txBody>
      </p:sp>
      <p:sp>
        <p:nvSpPr>
          <p:cNvPr id="7" name="Text 3"/>
          <p:cNvSpPr txBox="1"/>
          <p:nvPr/>
        </p:nvSpPr>
        <p:spPr>
          <a:xfrm>
            <a:off x="5166360" y="1956816"/>
            <a:ext cx="6446520" cy="365760"/>
          </a:xfrm>
          <a:prstGeom prst="rect">
            <a:avLst/>
          </a:prstGeom>
          <a:noFill/>
          <a:ln/>
        </p:spPr>
        <p:txBody>
          <a:bodyPr wrap="square" lIns="0" tIns="0" rIns="0" bIns="0" rtlCol="0" anchor="ctr"/>
          <a:lstStyle/>
          <a:p>
            <a:pPr marL="0" indent="0">
              <a:buNone/>
            </a:pPr>
            <a:r>
              <a:rPr lang="en-US" sz="1900" b="1" dirty="0">
                <a:solidFill>
                  <a:srgbClr val="FFFFFF"/>
                </a:solidFill>
              </a:rPr>
              <a:t>Times come from your overlap</a:t>
            </a:r>
            <a:endParaRPr lang="en-US" sz="1900" dirty="0"/>
          </a:p>
        </p:txBody>
      </p:sp>
      <p:sp>
        <p:nvSpPr>
          <p:cNvPr id="8" name="Text 4"/>
          <p:cNvSpPr txBox="1"/>
          <p:nvPr/>
        </p:nvSpPr>
        <p:spPr>
          <a:xfrm>
            <a:off x="5166360" y="2340864"/>
            <a:ext cx="6446520" cy="640080"/>
          </a:xfrm>
          <a:prstGeom prst="rect">
            <a:avLst/>
          </a:prstGeom>
          <a:noFill/>
          <a:ln/>
        </p:spPr>
        <p:txBody>
          <a:bodyPr wrap="square" lIns="0" tIns="0" rIns="0" bIns="0" rtlCol="0" anchor="t"/>
          <a:lstStyle/>
          <a:p>
            <a:pPr marL="0" indent="0">
              <a:buNone/>
            </a:pPr>
            <a:r>
              <a:rPr lang="en-US" sz="1400" dirty="0">
                <a:solidFill>
                  <a:srgbClr val="B9CBD3"/>
                </a:solidFill>
              </a:rPr>
              <a:t>Free slots both people marked, at safe public places.</a:t>
            </a:r>
            <a:endParaRPr lang="en-US" sz="1400" dirty="0"/>
          </a:p>
        </p:txBody>
      </p:sp>
      <p:sp>
        <p:nvSpPr>
          <p:cNvPr id="9" name="step-2-dot"/>
          <p:cNvSpPr/>
          <p:nvPr/>
        </p:nvSpPr>
        <p:spPr>
          <a:xfrm>
            <a:off x="4480560" y="3200400"/>
            <a:ext cx="457200" cy="457200"/>
          </a:xfrm>
          <a:prstGeom prst="ellipse">
            <a:avLst/>
          </a:prstGeom>
          <a:solidFill>
            <a:srgbClr val="F5B544"/>
          </a:solidFill>
          <a:ln w="12700">
            <a:solidFill>
              <a:srgbClr val="F5B544"/>
            </a:solidFill>
            <a:prstDash val="solid"/>
          </a:ln>
        </p:spPr>
        <p:txBody>
          <a:bodyPr/>
          <a:lstStyle/>
          <a:p>
            <a:endParaRPr lang="en-US"/>
          </a:p>
        </p:txBody>
      </p:sp>
      <p:sp>
        <p:nvSpPr>
          <p:cNvPr id="10" name="Text 6"/>
          <p:cNvSpPr txBox="1"/>
          <p:nvPr/>
        </p:nvSpPr>
        <p:spPr>
          <a:xfrm>
            <a:off x="4480560" y="3200400"/>
            <a:ext cx="457200" cy="457200"/>
          </a:xfrm>
          <a:prstGeom prst="rect">
            <a:avLst/>
          </a:prstGeom>
          <a:noFill/>
          <a:ln/>
        </p:spPr>
        <p:txBody>
          <a:bodyPr wrap="square" lIns="0" tIns="0" rIns="0" bIns="0" rtlCol="0" anchor="ctr"/>
          <a:lstStyle/>
          <a:p>
            <a:pPr marL="0" indent="0" algn="ctr">
              <a:buNone/>
            </a:pPr>
            <a:r>
              <a:rPr lang="en-US" sz="1600" b="1" dirty="0">
                <a:solidFill>
                  <a:srgbClr val="12202B"/>
                </a:solidFill>
              </a:rPr>
              <a:t>2</a:t>
            </a:r>
            <a:endParaRPr lang="en-US" sz="1600" dirty="0"/>
          </a:p>
        </p:txBody>
      </p:sp>
      <p:sp>
        <p:nvSpPr>
          <p:cNvPr id="11" name="Text 7"/>
          <p:cNvSpPr txBox="1"/>
          <p:nvPr/>
        </p:nvSpPr>
        <p:spPr>
          <a:xfrm>
            <a:off x="5166360" y="3145536"/>
            <a:ext cx="6446520" cy="365760"/>
          </a:xfrm>
          <a:prstGeom prst="rect">
            <a:avLst/>
          </a:prstGeom>
          <a:noFill/>
          <a:ln/>
        </p:spPr>
        <p:txBody>
          <a:bodyPr wrap="square" lIns="0" tIns="0" rIns="0" bIns="0" rtlCol="0" anchor="ctr"/>
          <a:lstStyle/>
          <a:p>
            <a:pPr marL="0" indent="0">
              <a:buNone/>
            </a:pPr>
            <a:r>
              <a:rPr lang="en-US" sz="1900" b="1" dirty="0">
                <a:solidFill>
                  <a:srgbClr val="FFFFFF"/>
                </a:solidFill>
              </a:rPr>
              <a:t>Yellow, green, red dots</a:t>
            </a:r>
            <a:endParaRPr lang="en-US" sz="1900" dirty="0"/>
          </a:p>
        </p:txBody>
      </p:sp>
      <p:sp>
        <p:nvSpPr>
          <p:cNvPr id="12" name="Text 8"/>
          <p:cNvSpPr txBox="1"/>
          <p:nvPr/>
        </p:nvSpPr>
        <p:spPr>
          <a:xfrm>
            <a:off x="5166360" y="3529584"/>
            <a:ext cx="6446520" cy="640080"/>
          </a:xfrm>
          <a:prstGeom prst="rect">
            <a:avLst/>
          </a:prstGeom>
          <a:noFill/>
          <a:ln/>
        </p:spPr>
        <p:txBody>
          <a:bodyPr wrap="square" lIns="0" tIns="0" rIns="0" bIns="0" rtlCol="0" anchor="t"/>
          <a:lstStyle/>
          <a:p>
            <a:pPr marL="0" indent="0">
              <a:buNone/>
            </a:pPr>
            <a:r>
              <a:rPr lang="en-US" sz="1400" dirty="0">
                <a:solidFill>
                  <a:srgbClr val="B9CBD3"/>
                </a:solidFill>
              </a:rPr>
              <a:t>Waiting, accepted, declined. The dot clears once it has been seen.</a:t>
            </a:r>
            <a:endParaRPr lang="en-US" sz="1400" dirty="0"/>
          </a:p>
        </p:txBody>
      </p:sp>
      <p:sp>
        <p:nvSpPr>
          <p:cNvPr id="13" name="step-3-dot"/>
          <p:cNvSpPr/>
          <p:nvPr/>
        </p:nvSpPr>
        <p:spPr>
          <a:xfrm>
            <a:off x="4480560" y="4389120"/>
            <a:ext cx="457200" cy="457200"/>
          </a:xfrm>
          <a:prstGeom prst="ellipse">
            <a:avLst/>
          </a:prstGeom>
          <a:solidFill>
            <a:srgbClr val="F5B544"/>
          </a:solidFill>
          <a:ln w="12700">
            <a:solidFill>
              <a:srgbClr val="F5B544"/>
            </a:solidFill>
            <a:prstDash val="solid"/>
          </a:ln>
        </p:spPr>
        <p:txBody>
          <a:bodyPr/>
          <a:lstStyle/>
          <a:p>
            <a:endParaRPr lang="en-US"/>
          </a:p>
        </p:txBody>
      </p:sp>
      <p:sp>
        <p:nvSpPr>
          <p:cNvPr id="14" name="Text 10"/>
          <p:cNvSpPr txBox="1"/>
          <p:nvPr/>
        </p:nvSpPr>
        <p:spPr>
          <a:xfrm>
            <a:off x="4480560" y="4389120"/>
            <a:ext cx="457200" cy="457200"/>
          </a:xfrm>
          <a:prstGeom prst="rect">
            <a:avLst/>
          </a:prstGeom>
          <a:noFill/>
          <a:ln/>
        </p:spPr>
        <p:txBody>
          <a:bodyPr wrap="square" lIns="0" tIns="0" rIns="0" bIns="0" rtlCol="0" anchor="ctr"/>
          <a:lstStyle/>
          <a:p>
            <a:pPr marL="0" indent="0" algn="ctr">
              <a:buNone/>
            </a:pPr>
            <a:r>
              <a:rPr lang="en-US" sz="1600" b="1" dirty="0">
                <a:solidFill>
                  <a:srgbClr val="12202B"/>
                </a:solidFill>
              </a:rPr>
              <a:t>3</a:t>
            </a:r>
            <a:endParaRPr lang="en-US" sz="1600" dirty="0"/>
          </a:p>
        </p:txBody>
      </p:sp>
      <p:sp>
        <p:nvSpPr>
          <p:cNvPr id="15" name="Text 11"/>
          <p:cNvSpPr txBox="1"/>
          <p:nvPr/>
        </p:nvSpPr>
        <p:spPr>
          <a:xfrm>
            <a:off x="5166360" y="4334256"/>
            <a:ext cx="6446520" cy="365760"/>
          </a:xfrm>
          <a:prstGeom prst="rect">
            <a:avLst/>
          </a:prstGeom>
          <a:noFill/>
          <a:ln/>
        </p:spPr>
        <p:txBody>
          <a:bodyPr wrap="square" lIns="0" tIns="0" rIns="0" bIns="0" rtlCol="0" anchor="ctr"/>
          <a:lstStyle/>
          <a:p>
            <a:pPr marL="0" indent="0">
              <a:buNone/>
            </a:pPr>
            <a:r>
              <a:rPr lang="en-US" sz="1900" b="1" dirty="0">
                <a:solidFill>
                  <a:srgbClr val="FFFFFF"/>
                </a:solidFill>
              </a:rPr>
              <a:t>A pinned banner in the chat</a:t>
            </a:r>
            <a:endParaRPr lang="en-US" sz="1900" dirty="0"/>
          </a:p>
        </p:txBody>
      </p:sp>
      <p:sp>
        <p:nvSpPr>
          <p:cNvPr id="16" name="Text 12"/>
          <p:cNvSpPr txBox="1"/>
          <p:nvPr/>
        </p:nvSpPr>
        <p:spPr>
          <a:xfrm>
            <a:off x="5166360" y="4718304"/>
            <a:ext cx="6446520" cy="640080"/>
          </a:xfrm>
          <a:prstGeom prst="rect">
            <a:avLst/>
          </a:prstGeom>
          <a:noFill/>
          <a:ln/>
        </p:spPr>
        <p:txBody>
          <a:bodyPr wrap="square" lIns="0" tIns="0" rIns="0" bIns="0" rtlCol="0" anchor="t"/>
          <a:lstStyle/>
          <a:p>
            <a:pPr marL="0" indent="0">
              <a:buNone/>
            </a:pPr>
            <a:r>
              <a:rPr lang="en-US" sz="1400" dirty="0">
                <a:solidFill>
                  <a:srgbClr val="B9CBD3"/>
                </a:solidFill>
              </a:rPr>
              <a:t>A confirmed meetup stays visible, with emergency contacts.</a:t>
            </a:r>
            <a:endParaRPr lang="en-US" sz="1400" dirty="0"/>
          </a:p>
        </p:txBody>
      </p:sp>
      <p:sp>
        <p:nvSpPr>
          <p:cNvPr id="17" name="Text 13"/>
          <p:cNvSpPr txBox="1"/>
          <p:nvPr/>
        </p:nvSpPr>
        <p:spPr>
          <a:xfrm>
            <a:off x="548640" y="6355080"/>
            <a:ext cx="3291840" cy="365760"/>
          </a:xfrm>
          <a:prstGeom prst="rect">
            <a:avLst/>
          </a:prstGeom>
          <a:noFill/>
          <a:ln/>
        </p:spPr>
        <p:txBody>
          <a:bodyPr wrap="square" lIns="0" tIns="0" rIns="0" bIns="0" rtlCol="0" anchor="ctr"/>
          <a:lstStyle/>
          <a:p>
            <a:pPr marL="0" indent="0" algn="ctr">
              <a:buNone/>
            </a:pPr>
            <a:r>
              <a:rPr lang="en-US" sz="1200" dirty="0">
                <a:solidFill>
                  <a:srgbClr val="B9CBD3"/>
                </a:solidFill>
              </a:rPr>
              <a:t>Screen recording of the real app</a:t>
            </a:r>
            <a:endParaRPr lang="en-US" sz="1200" dirty="0"/>
          </a:p>
        </p:txBody>
      </p:sp>
      <p:sp>
        <p:nvSpPr>
          <p:cNvPr id="25" name="Slide Number Placeholder 0"/>
          <p:cNvSpPr>
            <a:spLocks noGrp="1"/>
          </p:cNvSpPr>
          <p:nvPr>
            <p:ph type="sldNum" sz="quarter" idx="4294967295"/>
          </p:nvPr>
        </p:nvSpPr>
        <p:spPr>
          <a:xfrm>
            <a:off x="11155680" y="647395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FA0A9"/>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400" b="1" dirty="0">
                <a:solidFill>
                  <a:schemeClr val="tx1"/>
                </a:solidFill>
              </a:rPr>
              <a:t>How it chooses: five ingredients, one number</a:t>
            </a:r>
            <a:endParaRPr lang="en-US" sz="3400" dirty="0"/>
          </a:p>
        </p:txBody>
      </p:sp>
      <p:sp>
        <p:nvSpPr>
          <p:cNvPr id="4" name="Shape 1"/>
          <p:cNvSpPr/>
          <p:nvPr/>
        </p:nvSpPr>
        <p:spPr>
          <a:xfrm>
            <a:off x="548640" y="1417320"/>
            <a:ext cx="11064240" cy="868680"/>
          </a:xfrm>
          <a:prstGeom prst="roundRect">
            <a:avLst>
              <a:gd name="adj" fmla="val 12632"/>
            </a:avLst>
          </a:prstGeom>
          <a:solidFill>
            <a:srgbClr val="12202B"/>
          </a:solidFill>
          <a:ln w="12700">
            <a:solidFill>
              <a:srgbClr val="12202B"/>
            </a:solidFill>
            <a:prstDash val="solid"/>
          </a:ln>
        </p:spPr>
        <p:txBody>
          <a:bodyPr/>
          <a:lstStyle/>
          <a:p>
            <a:endParaRPr lang="en-US"/>
          </a:p>
        </p:txBody>
      </p:sp>
      <p:sp>
        <p:nvSpPr>
          <p:cNvPr id="5" name="Text 2"/>
          <p:cNvSpPr txBox="1"/>
          <p:nvPr/>
        </p:nvSpPr>
        <p:spPr>
          <a:xfrm>
            <a:off x="548640" y="1417320"/>
            <a:ext cx="11064240" cy="868680"/>
          </a:xfrm>
          <a:prstGeom prst="rect">
            <a:avLst/>
          </a:prstGeom>
          <a:noFill/>
          <a:ln/>
        </p:spPr>
        <p:txBody>
          <a:bodyPr wrap="square" lIns="0" tIns="0" rIns="0" bIns="0" rtlCol="0" anchor="ctr"/>
          <a:lstStyle/>
          <a:p>
            <a:pPr marL="0" indent="0" algn="ctr">
              <a:buNone/>
            </a:pPr>
            <a:r>
              <a:rPr lang="en-US" sz="2800" b="1" dirty="0">
                <a:solidFill>
                  <a:srgbClr val="FFFFFF"/>
                </a:solidFill>
                <a:latin typeface="Cambria" pitchFamily="34" charset="0"/>
                <a:ea typeface="Cambria" pitchFamily="34" charset="-122"/>
                <a:cs typeface="Cambria" pitchFamily="34" charset="-120"/>
              </a:rPr>
              <a:t>S(a,b) = 100 × ( wC·C + wK·K + wT·T + wI·I + wV·V )</a:t>
            </a:r>
            <a:endParaRPr lang="en-US" sz="2800" dirty="0"/>
          </a:p>
        </p:txBody>
      </p:sp>
      <p:sp>
        <p:nvSpPr>
          <p:cNvPr id="6" name="Shape 3"/>
          <p:cNvSpPr/>
          <p:nvPr/>
        </p:nvSpPr>
        <p:spPr>
          <a:xfrm>
            <a:off x="548640" y="2514600"/>
            <a:ext cx="2103120" cy="2240280"/>
          </a:xfrm>
          <a:prstGeom prst="roundRect">
            <a:avLst>
              <a:gd name="adj" fmla="val 5217"/>
            </a:avLst>
          </a:prstGeom>
          <a:solidFill>
            <a:srgbClr val="FFFFFF"/>
          </a:solidFill>
          <a:ln w="12700">
            <a:solidFill>
              <a:srgbClr val="E4E0D6"/>
            </a:solidFill>
            <a:prstDash val="solid"/>
          </a:ln>
        </p:spPr>
        <p:txBody>
          <a:bodyPr/>
          <a:lstStyle/>
          <a:p>
            <a:endParaRPr lang="en-US"/>
          </a:p>
        </p:txBody>
      </p:sp>
      <p:sp>
        <p:nvSpPr>
          <p:cNvPr id="7" name="Shape 4"/>
          <p:cNvSpPr/>
          <p:nvPr/>
        </p:nvSpPr>
        <p:spPr>
          <a:xfrm>
            <a:off x="749808" y="2734056"/>
            <a:ext cx="219456" cy="219456"/>
          </a:xfrm>
          <a:prstGeom prst="ellipse">
            <a:avLst/>
          </a:prstGeom>
          <a:solidFill>
            <a:srgbClr val="0F766E"/>
          </a:solidFill>
          <a:ln w="12700">
            <a:solidFill>
              <a:srgbClr val="0F766E"/>
            </a:solidFill>
            <a:prstDash val="solid"/>
          </a:ln>
        </p:spPr>
        <p:txBody>
          <a:bodyPr/>
          <a:lstStyle/>
          <a:p>
            <a:endParaRPr lang="en-US"/>
          </a:p>
        </p:txBody>
      </p:sp>
      <p:sp>
        <p:nvSpPr>
          <p:cNvPr id="8" name="Text 5"/>
          <p:cNvSpPr txBox="1"/>
          <p:nvPr/>
        </p:nvSpPr>
        <p:spPr>
          <a:xfrm>
            <a:off x="1097280" y="2624328"/>
            <a:ext cx="1371600" cy="438912"/>
          </a:xfrm>
          <a:prstGeom prst="rect">
            <a:avLst/>
          </a:prstGeom>
          <a:noFill/>
          <a:ln/>
        </p:spPr>
        <p:txBody>
          <a:bodyPr wrap="square" lIns="0" tIns="0" rIns="0" bIns="0" rtlCol="0" anchor="ctr"/>
          <a:lstStyle/>
          <a:p>
            <a:pPr marL="0" indent="0">
              <a:buNone/>
            </a:pPr>
            <a:r>
              <a:rPr lang="en-US" sz="1700" b="1" dirty="0">
                <a:solidFill>
                  <a:schemeClr val="tx1"/>
                </a:solidFill>
              </a:rPr>
              <a:t>C · Courses</a:t>
            </a:r>
            <a:endParaRPr lang="en-US" sz="1700" dirty="0"/>
          </a:p>
        </p:txBody>
      </p:sp>
      <p:sp>
        <p:nvSpPr>
          <p:cNvPr id="9" name="Text 6"/>
          <p:cNvSpPr txBox="1"/>
          <p:nvPr/>
        </p:nvSpPr>
        <p:spPr>
          <a:xfrm>
            <a:off x="749808" y="3172968"/>
            <a:ext cx="1700784" cy="1453896"/>
          </a:xfrm>
          <a:prstGeom prst="rect">
            <a:avLst/>
          </a:prstGeom>
          <a:noFill/>
          <a:ln/>
        </p:spPr>
        <p:txBody>
          <a:bodyPr wrap="square" lIns="0" tIns="0" rIns="0" bIns="0" rtlCol="0" anchor="t"/>
          <a:lstStyle/>
          <a:p>
            <a:pPr marL="0" indent="0">
              <a:buNone/>
            </a:pPr>
            <a:r>
              <a:rPr lang="en-US" sz="1400" dirty="0">
                <a:solidFill>
                  <a:srgbClr val="4A5A66"/>
                </a:solidFill>
              </a:rPr>
              <a:t>Do you take the same course section? Sharing a section counts extra.</a:t>
            </a:r>
            <a:endParaRPr lang="en-US" sz="1400" dirty="0"/>
          </a:p>
        </p:txBody>
      </p:sp>
      <p:sp>
        <p:nvSpPr>
          <p:cNvPr id="10" name="Shape 7"/>
          <p:cNvSpPr/>
          <p:nvPr/>
        </p:nvSpPr>
        <p:spPr>
          <a:xfrm>
            <a:off x="2798064" y="2514600"/>
            <a:ext cx="2103120" cy="2240280"/>
          </a:xfrm>
          <a:prstGeom prst="roundRect">
            <a:avLst>
              <a:gd name="adj" fmla="val 5217"/>
            </a:avLst>
          </a:prstGeom>
          <a:solidFill>
            <a:srgbClr val="FFFFFF"/>
          </a:solidFill>
          <a:ln w="12700">
            <a:solidFill>
              <a:srgbClr val="E4E0D6"/>
            </a:solidFill>
            <a:prstDash val="solid"/>
          </a:ln>
        </p:spPr>
        <p:txBody>
          <a:bodyPr/>
          <a:lstStyle/>
          <a:p>
            <a:endParaRPr lang="en-US"/>
          </a:p>
        </p:txBody>
      </p:sp>
      <p:sp>
        <p:nvSpPr>
          <p:cNvPr id="11" name="Shape 8"/>
          <p:cNvSpPr/>
          <p:nvPr/>
        </p:nvSpPr>
        <p:spPr>
          <a:xfrm>
            <a:off x="2999232" y="2734056"/>
            <a:ext cx="219456" cy="219456"/>
          </a:xfrm>
          <a:prstGeom prst="ellipse">
            <a:avLst/>
          </a:prstGeom>
          <a:solidFill>
            <a:srgbClr val="5B3FA6"/>
          </a:solidFill>
          <a:ln w="12700">
            <a:solidFill>
              <a:srgbClr val="5B3FA6"/>
            </a:solidFill>
            <a:prstDash val="solid"/>
          </a:ln>
        </p:spPr>
        <p:txBody>
          <a:bodyPr/>
          <a:lstStyle/>
          <a:p>
            <a:endParaRPr lang="en-US"/>
          </a:p>
        </p:txBody>
      </p:sp>
      <p:sp>
        <p:nvSpPr>
          <p:cNvPr id="12" name="Text 9"/>
          <p:cNvSpPr txBox="1"/>
          <p:nvPr/>
        </p:nvSpPr>
        <p:spPr>
          <a:xfrm>
            <a:off x="3346704" y="2624328"/>
            <a:ext cx="1371600" cy="438912"/>
          </a:xfrm>
          <a:prstGeom prst="rect">
            <a:avLst/>
          </a:prstGeom>
          <a:noFill/>
          <a:ln/>
        </p:spPr>
        <p:txBody>
          <a:bodyPr wrap="square" lIns="0" tIns="0" rIns="0" bIns="0" rtlCol="0" anchor="ctr"/>
          <a:lstStyle/>
          <a:p>
            <a:pPr marL="0" indent="0">
              <a:buNone/>
            </a:pPr>
            <a:r>
              <a:rPr lang="en-US" sz="1700" b="1" dirty="0">
                <a:solidFill>
                  <a:schemeClr val="tx1"/>
                </a:solidFill>
              </a:rPr>
              <a:t>K · Clubs</a:t>
            </a:r>
            <a:endParaRPr lang="en-US" sz="1700" dirty="0"/>
          </a:p>
        </p:txBody>
      </p:sp>
      <p:sp>
        <p:nvSpPr>
          <p:cNvPr id="13" name="Text 10"/>
          <p:cNvSpPr txBox="1"/>
          <p:nvPr/>
        </p:nvSpPr>
        <p:spPr>
          <a:xfrm>
            <a:off x="2999232" y="3172968"/>
            <a:ext cx="1700784" cy="1453896"/>
          </a:xfrm>
          <a:prstGeom prst="rect">
            <a:avLst/>
          </a:prstGeom>
          <a:noFill/>
          <a:ln/>
        </p:spPr>
        <p:txBody>
          <a:bodyPr wrap="square" lIns="0" tIns="0" rIns="0" bIns="0" rtlCol="0" anchor="t"/>
          <a:lstStyle/>
          <a:p>
            <a:pPr marL="0" indent="0">
              <a:buNone/>
            </a:pPr>
            <a:r>
              <a:rPr lang="en-US" sz="1400" dirty="0">
                <a:solidFill>
                  <a:srgbClr val="4A5A66"/>
                </a:solidFill>
              </a:rPr>
              <a:t>Do you belong to the same clubs? Rarer clubs count more.</a:t>
            </a:r>
            <a:endParaRPr lang="en-US" sz="1400" dirty="0"/>
          </a:p>
        </p:txBody>
      </p:sp>
      <p:sp>
        <p:nvSpPr>
          <p:cNvPr id="14" name="Shape 11"/>
          <p:cNvSpPr/>
          <p:nvPr/>
        </p:nvSpPr>
        <p:spPr>
          <a:xfrm>
            <a:off x="5047488" y="2514600"/>
            <a:ext cx="2103120" cy="2240280"/>
          </a:xfrm>
          <a:prstGeom prst="roundRect">
            <a:avLst>
              <a:gd name="adj" fmla="val 5217"/>
            </a:avLst>
          </a:prstGeom>
          <a:solidFill>
            <a:srgbClr val="FFFFFF"/>
          </a:solidFill>
          <a:ln w="12700">
            <a:solidFill>
              <a:srgbClr val="E4E0D6"/>
            </a:solidFill>
            <a:prstDash val="solid"/>
          </a:ln>
        </p:spPr>
        <p:txBody>
          <a:bodyPr/>
          <a:lstStyle/>
          <a:p>
            <a:endParaRPr lang="en-US"/>
          </a:p>
        </p:txBody>
      </p:sp>
      <p:sp>
        <p:nvSpPr>
          <p:cNvPr id="15" name="Shape 12"/>
          <p:cNvSpPr/>
          <p:nvPr/>
        </p:nvSpPr>
        <p:spPr>
          <a:xfrm>
            <a:off x="5248656" y="2734056"/>
            <a:ext cx="219456" cy="219456"/>
          </a:xfrm>
          <a:prstGeom prst="ellipse">
            <a:avLst/>
          </a:prstGeom>
          <a:solidFill>
            <a:srgbClr val="B7791F"/>
          </a:solidFill>
          <a:ln w="12700">
            <a:solidFill>
              <a:srgbClr val="B7791F"/>
            </a:solidFill>
            <a:prstDash val="solid"/>
          </a:ln>
        </p:spPr>
        <p:txBody>
          <a:bodyPr/>
          <a:lstStyle/>
          <a:p>
            <a:endParaRPr lang="en-US"/>
          </a:p>
        </p:txBody>
      </p:sp>
      <p:sp>
        <p:nvSpPr>
          <p:cNvPr id="16" name="Text 13"/>
          <p:cNvSpPr txBox="1"/>
          <p:nvPr/>
        </p:nvSpPr>
        <p:spPr>
          <a:xfrm>
            <a:off x="5596128" y="2624328"/>
            <a:ext cx="1371600" cy="438912"/>
          </a:xfrm>
          <a:prstGeom prst="rect">
            <a:avLst/>
          </a:prstGeom>
          <a:noFill/>
          <a:ln/>
        </p:spPr>
        <p:txBody>
          <a:bodyPr wrap="square" lIns="0" tIns="0" rIns="0" bIns="0" rtlCol="0" anchor="ctr"/>
          <a:lstStyle/>
          <a:p>
            <a:pPr marL="0" indent="0">
              <a:buNone/>
            </a:pPr>
            <a:r>
              <a:rPr lang="en-US" sz="1700" b="1" dirty="0">
                <a:solidFill>
                  <a:schemeClr val="tx1"/>
                </a:solidFill>
              </a:rPr>
              <a:t>T · Free time</a:t>
            </a:r>
            <a:endParaRPr lang="en-US" sz="1700" dirty="0"/>
          </a:p>
        </p:txBody>
      </p:sp>
      <p:sp>
        <p:nvSpPr>
          <p:cNvPr id="17" name="Text 14"/>
          <p:cNvSpPr txBox="1"/>
          <p:nvPr/>
        </p:nvSpPr>
        <p:spPr>
          <a:xfrm>
            <a:off x="5248656" y="3172968"/>
            <a:ext cx="1700784" cy="1453896"/>
          </a:xfrm>
          <a:prstGeom prst="rect">
            <a:avLst/>
          </a:prstGeom>
          <a:noFill/>
          <a:ln/>
        </p:spPr>
        <p:txBody>
          <a:bodyPr wrap="square" lIns="0" tIns="0" rIns="0" bIns="0" rtlCol="0" anchor="t"/>
          <a:lstStyle/>
          <a:p>
            <a:pPr marL="0" indent="0">
              <a:buNone/>
            </a:pPr>
            <a:r>
              <a:rPr lang="en-US" sz="1400" dirty="0">
                <a:solidFill>
                  <a:srgbClr val="4A5A66"/>
                </a:solidFill>
              </a:rPr>
              <a:t>Do your weekly free hours line up? A shared campus spot adds a little.</a:t>
            </a:r>
            <a:endParaRPr lang="en-US" sz="1400" dirty="0"/>
          </a:p>
        </p:txBody>
      </p:sp>
      <p:sp>
        <p:nvSpPr>
          <p:cNvPr id="18" name="Shape 15"/>
          <p:cNvSpPr/>
          <p:nvPr/>
        </p:nvSpPr>
        <p:spPr>
          <a:xfrm>
            <a:off x="7296912" y="2514600"/>
            <a:ext cx="2103120" cy="2240280"/>
          </a:xfrm>
          <a:prstGeom prst="roundRect">
            <a:avLst>
              <a:gd name="adj" fmla="val 5217"/>
            </a:avLst>
          </a:prstGeom>
          <a:solidFill>
            <a:srgbClr val="FFFFFF"/>
          </a:solidFill>
          <a:ln w="12700">
            <a:solidFill>
              <a:srgbClr val="E4E0D6"/>
            </a:solidFill>
            <a:prstDash val="solid"/>
          </a:ln>
        </p:spPr>
        <p:txBody>
          <a:bodyPr/>
          <a:lstStyle/>
          <a:p>
            <a:endParaRPr lang="en-US"/>
          </a:p>
        </p:txBody>
      </p:sp>
      <p:sp>
        <p:nvSpPr>
          <p:cNvPr id="19" name="Shape 16"/>
          <p:cNvSpPr/>
          <p:nvPr/>
        </p:nvSpPr>
        <p:spPr>
          <a:xfrm>
            <a:off x="7498080" y="2734056"/>
            <a:ext cx="219456" cy="219456"/>
          </a:xfrm>
          <a:prstGeom prst="ellipse">
            <a:avLst/>
          </a:prstGeom>
          <a:solidFill>
            <a:srgbClr val="2E9E6B"/>
          </a:solidFill>
          <a:ln w="12700">
            <a:solidFill>
              <a:srgbClr val="2E9E6B"/>
            </a:solidFill>
            <a:prstDash val="solid"/>
          </a:ln>
        </p:spPr>
        <p:txBody>
          <a:bodyPr/>
          <a:lstStyle/>
          <a:p>
            <a:endParaRPr lang="en-US"/>
          </a:p>
        </p:txBody>
      </p:sp>
      <p:sp>
        <p:nvSpPr>
          <p:cNvPr id="20" name="Text 17"/>
          <p:cNvSpPr txBox="1"/>
          <p:nvPr/>
        </p:nvSpPr>
        <p:spPr>
          <a:xfrm>
            <a:off x="7845552" y="2624328"/>
            <a:ext cx="1371600" cy="438912"/>
          </a:xfrm>
          <a:prstGeom prst="rect">
            <a:avLst/>
          </a:prstGeom>
          <a:noFill/>
          <a:ln/>
        </p:spPr>
        <p:txBody>
          <a:bodyPr wrap="square" lIns="0" tIns="0" rIns="0" bIns="0" rtlCol="0" anchor="ctr"/>
          <a:lstStyle/>
          <a:p>
            <a:pPr marL="0" indent="0">
              <a:buNone/>
            </a:pPr>
            <a:r>
              <a:rPr lang="en-US" sz="1700" b="1" dirty="0">
                <a:solidFill>
                  <a:schemeClr val="tx1"/>
                </a:solidFill>
              </a:rPr>
              <a:t>I · Interests</a:t>
            </a:r>
            <a:endParaRPr lang="en-US" sz="1700" dirty="0"/>
          </a:p>
        </p:txBody>
      </p:sp>
      <p:sp>
        <p:nvSpPr>
          <p:cNvPr id="21" name="Text 18"/>
          <p:cNvSpPr txBox="1"/>
          <p:nvPr/>
        </p:nvSpPr>
        <p:spPr>
          <a:xfrm>
            <a:off x="7498080" y="3172968"/>
            <a:ext cx="1700784" cy="1453896"/>
          </a:xfrm>
          <a:prstGeom prst="rect">
            <a:avLst/>
          </a:prstGeom>
          <a:noFill/>
          <a:ln/>
        </p:spPr>
        <p:txBody>
          <a:bodyPr wrap="square" lIns="0" tIns="0" rIns="0" bIns="0" rtlCol="0" anchor="t"/>
          <a:lstStyle/>
          <a:p>
            <a:pPr marL="0" indent="0">
              <a:buNone/>
            </a:pPr>
            <a:r>
              <a:rPr lang="en-US" sz="1400" dirty="0">
                <a:solidFill>
                  <a:srgbClr val="4A5A66"/>
                </a:solidFill>
              </a:rPr>
              <a:t>Do you like the same things, such as photography or board games?</a:t>
            </a:r>
            <a:endParaRPr lang="en-US" sz="1400" dirty="0"/>
          </a:p>
        </p:txBody>
      </p:sp>
      <p:sp>
        <p:nvSpPr>
          <p:cNvPr id="22" name="Shape 19"/>
          <p:cNvSpPr/>
          <p:nvPr/>
        </p:nvSpPr>
        <p:spPr>
          <a:xfrm>
            <a:off x="9546336" y="2514600"/>
            <a:ext cx="2103120" cy="2240280"/>
          </a:xfrm>
          <a:prstGeom prst="roundRect">
            <a:avLst>
              <a:gd name="adj" fmla="val 5217"/>
            </a:avLst>
          </a:prstGeom>
          <a:solidFill>
            <a:srgbClr val="FFFFFF"/>
          </a:solidFill>
          <a:ln w="12700">
            <a:solidFill>
              <a:srgbClr val="E4E0D6"/>
            </a:solidFill>
            <a:prstDash val="solid"/>
          </a:ln>
        </p:spPr>
        <p:txBody>
          <a:bodyPr/>
          <a:lstStyle/>
          <a:p>
            <a:endParaRPr lang="en-US"/>
          </a:p>
        </p:txBody>
      </p:sp>
      <p:sp>
        <p:nvSpPr>
          <p:cNvPr id="23" name="Shape 20"/>
          <p:cNvSpPr/>
          <p:nvPr/>
        </p:nvSpPr>
        <p:spPr>
          <a:xfrm>
            <a:off x="9747504" y="2734056"/>
            <a:ext cx="219456" cy="219456"/>
          </a:xfrm>
          <a:prstGeom prst="ellipse">
            <a:avLst/>
          </a:prstGeom>
          <a:solidFill>
            <a:srgbClr val="D64550"/>
          </a:solidFill>
          <a:ln w="12700">
            <a:solidFill>
              <a:srgbClr val="D64550"/>
            </a:solidFill>
            <a:prstDash val="solid"/>
          </a:ln>
        </p:spPr>
        <p:txBody>
          <a:bodyPr/>
          <a:lstStyle/>
          <a:p>
            <a:endParaRPr lang="en-US"/>
          </a:p>
        </p:txBody>
      </p:sp>
      <p:sp>
        <p:nvSpPr>
          <p:cNvPr id="24" name="Text 21"/>
          <p:cNvSpPr txBox="1"/>
          <p:nvPr/>
        </p:nvSpPr>
        <p:spPr>
          <a:xfrm>
            <a:off x="10094976" y="2624328"/>
            <a:ext cx="1371600" cy="438912"/>
          </a:xfrm>
          <a:prstGeom prst="rect">
            <a:avLst/>
          </a:prstGeom>
          <a:noFill/>
          <a:ln/>
        </p:spPr>
        <p:txBody>
          <a:bodyPr wrap="square" lIns="0" tIns="0" rIns="0" bIns="0" rtlCol="0" anchor="ctr"/>
          <a:lstStyle/>
          <a:p>
            <a:pPr marL="0" indent="0">
              <a:buNone/>
            </a:pPr>
            <a:r>
              <a:rPr lang="en-US" sz="1700" b="1" dirty="0">
                <a:solidFill>
                  <a:schemeClr val="tx1"/>
                </a:solidFill>
              </a:rPr>
              <a:t>V · Values</a:t>
            </a:r>
            <a:endParaRPr lang="en-US" sz="1700" dirty="0"/>
          </a:p>
        </p:txBody>
      </p:sp>
      <p:sp>
        <p:nvSpPr>
          <p:cNvPr id="25" name="Text 22"/>
          <p:cNvSpPr txBox="1"/>
          <p:nvPr/>
        </p:nvSpPr>
        <p:spPr>
          <a:xfrm>
            <a:off x="9747504" y="3172968"/>
            <a:ext cx="1700784" cy="1453896"/>
          </a:xfrm>
          <a:prstGeom prst="rect">
            <a:avLst/>
          </a:prstGeom>
          <a:noFill/>
          <a:ln/>
        </p:spPr>
        <p:txBody>
          <a:bodyPr wrap="square" lIns="0" tIns="0" rIns="0" bIns="0" rtlCol="0" anchor="t"/>
          <a:lstStyle/>
          <a:p>
            <a:pPr marL="0" indent="0">
              <a:buNone/>
            </a:pPr>
            <a:r>
              <a:rPr lang="en-US" sz="1400" dirty="0">
                <a:solidFill>
                  <a:srgbClr val="4A5A66"/>
                </a:solidFill>
              </a:rPr>
              <a:t>How close are your answers to eight short "agree or disagree" statements?</a:t>
            </a:r>
            <a:endParaRPr lang="en-US" sz="1400" dirty="0"/>
          </a:p>
        </p:txBody>
      </p:sp>
      <p:sp>
        <p:nvSpPr>
          <p:cNvPr id="26" name="Shape 23"/>
          <p:cNvSpPr/>
          <p:nvPr/>
        </p:nvSpPr>
        <p:spPr>
          <a:xfrm>
            <a:off x="548640" y="5029200"/>
            <a:ext cx="11064240" cy="1143000"/>
          </a:xfrm>
          <a:prstGeom prst="roundRect">
            <a:avLst>
              <a:gd name="adj" fmla="val 9600"/>
            </a:avLst>
          </a:prstGeom>
          <a:solidFill>
            <a:srgbClr val="E6F3F1"/>
          </a:solidFill>
          <a:ln w="12700">
            <a:solidFill>
              <a:srgbClr val="E6F3F1"/>
            </a:solidFill>
            <a:prstDash val="solid"/>
          </a:ln>
        </p:spPr>
        <p:txBody>
          <a:bodyPr/>
          <a:lstStyle/>
          <a:p>
            <a:endParaRPr lang="en-US"/>
          </a:p>
        </p:txBody>
      </p:sp>
      <p:sp>
        <p:nvSpPr>
          <p:cNvPr id="27" name="Text 24"/>
          <p:cNvSpPr txBox="1"/>
          <p:nvPr/>
        </p:nvSpPr>
        <p:spPr>
          <a:xfrm>
            <a:off x="777240" y="5157216"/>
            <a:ext cx="10607040" cy="256032"/>
          </a:xfrm>
          <a:prstGeom prst="rect">
            <a:avLst/>
          </a:prstGeom>
          <a:noFill/>
          <a:ln/>
        </p:spPr>
        <p:txBody>
          <a:bodyPr wrap="square" lIns="0" tIns="0" rIns="0" bIns="0" rtlCol="0" anchor="ctr"/>
          <a:lstStyle/>
          <a:p>
            <a:pPr marL="0" indent="0">
              <a:buNone/>
            </a:pPr>
            <a:r>
              <a:rPr lang="en-US" sz="1100" b="1" kern="0" spc="200" dirty="0">
                <a:solidFill>
                  <a:srgbClr val="0F766E"/>
                </a:solidFill>
              </a:rPr>
              <a:t>IN PLAIN WORDS</a:t>
            </a:r>
            <a:endParaRPr lang="en-US" sz="1100" dirty="0"/>
          </a:p>
        </p:txBody>
      </p:sp>
      <p:sp>
        <p:nvSpPr>
          <p:cNvPr id="28" name="Text 25"/>
          <p:cNvSpPr txBox="1"/>
          <p:nvPr/>
        </p:nvSpPr>
        <p:spPr>
          <a:xfrm>
            <a:off x="777240" y="5449824"/>
            <a:ext cx="10607040" cy="612648"/>
          </a:xfrm>
          <a:prstGeom prst="rect">
            <a:avLst/>
          </a:prstGeom>
          <a:noFill/>
          <a:ln/>
        </p:spPr>
        <p:txBody>
          <a:bodyPr wrap="square" lIns="0" tIns="0" rIns="0" bIns="0" rtlCol="0" anchor="t"/>
          <a:lstStyle/>
          <a:p>
            <a:pPr marL="0" indent="0">
              <a:buNone/>
            </a:pPr>
            <a:r>
              <a:rPr lang="en-US" sz="1500" dirty="0">
                <a:solidFill>
                  <a:schemeClr val="tx1"/>
                </a:solidFill>
              </a:rPr>
              <a:t>Each ingredient answers one simple question about two people. The app blends the five answers into one score. A higher score means more in common.</a:t>
            </a:r>
            <a:endParaRPr lang="en-US" sz="1500" dirty="0"/>
          </a:p>
        </p:txBody>
      </p:sp>
      <p:sp>
        <p:nvSpPr>
          <p:cNvPr id="3" name="Slide Number Placeholder 0"/>
          <p:cNvSpPr>
            <a:spLocks noGrp="1"/>
          </p:cNvSpPr>
          <p:nvPr>
            <p:ph type="sldNum" sz="quarter" idx="4294967295"/>
          </p:nvPr>
        </p:nvSpPr>
        <p:spPr>
          <a:xfrm>
            <a:off x="11155680" y="647395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400" b="1" dirty="0">
                <a:solidFill>
                  <a:schemeClr val="tx1"/>
                </a:solidFill>
              </a:rPr>
              <a:t>Rare things count more than common things</a:t>
            </a:r>
            <a:endParaRPr lang="en-US" sz="3400" dirty="0"/>
          </a:p>
        </p:txBody>
      </p:sp>
      <p:graphicFrame>
        <p:nvGraphicFramePr>
          <p:cNvPr id="4" name="Chart 0"/>
          <p:cNvGraphicFramePr/>
          <p:nvPr/>
        </p:nvGraphicFramePr>
        <p:xfrm>
          <a:off x="548640" y="1371600"/>
          <a:ext cx="6583680" cy="420624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1"/>
          <p:cNvSpPr txBox="1"/>
          <p:nvPr/>
        </p:nvSpPr>
        <p:spPr>
          <a:xfrm>
            <a:off x="7498080" y="1463040"/>
            <a:ext cx="4114800" cy="548640"/>
          </a:xfrm>
          <a:prstGeom prst="rect">
            <a:avLst/>
          </a:prstGeom>
          <a:noFill/>
          <a:ln/>
        </p:spPr>
        <p:txBody>
          <a:bodyPr wrap="square" lIns="0" tIns="0" rIns="0" bIns="0" rtlCol="0" anchor="ctr"/>
          <a:lstStyle/>
          <a:p>
            <a:pPr marL="0" indent="0">
              <a:buNone/>
            </a:pPr>
            <a:r>
              <a:rPr lang="en-US" sz="2400" b="1" dirty="0">
                <a:solidFill>
                  <a:srgbClr val="12202B"/>
                </a:solidFill>
                <a:latin typeface="Cambria" pitchFamily="34" charset="0"/>
                <a:ea typeface="Cambria" pitchFamily="34" charset="-122"/>
                <a:cs typeface="Cambria" pitchFamily="34" charset="-120"/>
              </a:rPr>
              <a:t>w(x) = ln( N / (1 + n) )</a:t>
            </a:r>
            <a:endParaRPr lang="en-US" sz="2400" dirty="0"/>
          </a:p>
        </p:txBody>
      </p:sp>
      <p:sp>
        <p:nvSpPr>
          <p:cNvPr id="6" name="Text 2"/>
          <p:cNvSpPr txBox="1"/>
          <p:nvPr/>
        </p:nvSpPr>
        <p:spPr>
          <a:xfrm>
            <a:off x="7498080" y="2011680"/>
            <a:ext cx="4114800" cy="548640"/>
          </a:xfrm>
          <a:prstGeom prst="rect">
            <a:avLst/>
          </a:prstGeom>
          <a:noFill/>
          <a:ln/>
        </p:spPr>
        <p:txBody>
          <a:bodyPr wrap="square" lIns="0" tIns="0" rIns="0" bIns="0" rtlCol="0" anchor="t"/>
          <a:lstStyle/>
          <a:p>
            <a:pPr marL="0" indent="0">
              <a:buNone/>
            </a:pPr>
            <a:r>
              <a:rPr lang="en-US" sz="1400" dirty="0">
                <a:solidFill>
                  <a:srgbClr val="4A5A66"/>
                </a:solidFill>
              </a:rPr>
              <a:t>N = students on campus, n = students who share it</a:t>
            </a:r>
            <a:endParaRPr lang="en-US" sz="1400" dirty="0"/>
          </a:p>
        </p:txBody>
      </p:sp>
      <p:sp>
        <p:nvSpPr>
          <p:cNvPr id="7" name="Shape 3"/>
          <p:cNvSpPr/>
          <p:nvPr/>
        </p:nvSpPr>
        <p:spPr>
          <a:xfrm>
            <a:off x="7498080" y="2743200"/>
            <a:ext cx="4114800" cy="1325880"/>
          </a:xfrm>
          <a:prstGeom prst="roundRect">
            <a:avLst>
              <a:gd name="adj" fmla="val 8276"/>
            </a:avLst>
          </a:prstGeom>
          <a:solidFill>
            <a:srgbClr val="FFFFFF"/>
          </a:solidFill>
          <a:ln w="12700">
            <a:solidFill>
              <a:srgbClr val="E4E0D6"/>
            </a:solidFill>
            <a:prstDash val="solid"/>
          </a:ln>
        </p:spPr>
        <p:txBody>
          <a:bodyPr/>
          <a:lstStyle/>
          <a:p>
            <a:endParaRPr lang="en-US"/>
          </a:p>
        </p:txBody>
      </p:sp>
      <p:sp>
        <p:nvSpPr>
          <p:cNvPr id="8" name="Shape 4"/>
          <p:cNvSpPr/>
          <p:nvPr/>
        </p:nvSpPr>
        <p:spPr>
          <a:xfrm>
            <a:off x="7699248" y="2962656"/>
            <a:ext cx="219456" cy="219456"/>
          </a:xfrm>
          <a:prstGeom prst="ellipse">
            <a:avLst/>
          </a:prstGeom>
          <a:solidFill>
            <a:srgbClr val="0F766E"/>
          </a:solidFill>
          <a:ln w="12700">
            <a:solidFill>
              <a:srgbClr val="0F766E"/>
            </a:solidFill>
            <a:prstDash val="solid"/>
          </a:ln>
        </p:spPr>
        <p:txBody>
          <a:bodyPr/>
          <a:lstStyle/>
          <a:p>
            <a:endParaRPr lang="en-US"/>
          </a:p>
        </p:txBody>
      </p:sp>
      <p:sp>
        <p:nvSpPr>
          <p:cNvPr id="9" name="Text 5"/>
          <p:cNvSpPr txBox="1"/>
          <p:nvPr/>
        </p:nvSpPr>
        <p:spPr>
          <a:xfrm>
            <a:off x="8046720" y="2852928"/>
            <a:ext cx="3383280" cy="438912"/>
          </a:xfrm>
          <a:prstGeom prst="rect">
            <a:avLst/>
          </a:prstGeom>
          <a:noFill/>
          <a:ln/>
        </p:spPr>
        <p:txBody>
          <a:bodyPr wrap="square" lIns="0" tIns="0" rIns="0" bIns="0" rtlCol="0" anchor="ctr"/>
          <a:lstStyle/>
          <a:p>
            <a:pPr marL="0" indent="0">
              <a:buNone/>
            </a:pPr>
            <a:r>
              <a:rPr lang="en-US" sz="1700" b="1" dirty="0">
                <a:solidFill>
                  <a:schemeClr val="tx1"/>
                </a:solidFill>
              </a:rPr>
              <a:t>A club of 3 people</a:t>
            </a:r>
            <a:endParaRPr lang="en-US" sz="1700" dirty="0"/>
          </a:p>
        </p:txBody>
      </p:sp>
      <p:sp>
        <p:nvSpPr>
          <p:cNvPr id="10" name="Text 6"/>
          <p:cNvSpPr txBox="1"/>
          <p:nvPr/>
        </p:nvSpPr>
        <p:spPr>
          <a:xfrm>
            <a:off x="7699248" y="3401568"/>
            <a:ext cx="3712464" cy="539496"/>
          </a:xfrm>
          <a:prstGeom prst="rect">
            <a:avLst/>
          </a:prstGeom>
          <a:noFill/>
          <a:ln/>
        </p:spPr>
        <p:txBody>
          <a:bodyPr wrap="square" lIns="0" tIns="0" rIns="0" bIns="0" rtlCol="0" anchor="t"/>
          <a:lstStyle/>
          <a:p>
            <a:pPr marL="0" indent="0">
              <a:buNone/>
            </a:pPr>
            <a:r>
              <a:rPr lang="en-US" sz="1400" dirty="0">
                <a:solidFill>
                  <a:srgbClr val="4A5A66"/>
                </a:solidFill>
              </a:rPr>
              <a:t>Sharing it is a strong signal: weight 3.22.</a:t>
            </a:r>
            <a:endParaRPr lang="en-US" sz="1400" dirty="0"/>
          </a:p>
        </p:txBody>
      </p:sp>
      <p:sp>
        <p:nvSpPr>
          <p:cNvPr id="11" name="Shape 7"/>
          <p:cNvSpPr/>
          <p:nvPr/>
        </p:nvSpPr>
        <p:spPr>
          <a:xfrm>
            <a:off x="7498080" y="4206240"/>
            <a:ext cx="4114800" cy="1325880"/>
          </a:xfrm>
          <a:prstGeom prst="roundRect">
            <a:avLst>
              <a:gd name="adj" fmla="val 8276"/>
            </a:avLst>
          </a:prstGeom>
          <a:solidFill>
            <a:srgbClr val="FFFFFF"/>
          </a:solidFill>
          <a:ln w="12700">
            <a:solidFill>
              <a:srgbClr val="E4E0D6"/>
            </a:solidFill>
            <a:prstDash val="solid"/>
          </a:ln>
        </p:spPr>
        <p:txBody>
          <a:bodyPr/>
          <a:lstStyle/>
          <a:p>
            <a:endParaRPr lang="en-US"/>
          </a:p>
        </p:txBody>
      </p:sp>
      <p:sp>
        <p:nvSpPr>
          <p:cNvPr id="12" name="Shape 8"/>
          <p:cNvSpPr/>
          <p:nvPr/>
        </p:nvSpPr>
        <p:spPr>
          <a:xfrm>
            <a:off x="7699248" y="4425696"/>
            <a:ext cx="219456" cy="219456"/>
          </a:xfrm>
          <a:prstGeom prst="ellipse">
            <a:avLst/>
          </a:prstGeom>
          <a:solidFill>
            <a:srgbClr val="B7791F"/>
          </a:solidFill>
          <a:ln w="12700">
            <a:solidFill>
              <a:srgbClr val="B7791F"/>
            </a:solidFill>
            <a:prstDash val="solid"/>
          </a:ln>
        </p:spPr>
        <p:txBody>
          <a:bodyPr/>
          <a:lstStyle/>
          <a:p>
            <a:endParaRPr lang="en-US"/>
          </a:p>
        </p:txBody>
      </p:sp>
      <p:sp>
        <p:nvSpPr>
          <p:cNvPr id="13" name="Text 9"/>
          <p:cNvSpPr txBox="1"/>
          <p:nvPr/>
        </p:nvSpPr>
        <p:spPr>
          <a:xfrm>
            <a:off x="8046720" y="4315968"/>
            <a:ext cx="3383280" cy="438912"/>
          </a:xfrm>
          <a:prstGeom prst="rect">
            <a:avLst/>
          </a:prstGeom>
          <a:noFill/>
          <a:ln/>
        </p:spPr>
        <p:txBody>
          <a:bodyPr wrap="square" lIns="0" tIns="0" rIns="0" bIns="0" rtlCol="0" anchor="ctr"/>
          <a:lstStyle/>
          <a:p>
            <a:pPr marL="0" indent="0">
              <a:buNone/>
            </a:pPr>
            <a:r>
              <a:rPr lang="en-US" sz="1700" b="1" dirty="0">
                <a:solidFill>
                  <a:schemeClr val="tx1"/>
                </a:solidFill>
              </a:rPr>
              <a:t>A course of 60 people</a:t>
            </a:r>
            <a:endParaRPr lang="en-US" sz="1700" dirty="0"/>
          </a:p>
        </p:txBody>
      </p:sp>
      <p:sp>
        <p:nvSpPr>
          <p:cNvPr id="14" name="Text 10"/>
          <p:cNvSpPr txBox="1"/>
          <p:nvPr/>
        </p:nvSpPr>
        <p:spPr>
          <a:xfrm>
            <a:off x="7699248" y="4864608"/>
            <a:ext cx="3712464" cy="539496"/>
          </a:xfrm>
          <a:prstGeom prst="rect">
            <a:avLst/>
          </a:prstGeom>
          <a:noFill/>
          <a:ln/>
        </p:spPr>
        <p:txBody>
          <a:bodyPr wrap="square" lIns="0" tIns="0" rIns="0" bIns="0" rtlCol="0" anchor="t"/>
          <a:lstStyle/>
          <a:p>
            <a:pPr marL="0" indent="0">
              <a:buNone/>
            </a:pPr>
            <a:r>
              <a:rPr lang="en-US" sz="1400" dirty="0">
                <a:solidFill>
                  <a:srgbClr val="4A5A66"/>
                </a:solidFill>
              </a:rPr>
              <a:t>Sharing it says much less: weight 0.49.</a:t>
            </a:r>
            <a:endParaRPr lang="en-US" sz="1400" dirty="0"/>
          </a:p>
        </p:txBody>
      </p:sp>
      <p:sp>
        <p:nvSpPr>
          <p:cNvPr id="15" name="Shape 11"/>
          <p:cNvSpPr/>
          <p:nvPr/>
        </p:nvSpPr>
        <p:spPr>
          <a:xfrm>
            <a:off x="548640" y="5669280"/>
            <a:ext cx="11064240" cy="777240"/>
          </a:xfrm>
          <a:prstGeom prst="roundRect">
            <a:avLst>
              <a:gd name="adj" fmla="val 14118"/>
            </a:avLst>
          </a:prstGeom>
          <a:solidFill>
            <a:srgbClr val="E6F3F1"/>
          </a:solidFill>
          <a:ln w="12700">
            <a:solidFill>
              <a:srgbClr val="E6F3F1"/>
            </a:solidFill>
            <a:prstDash val="solid"/>
          </a:ln>
        </p:spPr>
        <p:txBody>
          <a:bodyPr/>
          <a:lstStyle/>
          <a:p>
            <a:endParaRPr lang="en-US"/>
          </a:p>
        </p:txBody>
      </p:sp>
      <p:sp>
        <p:nvSpPr>
          <p:cNvPr id="16" name="Text 12"/>
          <p:cNvSpPr txBox="1"/>
          <p:nvPr/>
        </p:nvSpPr>
        <p:spPr>
          <a:xfrm>
            <a:off x="777240" y="5797296"/>
            <a:ext cx="10607040" cy="256032"/>
          </a:xfrm>
          <a:prstGeom prst="rect">
            <a:avLst/>
          </a:prstGeom>
          <a:noFill/>
          <a:ln/>
        </p:spPr>
        <p:txBody>
          <a:bodyPr wrap="square" lIns="0" tIns="0" rIns="0" bIns="0" rtlCol="0" anchor="ctr"/>
          <a:lstStyle/>
          <a:p>
            <a:pPr marL="0" indent="0">
              <a:buNone/>
            </a:pPr>
            <a:r>
              <a:rPr lang="en-US" sz="1100" b="1" kern="0" spc="200" dirty="0">
                <a:solidFill>
                  <a:srgbClr val="0F766E"/>
                </a:solidFill>
              </a:rPr>
              <a:t>IN PLAIN WORDS</a:t>
            </a:r>
            <a:endParaRPr lang="en-US" sz="1100" dirty="0"/>
          </a:p>
        </p:txBody>
      </p:sp>
      <p:sp>
        <p:nvSpPr>
          <p:cNvPr id="17" name="Text 13"/>
          <p:cNvSpPr txBox="1"/>
          <p:nvPr/>
        </p:nvSpPr>
        <p:spPr>
          <a:xfrm>
            <a:off x="777240" y="6089904"/>
            <a:ext cx="10607040" cy="246888"/>
          </a:xfrm>
          <a:prstGeom prst="rect">
            <a:avLst/>
          </a:prstGeom>
          <a:noFill/>
          <a:ln/>
        </p:spPr>
        <p:txBody>
          <a:bodyPr wrap="square" lIns="0" tIns="0" rIns="0" bIns="0" rtlCol="0" anchor="t"/>
          <a:lstStyle/>
          <a:p>
            <a:pPr marL="0" indent="0">
              <a:buNone/>
            </a:pPr>
            <a:r>
              <a:rPr lang="en-US" sz="1500" dirty="0">
                <a:solidFill>
                  <a:schemeClr val="tx1"/>
                </a:solidFill>
              </a:rPr>
              <a:t>If everybody has it, it does not make you special. If almost nobody has it, it matters a lot.</a:t>
            </a:r>
            <a:endParaRPr lang="en-US" sz="1500" dirty="0"/>
          </a:p>
        </p:txBody>
      </p:sp>
      <p:sp>
        <p:nvSpPr>
          <p:cNvPr id="25" name="Slide Number Placeholder 0"/>
          <p:cNvSpPr>
            <a:spLocks noGrp="1"/>
          </p:cNvSpPr>
          <p:nvPr>
            <p:ph type="sldNum" sz="quarter" idx="4294967295"/>
          </p:nvPr>
        </p:nvSpPr>
        <p:spPr>
          <a:xfrm>
            <a:off x="11155680" y="647395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400" b="1" dirty="0">
                <a:solidFill>
                  <a:schemeClr val="tx1"/>
                </a:solidFill>
              </a:rPr>
              <a:t>Worked example: Emma and Liam score 43.7 in Friends mode</a:t>
            </a:r>
            <a:endParaRPr lang="en-US" sz="34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5394960" cy="914400"/>
        </p:xfrm>
        <a:graphic>
          <a:graphicData uri="http://schemas.openxmlformats.org/drawingml/2006/table">
            <a:tbl>
              <a:tblPr/>
              <a:tblGrid>
                <a:gridCol w="192024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tblGrid>
              <a:tr h="420624">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Ingredient</a:t>
                      </a:r>
                      <a:endParaRPr lang="en-US" sz="1400" dirty="0">
                        <a:latin typeface="Calibri" charset="0"/>
                        <a:ea typeface="Calibri" charset="0"/>
                        <a:cs typeface="Calibri" charset="0"/>
                      </a:endParaRPr>
                    </a:p>
                  </a:txBody>
                  <a:tcPr anchor="ctr">
                    <a:lnL w="12700" cap="flat" cmpd="sng" algn="ctr">
                      <a:solidFill>
                        <a:srgbClr val="E4E0D6"/>
                      </a:solidFill>
                      <a:prstDash val="solid"/>
                      <a:round/>
                      <a:headEnd type="none" w="med" len="med"/>
                      <a:tailEnd type="none" w="med" len="med"/>
                    </a:lnL>
                    <a:lnR w="12700" cap="flat" cmpd="sng" algn="ctr">
                      <a:solidFill>
                        <a:srgbClr val="E4E0D6"/>
                      </a:solidFill>
                      <a:prstDash val="solid"/>
                      <a:round/>
                      <a:headEnd type="none" w="med" len="med"/>
                      <a:tailEnd type="none" w="med" len="med"/>
                    </a:lnR>
                    <a:lnT w="12700" cap="flat" cmpd="sng" algn="ctr">
                      <a:solidFill>
                        <a:srgbClr val="E4E0D6"/>
                      </a:solidFill>
                      <a:prstDash val="solid"/>
                      <a:round/>
                      <a:headEnd type="none" w="med" len="med"/>
                      <a:tailEnd type="none" w="med" len="med"/>
                    </a:lnT>
                    <a:lnB w="12700" cap="flat" cmpd="sng" algn="ctr">
                      <a:solidFill>
                        <a:srgbClr val="E4E0D6"/>
                      </a:solidFill>
                      <a:prstDash val="solid"/>
                      <a:round/>
                      <a:headEnd type="none" w="med" len="med"/>
                      <a:tailEnd type="none" w="med" len="med"/>
                    </a:lnB>
                    <a:solidFill>
                      <a:srgbClr val="0F766E"/>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Value</a:t>
                      </a:r>
                      <a:endParaRPr lang="en-US" sz="1400" dirty="0">
                        <a:latin typeface="Calibri" charset="0"/>
                        <a:ea typeface="Calibri" charset="0"/>
                        <a:cs typeface="Calibri" charset="0"/>
                      </a:endParaRPr>
                    </a:p>
                  </a:txBody>
                  <a:tcPr anchor="ctr">
                    <a:lnL w="12700" cap="flat" cmpd="sng" algn="ctr">
                      <a:solidFill>
                        <a:srgbClr val="E4E0D6"/>
                      </a:solidFill>
                      <a:prstDash val="solid"/>
                      <a:round/>
                      <a:headEnd type="none" w="med" len="med"/>
                      <a:tailEnd type="none" w="med" len="med"/>
                    </a:lnL>
                    <a:lnR w="12700" cap="flat" cmpd="sng" algn="ctr">
                      <a:solidFill>
                        <a:srgbClr val="E4E0D6"/>
                      </a:solidFill>
                      <a:prstDash val="solid"/>
                      <a:round/>
                      <a:headEnd type="none" w="med" len="med"/>
                      <a:tailEnd type="none" w="med" len="med"/>
                    </a:lnR>
                    <a:lnT w="12700" cap="flat" cmpd="sng" algn="ctr">
                      <a:solidFill>
                        <a:srgbClr val="E4E0D6"/>
                      </a:solidFill>
                      <a:prstDash val="solid"/>
                      <a:round/>
                      <a:headEnd type="none" w="med" len="med"/>
                      <a:tailEnd type="none" w="med" len="med"/>
                    </a:lnT>
                    <a:lnB w="12700" cap="flat" cmpd="sng" algn="ctr">
                      <a:solidFill>
                        <a:srgbClr val="E4E0D6"/>
                      </a:solidFill>
                      <a:prstDash val="solid"/>
                      <a:round/>
                      <a:headEnd type="none" w="med" len="med"/>
                      <a:tailEnd type="none" w="med" len="med"/>
                    </a:lnB>
                    <a:solidFill>
                      <a:srgbClr val="0F766E"/>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 Weight</a:t>
                      </a:r>
                      <a:endParaRPr lang="en-US" sz="1400" dirty="0">
                        <a:latin typeface="Calibri" charset="0"/>
                        <a:ea typeface="Calibri" charset="0"/>
                        <a:cs typeface="Calibri" charset="0"/>
                      </a:endParaRPr>
                    </a:p>
                  </a:txBody>
                  <a:tcPr anchor="ctr">
                    <a:lnL w="12700" cap="flat" cmpd="sng" algn="ctr">
                      <a:solidFill>
                        <a:srgbClr val="E4E0D6"/>
                      </a:solidFill>
                      <a:prstDash val="solid"/>
                      <a:round/>
                      <a:headEnd type="none" w="med" len="med"/>
                      <a:tailEnd type="none" w="med" len="med"/>
                    </a:lnL>
                    <a:lnR w="12700" cap="flat" cmpd="sng" algn="ctr">
                      <a:solidFill>
                        <a:srgbClr val="E4E0D6"/>
                      </a:solidFill>
                      <a:prstDash val="solid"/>
                      <a:round/>
                      <a:headEnd type="none" w="med" len="med"/>
                      <a:tailEnd type="none" w="med" len="med"/>
                    </a:lnR>
                    <a:lnT w="12700" cap="flat" cmpd="sng" algn="ctr">
                      <a:solidFill>
                        <a:srgbClr val="E4E0D6"/>
                      </a:solidFill>
                      <a:prstDash val="solid"/>
                      <a:round/>
                      <a:headEnd type="none" w="med" len="med"/>
                      <a:tailEnd type="none" w="med" len="med"/>
                    </a:lnT>
                    <a:lnB w="12700" cap="flat" cmpd="sng" algn="ctr">
                      <a:solidFill>
                        <a:srgbClr val="E4E0D6"/>
                      </a:solidFill>
                      <a:prstDash val="solid"/>
                      <a:round/>
                      <a:headEnd type="none" w="med" len="med"/>
                      <a:tailEnd type="none" w="med" len="med"/>
                    </a:lnB>
                    <a:solidFill>
                      <a:srgbClr val="0F766E"/>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 Points</a:t>
                      </a:r>
                      <a:endParaRPr lang="en-US" sz="1400" dirty="0">
                        <a:latin typeface="Calibri" charset="0"/>
                        <a:ea typeface="Calibri" charset="0"/>
                        <a:cs typeface="Calibri" charset="0"/>
                      </a:endParaRPr>
                    </a:p>
                  </a:txBody>
                  <a:tcPr anchor="ctr">
                    <a:lnL w="12700" cap="flat" cmpd="sng" algn="ctr">
                      <a:solidFill>
                        <a:srgbClr val="E4E0D6"/>
                      </a:solidFill>
                      <a:prstDash val="solid"/>
                      <a:round/>
                      <a:headEnd type="none" w="med" len="med"/>
                      <a:tailEnd type="none" w="med" len="med"/>
                    </a:lnL>
                    <a:lnR w="12700" cap="flat" cmpd="sng" algn="ctr">
                      <a:solidFill>
                        <a:srgbClr val="E4E0D6"/>
                      </a:solidFill>
                      <a:prstDash val="solid"/>
                      <a:round/>
                      <a:headEnd type="none" w="med" len="med"/>
                      <a:tailEnd type="none" w="med" len="med"/>
                    </a:lnR>
                    <a:lnT w="12700" cap="flat" cmpd="sng" algn="ctr">
                      <a:solidFill>
                        <a:srgbClr val="E4E0D6"/>
                      </a:solidFill>
                      <a:prstDash val="solid"/>
                      <a:round/>
                      <a:headEnd type="none" w="med" len="med"/>
                      <a:tailEnd type="none" w="med" len="med"/>
                    </a:lnT>
                    <a:lnB w="12700" cap="flat" cmpd="sng" algn="ctr">
                      <a:solidFill>
                        <a:srgbClr val="E4E0D6"/>
                      </a:solidFill>
                      <a:prstDash val="solid"/>
                      <a:round/>
                      <a:headEnd type="none" w="med" len="med"/>
                      <a:tailEnd type="none" w="med" len="med"/>
                    </a:lnB>
                    <a:solidFill>
                      <a:srgbClr val="0F766E"/>
                    </a:solidFill>
                  </a:tcPr>
                </a:tc>
                <a:extLst>
                  <a:ext uri="{0D108BD9-81ED-4DB2-BD59-A6C34878D82A}">
                    <a16:rowId xmlns:a16="http://schemas.microsoft.com/office/drawing/2014/main" val="10000"/>
                  </a:ext>
                </a:extLst>
              </a:tr>
              <a:tr h="420624">
                <a:tc>
                  <a:txBody>
                    <a:bodyPr/>
                    <a:lstStyle/>
                    <a:p>
                      <a:pPr marL="0" indent="0" algn="l">
                        <a:buNone/>
                      </a:pPr>
                      <a:r>
                        <a:rPr lang="en-US" sz="1400" dirty="0">
                          <a:solidFill>
                            <a:schemeClr val="tx1"/>
                          </a:solidFill>
                          <a:latin typeface="Calibri" pitchFamily="34" charset="0"/>
                          <a:ea typeface="Calibri" pitchFamily="34" charset="-122"/>
                          <a:cs typeface="Calibri" pitchFamily="34" charset="-120"/>
                        </a:rPr>
                        <a:t>Courses C</a:t>
                      </a:r>
                      <a:endParaRPr lang="en-US" sz="1400" dirty="0">
                        <a:latin typeface="Calibri" charset="0"/>
                        <a:ea typeface="Calibri" charset="0"/>
                        <a:cs typeface="Calibri" charset="0"/>
                      </a:endParaRPr>
                    </a:p>
                  </a:txBody>
                  <a:tcPr anchor="ctr">
                    <a:lnL w="12700" cap="flat" cmpd="sng" algn="ctr">
                      <a:solidFill>
                        <a:srgbClr val="E4E0D6"/>
                      </a:solidFill>
                      <a:prstDash val="solid"/>
                      <a:round/>
                      <a:headEnd type="none" w="med" len="med"/>
                      <a:tailEnd type="none" w="med" len="med"/>
                    </a:lnL>
                    <a:lnR w="12700" cap="flat" cmpd="sng" algn="ctr">
                      <a:solidFill>
                        <a:srgbClr val="E4E0D6"/>
                      </a:solidFill>
                      <a:prstDash val="solid"/>
                      <a:round/>
                      <a:headEnd type="none" w="med" len="med"/>
                      <a:tailEnd type="none" w="med" len="med"/>
                    </a:lnR>
                    <a:lnT w="12700" cap="flat" cmpd="sng" algn="ctr">
                      <a:solidFill>
                        <a:srgbClr val="E4E0D6"/>
                      </a:solidFill>
                      <a:prstDash val="solid"/>
                      <a:round/>
                      <a:headEnd type="none" w="med" len="med"/>
                      <a:tailEnd type="none" w="med" len="med"/>
                    </a:lnT>
                    <a:lnB w="12700" cap="flat" cmpd="sng" algn="ctr">
                      <a:solidFill>
                        <a:srgbClr val="E4E0D6"/>
                      </a:solidFill>
                      <a:prstDash val="solid"/>
                      <a:round/>
                      <a:headEnd type="none" w="med" len="med"/>
                      <a:tailEnd type="none" w="med" len="med"/>
                    </a:lnB>
                    <a:solidFill>
                      <a:srgbClr val="FFFFFF"/>
                    </a:solidFill>
                  </a:tcPr>
                </a:tc>
                <a:tc>
                  <a:txBody>
                    <a:bodyPr/>
                    <a:lstStyle/>
                    <a:p>
                      <a:pPr marL="0" indent="0" algn="ctr">
                        <a:buNone/>
                      </a:pPr>
                      <a:r>
                        <a:rPr lang="en-US" sz="1400" dirty="0">
                          <a:solidFill>
                            <a:schemeClr val="tx1"/>
                          </a:solidFill>
                          <a:latin typeface="Calibri" pitchFamily="34" charset="0"/>
                          <a:ea typeface="Calibri" pitchFamily="34" charset="-122"/>
                          <a:cs typeface="Calibri" pitchFamily="34" charset="-120"/>
                        </a:rPr>
                        <a:t>0.55</a:t>
                      </a:r>
                      <a:endParaRPr lang="en-US" sz="1400" dirty="0">
                        <a:latin typeface="Calibri" charset="0"/>
                        <a:ea typeface="Calibri" charset="0"/>
                        <a:cs typeface="Calibri" charset="0"/>
                      </a:endParaRPr>
                    </a:p>
                  </a:txBody>
                  <a:tcPr anchor="ctr">
                    <a:lnL w="12700" cap="flat" cmpd="sng" algn="ctr">
                      <a:solidFill>
                        <a:srgbClr val="E4E0D6"/>
                      </a:solidFill>
                      <a:prstDash val="solid"/>
                      <a:round/>
                      <a:headEnd type="none" w="med" len="med"/>
                      <a:tailEnd type="none" w="med" len="med"/>
                    </a:lnL>
                    <a:lnR w="12700" cap="flat" cmpd="sng" algn="ctr">
                      <a:solidFill>
                        <a:srgbClr val="E4E0D6"/>
                      </a:solidFill>
                      <a:prstDash val="solid"/>
                      <a:round/>
                      <a:headEnd type="none" w="med" len="med"/>
                      <a:tailEnd type="none" w="med" len="med"/>
                    </a:lnR>
                    <a:lnT w="12700" cap="flat" cmpd="sng" algn="ctr">
                      <a:solidFill>
                        <a:srgbClr val="E4E0D6"/>
                      </a:solidFill>
                      <a:prstDash val="solid"/>
                      <a:round/>
                      <a:headEnd type="none" w="med" len="med"/>
                      <a:tailEnd type="none" w="med" len="med"/>
                    </a:lnT>
                    <a:lnB w="12700" cap="flat" cmpd="sng" algn="ctr">
                      <a:solidFill>
                        <a:srgbClr val="E4E0D6"/>
                      </a:solidFill>
                      <a:prstDash val="solid"/>
                      <a:round/>
                      <a:headEnd type="none" w="med" len="med"/>
                      <a:tailEnd type="none" w="med" len="med"/>
                    </a:lnB>
                    <a:solidFill>
                      <a:srgbClr val="FFFFFF"/>
                    </a:solidFill>
                  </a:tcPr>
                </a:tc>
                <a:tc>
                  <a:txBody>
                    <a:bodyPr/>
                    <a:lstStyle/>
                    <a:p>
                      <a:pPr marL="0" indent="0" algn="ctr">
                        <a:buNone/>
                      </a:pPr>
                      <a:r>
                        <a:rPr lang="en-US" sz="1400" dirty="0">
                          <a:solidFill>
                            <a:schemeClr val="tx1"/>
                          </a:solidFill>
                          <a:latin typeface="Calibri" pitchFamily="34" charset="0"/>
                          <a:ea typeface="Calibri" pitchFamily="34" charset="-122"/>
                          <a:cs typeface="Calibri" pitchFamily="34" charset="-120"/>
                        </a:rPr>
                        <a:t>0.20</a:t>
                      </a:r>
                      <a:endParaRPr lang="en-US" sz="1400" dirty="0">
                        <a:latin typeface="Calibri" charset="0"/>
                        <a:ea typeface="Calibri" charset="0"/>
                        <a:cs typeface="Calibri" charset="0"/>
                      </a:endParaRPr>
                    </a:p>
                  </a:txBody>
                  <a:tcPr anchor="ctr">
                    <a:lnL w="12700" cap="flat" cmpd="sng" algn="ctr">
                      <a:solidFill>
                        <a:srgbClr val="E4E0D6"/>
                      </a:solidFill>
                      <a:prstDash val="solid"/>
                      <a:round/>
                      <a:headEnd type="none" w="med" len="med"/>
                      <a:tailEnd type="none" w="med" len="med"/>
                    </a:lnL>
                    <a:lnR w="12700" cap="flat" cmpd="sng" algn="ctr">
                      <a:solidFill>
                        <a:srgbClr val="E4E0D6"/>
                      </a:solidFill>
                      <a:prstDash val="solid"/>
                      <a:round/>
                      <a:headEnd type="none" w="med" len="med"/>
                      <a:tailEnd type="none" w="med" len="med"/>
                    </a:lnR>
                    <a:lnT w="12700" cap="flat" cmpd="sng" algn="ctr">
                      <a:solidFill>
                        <a:srgbClr val="E4E0D6"/>
                      </a:solidFill>
                      <a:prstDash val="solid"/>
                      <a:round/>
                      <a:headEnd type="none" w="med" len="med"/>
                      <a:tailEnd type="none" w="med" len="med"/>
                    </a:lnT>
                    <a:lnB w="12700" cap="flat" cmpd="sng" algn="ctr">
                      <a:solidFill>
                        <a:srgbClr val="E4E0D6"/>
                      </a:solidFill>
                      <a:prstDash val="solid"/>
                      <a:round/>
                      <a:headEnd type="none" w="med" len="med"/>
                      <a:tailEnd type="none" w="med" len="med"/>
                    </a:lnB>
                    <a:solidFill>
                      <a:srgbClr val="FFFFFF"/>
                    </a:solidFill>
                  </a:tcPr>
                </a:tc>
                <a:tc>
                  <a:txBody>
                    <a:bodyPr/>
                    <a:lstStyle/>
                    <a:p>
                      <a:pPr marL="0" indent="0" algn="ctr">
                        <a:buNone/>
                      </a:pPr>
                      <a:r>
                        <a:rPr lang="en-US" sz="1400" dirty="0">
                          <a:solidFill>
                            <a:schemeClr val="tx1"/>
                          </a:solidFill>
                          <a:latin typeface="Calibri" pitchFamily="34" charset="0"/>
                          <a:ea typeface="Calibri" pitchFamily="34" charset="-122"/>
                          <a:cs typeface="Calibri" pitchFamily="34" charset="-120"/>
                        </a:rPr>
                        <a:t>11.0</a:t>
                      </a:r>
                      <a:endParaRPr lang="en-US" sz="1400" dirty="0">
                        <a:latin typeface="Calibri" charset="0"/>
                        <a:ea typeface="Calibri" charset="0"/>
                        <a:cs typeface="Calibri" charset="0"/>
                      </a:endParaRPr>
                    </a:p>
                  </a:txBody>
                  <a:tcPr anchor="ctr">
                    <a:lnL w="12700" cap="flat" cmpd="sng" algn="ctr">
                      <a:solidFill>
                        <a:srgbClr val="E4E0D6"/>
                      </a:solidFill>
                      <a:prstDash val="solid"/>
                      <a:round/>
                      <a:headEnd type="none" w="med" len="med"/>
                      <a:tailEnd type="none" w="med" len="med"/>
                    </a:lnL>
                    <a:lnR w="12700" cap="flat" cmpd="sng" algn="ctr">
                      <a:solidFill>
                        <a:srgbClr val="E4E0D6"/>
                      </a:solidFill>
                      <a:prstDash val="solid"/>
                      <a:round/>
                      <a:headEnd type="none" w="med" len="med"/>
                      <a:tailEnd type="none" w="med" len="med"/>
                    </a:lnR>
                    <a:lnT w="12700" cap="flat" cmpd="sng" algn="ctr">
                      <a:solidFill>
                        <a:srgbClr val="E4E0D6"/>
                      </a:solidFill>
                      <a:prstDash val="solid"/>
                      <a:round/>
                      <a:headEnd type="none" w="med" len="med"/>
                      <a:tailEnd type="none" w="med" len="med"/>
                    </a:lnT>
                    <a:lnB w="12700" cap="flat" cmpd="sng" algn="ctr">
                      <a:solidFill>
                        <a:srgbClr val="E4E0D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20624">
                <a:tc>
                  <a:txBody>
                    <a:bodyPr/>
                    <a:lstStyle/>
                    <a:p>
                      <a:pPr marL="0" indent="0" algn="l">
                        <a:buNone/>
                      </a:pPr>
                      <a:r>
                        <a:rPr lang="en-US" sz="1400" dirty="0">
                          <a:solidFill>
                            <a:schemeClr val="tx1"/>
                          </a:solidFill>
                          <a:latin typeface="Calibri" pitchFamily="34" charset="0"/>
                          <a:ea typeface="Calibri" pitchFamily="34" charset="-122"/>
                          <a:cs typeface="Calibri" pitchFamily="34" charset="-120"/>
                        </a:rPr>
                        <a:t>Clubs K</a:t>
                      </a:r>
                      <a:endParaRPr lang="en-US" sz="1400" dirty="0">
                        <a:latin typeface="Calibri" charset="0"/>
                        <a:ea typeface="Calibri" charset="0"/>
                        <a:cs typeface="Calibri" charset="0"/>
                      </a:endParaRPr>
                    </a:p>
                  </a:txBody>
                  <a:tcPr anchor="ctr">
                    <a:lnL w="12700" cap="flat" cmpd="sng" algn="ctr">
                      <a:solidFill>
                        <a:srgbClr val="E4E0D6"/>
                      </a:solidFill>
                      <a:prstDash val="solid"/>
                      <a:round/>
                      <a:headEnd type="none" w="med" len="med"/>
                      <a:tailEnd type="none" w="med" len="med"/>
                    </a:lnL>
                    <a:lnR w="12700" cap="flat" cmpd="sng" algn="ctr">
                      <a:solidFill>
                        <a:srgbClr val="E4E0D6"/>
                      </a:solidFill>
                      <a:prstDash val="solid"/>
                      <a:round/>
                      <a:headEnd type="none" w="med" len="med"/>
                      <a:tailEnd type="none" w="med" len="med"/>
                    </a:lnR>
                    <a:lnT w="12700" cap="flat" cmpd="sng" algn="ctr">
                      <a:solidFill>
                        <a:srgbClr val="E4E0D6"/>
                      </a:solidFill>
                      <a:prstDash val="solid"/>
                      <a:round/>
                      <a:headEnd type="none" w="med" len="med"/>
                      <a:tailEnd type="none" w="med" len="med"/>
                    </a:lnT>
                    <a:lnB w="12700" cap="flat" cmpd="sng" algn="ctr">
                      <a:solidFill>
                        <a:srgbClr val="E4E0D6"/>
                      </a:solidFill>
                      <a:prstDash val="solid"/>
                      <a:round/>
                      <a:headEnd type="none" w="med" len="med"/>
                      <a:tailEnd type="none" w="med" len="med"/>
                    </a:lnB>
                    <a:solidFill>
                      <a:srgbClr val="FFFFFF"/>
                    </a:solidFill>
                  </a:tcPr>
                </a:tc>
                <a:tc>
                  <a:txBody>
                    <a:bodyPr/>
                    <a:lstStyle/>
                    <a:p>
                      <a:pPr marL="0" indent="0" algn="ctr">
                        <a:buNone/>
                      </a:pPr>
                      <a:r>
                        <a:rPr lang="en-US" sz="1400" dirty="0">
                          <a:solidFill>
                            <a:schemeClr val="tx1"/>
                          </a:solidFill>
                          <a:latin typeface="Calibri" pitchFamily="34" charset="0"/>
                          <a:ea typeface="Calibri" pitchFamily="34" charset="-122"/>
                          <a:cs typeface="Calibri" pitchFamily="34" charset="-120"/>
                        </a:rPr>
                        <a:t>0.25</a:t>
                      </a:r>
                      <a:endParaRPr lang="en-US" sz="1400" dirty="0">
                        <a:latin typeface="Calibri" charset="0"/>
                        <a:ea typeface="Calibri" charset="0"/>
                        <a:cs typeface="Calibri" charset="0"/>
                      </a:endParaRPr>
                    </a:p>
                  </a:txBody>
                  <a:tcPr anchor="ctr">
                    <a:lnL w="12700" cap="flat" cmpd="sng" algn="ctr">
                      <a:solidFill>
                        <a:srgbClr val="E4E0D6"/>
                      </a:solidFill>
                      <a:prstDash val="solid"/>
                      <a:round/>
                      <a:headEnd type="none" w="med" len="med"/>
                      <a:tailEnd type="none" w="med" len="med"/>
                    </a:lnL>
                    <a:lnR w="12700" cap="flat" cmpd="sng" algn="ctr">
                      <a:solidFill>
                        <a:srgbClr val="E4E0D6"/>
                      </a:solidFill>
                      <a:prstDash val="solid"/>
                      <a:round/>
                      <a:headEnd type="none" w="med" len="med"/>
                      <a:tailEnd type="none" w="med" len="med"/>
                    </a:lnR>
                    <a:lnT w="12700" cap="flat" cmpd="sng" algn="ctr">
                      <a:solidFill>
                        <a:srgbClr val="E4E0D6"/>
                      </a:solidFill>
                      <a:prstDash val="solid"/>
                      <a:round/>
                      <a:headEnd type="none" w="med" len="med"/>
                      <a:tailEnd type="none" w="med" len="med"/>
                    </a:lnT>
                    <a:lnB w="12700" cap="flat" cmpd="sng" algn="ctr">
                      <a:solidFill>
                        <a:srgbClr val="E4E0D6"/>
                      </a:solidFill>
                      <a:prstDash val="solid"/>
                      <a:round/>
                      <a:headEnd type="none" w="med" len="med"/>
                      <a:tailEnd type="none" w="med" len="med"/>
                    </a:lnB>
                    <a:solidFill>
                      <a:srgbClr val="FFFFFF"/>
                    </a:solidFill>
                  </a:tcPr>
                </a:tc>
                <a:tc>
                  <a:txBody>
                    <a:bodyPr/>
                    <a:lstStyle/>
                    <a:p>
                      <a:pPr marL="0" indent="0" algn="ctr">
                        <a:buNone/>
                      </a:pPr>
                      <a:r>
                        <a:rPr lang="en-US" sz="1400" dirty="0">
                          <a:solidFill>
                            <a:schemeClr val="tx1"/>
                          </a:solidFill>
                          <a:latin typeface="Calibri" pitchFamily="34" charset="0"/>
                          <a:ea typeface="Calibri" pitchFamily="34" charset="-122"/>
                          <a:cs typeface="Calibri" pitchFamily="34" charset="-120"/>
                        </a:rPr>
                        <a:t>0.25</a:t>
                      </a:r>
                      <a:endParaRPr lang="en-US" sz="1400" dirty="0">
                        <a:latin typeface="Calibri" charset="0"/>
                        <a:ea typeface="Calibri" charset="0"/>
                        <a:cs typeface="Calibri" charset="0"/>
                      </a:endParaRPr>
                    </a:p>
                  </a:txBody>
                  <a:tcPr anchor="ctr">
                    <a:lnL w="12700" cap="flat" cmpd="sng" algn="ctr">
                      <a:solidFill>
                        <a:srgbClr val="E4E0D6"/>
                      </a:solidFill>
                      <a:prstDash val="solid"/>
                      <a:round/>
                      <a:headEnd type="none" w="med" len="med"/>
                      <a:tailEnd type="none" w="med" len="med"/>
                    </a:lnL>
                    <a:lnR w="12700" cap="flat" cmpd="sng" algn="ctr">
                      <a:solidFill>
                        <a:srgbClr val="E4E0D6"/>
                      </a:solidFill>
                      <a:prstDash val="solid"/>
                      <a:round/>
                      <a:headEnd type="none" w="med" len="med"/>
                      <a:tailEnd type="none" w="med" len="med"/>
                    </a:lnR>
                    <a:lnT w="12700" cap="flat" cmpd="sng" algn="ctr">
                      <a:solidFill>
                        <a:srgbClr val="E4E0D6"/>
                      </a:solidFill>
                      <a:prstDash val="solid"/>
                      <a:round/>
                      <a:headEnd type="none" w="med" len="med"/>
                      <a:tailEnd type="none" w="med" len="med"/>
                    </a:lnT>
                    <a:lnB w="12700" cap="flat" cmpd="sng" algn="ctr">
                      <a:solidFill>
                        <a:srgbClr val="E4E0D6"/>
                      </a:solidFill>
                      <a:prstDash val="solid"/>
                      <a:round/>
                      <a:headEnd type="none" w="med" len="med"/>
                      <a:tailEnd type="none" w="med" len="med"/>
                    </a:lnB>
                    <a:solidFill>
                      <a:srgbClr val="FFFFFF"/>
                    </a:solidFill>
                  </a:tcPr>
                </a:tc>
                <a:tc>
                  <a:txBody>
                    <a:bodyPr/>
                    <a:lstStyle/>
                    <a:p>
                      <a:pPr marL="0" indent="0" algn="ctr">
                        <a:buNone/>
                      </a:pPr>
                      <a:r>
                        <a:rPr lang="en-US" sz="1400" dirty="0">
                          <a:solidFill>
                            <a:schemeClr val="tx1"/>
                          </a:solidFill>
                          <a:latin typeface="Calibri" pitchFamily="34" charset="0"/>
                          <a:ea typeface="Calibri" pitchFamily="34" charset="-122"/>
                          <a:cs typeface="Calibri" pitchFamily="34" charset="-120"/>
                        </a:rPr>
                        <a:t>6.2</a:t>
                      </a:r>
                      <a:endParaRPr lang="en-US" sz="1400" dirty="0">
                        <a:latin typeface="Calibri" charset="0"/>
                        <a:ea typeface="Calibri" charset="0"/>
                        <a:cs typeface="Calibri" charset="0"/>
                      </a:endParaRPr>
                    </a:p>
                  </a:txBody>
                  <a:tcPr anchor="ctr">
                    <a:lnL w="12700" cap="flat" cmpd="sng" algn="ctr">
                      <a:solidFill>
                        <a:srgbClr val="E4E0D6"/>
                      </a:solidFill>
                      <a:prstDash val="solid"/>
                      <a:round/>
                      <a:headEnd type="none" w="med" len="med"/>
                      <a:tailEnd type="none" w="med" len="med"/>
                    </a:lnL>
                    <a:lnR w="12700" cap="flat" cmpd="sng" algn="ctr">
                      <a:solidFill>
                        <a:srgbClr val="E4E0D6"/>
                      </a:solidFill>
                      <a:prstDash val="solid"/>
                      <a:round/>
                      <a:headEnd type="none" w="med" len="med"/>
                      <a:tailEnd type="none" w="med" len="med"/>
                    </a:lnR>
                    <a:lnT w="12700" cap="flat" cmpd="sng" algn="ctr">
                      <a:solidFill>
                        <a:srgbClr val="E4E0D6"/>
                      </a:solidFill>
                      <a:prstDash val="solid"/>
                      <a:round/>
                      <a:headEnd type="none" w="med" len="med"/>
                      <a:tailEnd type="none" w="med" len="med"/>
                    </a:lnT>
                    <a:lnB w="12700" cap="flat" cmpd="sng" algn="ctr">
                      <a:solidFill>
                        <a:srgbClr val="E4E0D6"/>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20624">
                <a:tc>
                  <a:txBody>
                    <a:bodyPr/>
                    <a:lstStyle/>
                    <a:p>
                      <a:pPr marL="0" indent="0" algn="l">
                        <a:buNone/>
                      </a:pPr>
                      <a:r>
                        <a:rPr lang="en-US" sz="1400" dirty="0">
                          <a:solidFill>
                            <a:schemeClr val="tx1"/>
                          </a:solidFill>
                          <a:latin typeface="Calibri" pitchFamily="34" charset="0"/>
                          <a:ea typeface="Calibri" pitchFamily="34" charset="-122"/>
                          <a:cs typeface="Calibri" pitchFamily="34" charset="-120"/>
                        </a:rPr>
                        <a:t>Free time T</a:t>
                      </a:r>
                      <a:endParaRPr lang="en-US" sz="1400" dirty="0">
                        <a:latin typeface="Calibri" charset="0"/>
                        <a:ea typeface="Calibri" charset="0"/>
                        <a:cs typeface="Calibri" charset="0"/>
                      </a:endParaRPr>
                    </a:p>
                  </a:txBody>
                  <a:tcPr anchor="ctr">
                    <a:lnL w="12700" cap="flat" cmpd="sng" algn="ctr">
                      <a:solidFill>
                        <a:srgbClr val="E4E0D6"/>
                      </a:solidFill>
                      <a:prstDash val="solid"/>
                      <a:round/>
                      <a:headEnd type="none" w="med" len="med"/>
                      <a:tailEnd type="none" w="med" len="med"/>
                    </a:lnL>
                    <a:lnR w="12700" cap="flat" cmpd="sng" algn="ctr">
                      <a:solidFill>
                        <a:srgbClr val="E4E0D6"/>
                      </a:solidFill>
                      <a:prstDash val="solid"/>
                      <a:round/>
                      <a:headEnd type="none" w="med" len="med"/>
                      <a:tailEnd type="none" w="med" len="med"/>
                    </a:lnR>
                    <a:lnT w="12700" cap="flat" cmpd="sng" algn="ctr">
                      <a:solidFill>
                        <a:srgbClr val="E4E0D6"/>
                      </a:solidFill>
                      <a:prstDash val="solid"/>
                      <a:round/>
                      <a:headEnd type="none" w="med" len="med"/>
                      <a:tailEnd type="none" w="med" len="med"/>
                    </a:lnT>
                    <a:lnB w="12700" cap="flat" cmpd="sng" algn="ctr">
                      <a:solidFill>
                        <a:srgbClr val="E4E0D6"/>
                      </a:solidFill>
                      <a:prstDash val="solid"/>
                      <a:round/>
                      <a:headEnd type="none" w="med" len="med"/>
                      <a:tailEnd type="none" w="med" len="med"/>
                    </a:lnB>
                    <a:solidFill>
                      <a:srgbClr val="FFFFFF"/>
                    </a:solidFill>
                  </a:tcPr>
                </a:tc>
                <a:tc>
                  <a:txBody>
                    <a:bodyPr/>
                    <a:lstStyle/>
                    <a:p>
                      <a:pPr marL="0" indent="0" algn="ctr">
                        <a:buNone/>
                      </a:pPr>
                      <a:r>
                        <a:rPr lang="en-US" sz="1400" dirty="0">
                          <a:solidFill>
                            <a:schemeClr val="tx1"/>
                          </a:solidFill>
                          <a:latin typeface="Calibri" pitchFamily="34" charset="0"/>
                          <a:ea typeface="Calibri" pitchFamily="34" charset="-122"/>
                          <a:cs typeface="Calibri" pitchFamily="34" charset="-120"/>
                        </a:rPr>
                        <a:t>0.42</a:t>
                      </a:r>
                      <a:endParaRPr lang="en-US" sz="1400" dirty="0">
                        <a:latin typeface="Calibri" charset="0"/>
                        <a:ea typeface="Calibri" charset="0"/>
                        <a:cs typeface="Calibri" charset="0"/>
                      </a:endParaRPr>
                    </a:p>
                  </a:txBody>
                  <a:tcPr anchor="ctr">
                    <a:lnL w="12700" cap="flat" cmpd="sng" algn="ctr">
                      <a:solidFill>
                        <a:srgbClr val="E4E0D6"/>
                      </a:solidFill>
                      <a:prstDash val="solid"/>
                      <a:round/>
                      <a:headEnd type="none" w="med" len="med"/>
                      <a:tailEnd type="none" w="med" len="med"/>
                    </a:lnL>
                    <a:lnR w="12700" cap="flat" cmpd="sng" algn="ctr">
                      <a:solidFill>
                        <a:srgbClr val="E4E0D6"/>
                      </a:solidFill>
                      <a:prstDash val="solid"/>
                      <a:round/>
                      <a:headEnd type="none" w="med" len="med"/>
                      <a:tailEnd type="none" w="med" len="med"/>
                    </a:lnR>
                    <a:lnT w="12700" cap="flat" cmpd="sng" algn="ctr">
                      <a:solidFill>
                        <a:srgbClr val="E4E0D6"/>
                      </a:solidFill>
                      <a:prstDash val="solid"/>
                      <a:round/>
                      <a:headEnd type="none" w="med" len="med"/>
                      <a:tailEnd type="none" w="med" len="med"/>
                    </a:lnT>
                    <a:lnB w="12700" cap="flat" cmpd="sng" algn="ctr">
                      <a:solidFill>
                        <a:srgbClr val="E4E0D6"/>
                      </a:solidFill>
                      <a:prstDash val="solid"/>
                      <a:round/>
                      <a:headEnd type="none" w="med" len="med"/>
                      <a:tailEnd type="none" w="med" len="med"/>
                    </a:lnB>
                    <a:solidFill>
                      <a:srgbClr val="FFFFFF"/>
                    </a:solidFill>
                  </a:tcPr>
                </a:tc>
                <a:tc>
                  <a:txBody>
                    <a:bodyPr/>
                    <a:lstStyle/>
                    <a:p>
                      <a:pPr marL="0" indent="0" algn="ctr">
                        <a:buNone/>
                      </a:pPr>
                      <a:r>
                        <a:rPr lang="en-US" sz="1400" dirty="0">
                          <a:solidFill>
                            <a:schemeClr val="tx1"/>
                          </a:solidFill>
                          <a:latin typeface="Calibri" pitchFamily="34" charset="0"/>
                          <a:ea typeface="Calibri" pitchFamily="34" charset="-122"/>
                          <a:cs typeface="Calibri" pitchFamily="34" charset="-120"/>
                        </a:rPr>
                        <a:t>0.20</a:t>
                      </a:r>
                      <a:endParaRPr lang="en-US" sz="1400" dirty="0">
                        <a:latin typeface="Calibri" charset="0"/>
                        <a:ea typeface="Calibri" charset="0"/>
                        <a:cs typeface="Calibri" charset="0"/>
                      </a:endParaRPr>
                    </a:p>
                  </a:txBody>
                  <a:tcPr anchor="ctr">
                    <a:lnL w="12700" cap="flat" cmpd="sng" algn="ctr">
                      <a:solidFill>
                        <a:srgbClr val="E4E0D6"/>
                      </a:solidFill>
                      <a:prstDash val="solid"/>
                      <a:round/>
                      <a:headEnd type="none" w="med" len="med"/>
                      <a:tailEnd type="none" w="med" len="med"/>
                    </a:lnL>
                    <a:lnR w="12700" cap="flat" cmpd="sng" algn="ctr">
                      <a:solidFill>
                        <a:srgbClr val="E4E0D6"/>
                      </a:solidFill>
                      <a:prstDash val="solid"/>
                      <a:round/>
                      <a:headEnd type="none" w="med" len="med"/>
                      <a:tailEnd type="none" w="med" len="med"/>
                    </a:lnR>
                    <a:lnT w="12700" cap="flat" cmpd="sng" algn="ctr">
                      <a:solidFill>
                        <a:srgbClr val="E4E0D6"/>
                      </a:solidFill>
                      <a:prstDash val="solid"/>
                      <a:round/>
                      <a:headEnd type="none" w="med" len="med"/>
                      <a:tailEnd type="none" w="med" len="med"/>
                    </a:lnT>
                    <a:lnB w="12700" cap="flat" cmpd="sng" algn="ctr">
                      <a:solidFill>
                        <a:srgbClr val="E4E0D6"/>
                      </a:solidFill>
                      <a:prstDash val="solid"/>
                      <a:round/>
                      <a:headEnd type="none" w="med" len="med"/>
                      <a:tailEnd type="none" w="med" len="med"/>
                    </a:lnB>
                    <a:solidFill>
                      <a:srgbClr val="FFFFFF"/>
                    </a:solidFill>
                  </a:tcPr>
                </a:tc>
                <a:tc>
                  <a:txBody>
                    <a:bodyPr/>
                    <a:lstStyle/>
                    <a:p>
                      <a:pPr marL="0" indent="0" algn="ctr">
                        <a:buNone/>
                      </a:pPr>
                      <a:r>
                        <a:rPr lang="en-US" sz="1400" dirty="0">
                          <a:solidFill>
                            <a:schemeClr val="tx1"/>
                          </a:solidFill>
                          <a:latin typeface="Calibri" pitchFamily="34" charset="0"/>
                          <a:ea typeface="Calibri" pitchFamily="34" charset="-122"/>
                          <a:cs typeface="Calibri" pitchFamily="34" charset="-120"/>
                        </a:rPr>
                        <a:t>8.5</a:t>
                      </a:r>
                      <a:endParaRPr lang="en-US" sz="1400" dirty="0">
                        <a:latin typeface="Calibri" charset="0"/>
                        <a:ea typeface="Calibri" charset="0"/>
                        <a:cs typeface="Calibri" charset="0"/>
                      </a:endParaRPr>
                    </a:p>
                  </a:txBody>
                  <a:tcPr anchor="ctr">
                    <a:lnL w="12700" cap="flat" cmpd="sng" algn="ctr">
                      <a:solidFill>
                        <a:srgbClr val="E4E0D6"/>
                      </a:solidFill>
                      <a:prstDash val="solid"/>
                      <a:round/>
                      <a:headEnd type="none" w="med" len="med"/>
                      <a:tailEnd type="none" w="med" len="med"/>
                    </a:lnL>
                    <a:lnR w="12700" cap="flat" cmpd="sng" algn="ctr">
                      <a:solidFill>
                        <a:srgbClr val="E4E0D6"/>
                      </a:solidFill>
                      <a:prstDash val="solid"/>
                      <a:round/>
                      <a:headEnd type="none" w="med" len="med"/>
                      <a:tailEnd type="none" w="med" len="med"/>
                    </a:lnR>
                    <a:lnT w="12700" cap="flat" cmpd="sng" algn="ctr">
                      <a:solidFill>
                        <a:srgbClr val="E4E0D6"/>
                      </a:solidFill>
                      <a:prstDash val="solid"/>
                      <a:round/>
                      <a:headEnd type="none" w="med" len="med"/>
                      <a:tailEnd type="none" w="med" len="med"/>
                    </a:lnT>
                    <a:lnB w="12700" cap="flat" cmpd="sng" algn="ctr">
                      <a:solidFill>
                        <a:srgbClr val="E4E0D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20624">
                <a:tc>
                  <a:txBody>
                    <a:bodyPr/>
                    <a:lstStyle/>
                    <a:p>
                      <a:pPr marL="0" indent="0" algn="l">
                        <a:buNone/>
                      </a:pPr>
                      <a:r>
                        <a:rPr lang="en-US" sz="1400" dirty="0">
                          <a:solidFill>
                            <a:schemeClr val="tx1"/>
                          </a:solidFill>
                          <a:latin typeface="Calibri" pitchFamily="34" charset="0"/>
                          <a:ea typeface="Calibri" pitchFamily="34" charset="-122"/>
                          <a:cs typeface="Calibri" pitchFamily="34" charset="-120"/>
                        </a:rPr>
                        <a:t>Interests I</a:t>
                      </a:r>
                      <a:endParaRPr lang="en-US" sz="1400" dirty="0">
                        <a:latin typeface="Calibri" charset="0"/>
                        <a:ea typeface="Calibri" charset="0"/>
                        <a:cs typeface="Calibri" charset="0"/>
                      </a:endParaRPr>
                    </a:p>
                  </a:txBody>
                  <a:tcPr anchor="ctr">
                    <a:lnL w="12700" cap="flat" cmpd="sng" algn="ctr">
                      <a:solidFill>
                        <a:srgbClr val="E4E0D6"/>
                      </a:solidFill>
                      <a:prstDash val="solid"/>
                      <a:round/>
                      <a:headEnd type="none" w="med" len="med"/>
                      <a:tailEnd type="none" w="med" len="med"/>
                    </a:lnL>
                    <a:lnR w="12700" cap="flat" cmpd="sng" algn="ctr">
                      <a:solidFill>
                        <a:srgbClr val="E4E0D6"/>
                      </a:solidFill>
                      <a:prstDash val="solid"/>
                      <a:round/>
                      <a:headEnd type="none" w="med" len="med"/>
                      <a:tailEnd type="none" w="med" len="med"/>
                    </a:lnR>
                    <a:lnT w="12700" cap="flat" cmpd="sng" algn="ctr">
                      <a:solidFill>
                        <a:srgbClr val="E4E0D6"/>
                      </a:solidFill>
                      <a:prstDash val="solid"/>
                      <a:round/>
                      <a:headEnd type="none" w="med" len="med"/>
                      <a:tailEnd type="none" w="med" len="med"/>
                    </a:lnT>
                    <a:lnB w="12700" cap="flat" cmpd="sng" algn="ctr">
                      <a:solidFill>
                        <a:srgbClr val="E4E0D6"/>
                      </a:solidFill>
                      <a:prstDash val="solid"/>
                      <a:round/>
                      <a:headEnd type="none" w="med" len="med"/>
                      <a:tailEnd type="none" w="med" len="med"/>
                    </a:lnB>
                    <a:solidFill>
                      <a:srgbClr val="FFFFFF"/>
                    </a:solidFill>
                  </a:tcPr>
                </a:tc>
                <a:tc>
                  <a:txBody>
                    <a:bodyPr/>
                    <a:lstStyle/>
                    <a:p>
                      <a:pPr marL="0" indent="0" algn="ctr">
                        <a:buNone/>
                      </a:pPr>
                      <a:r>
                        <a:rPr lang="en-US" sz="1400" dirty="0">
                          <a:solidFill>
                            <a:schemeClr val="tx1"/>
                          </a:solidFill>
                          <a:latin typeface="Calibri" pitchFamily="34" charset="0"/>
                          <a:ea typeface="Calibri" pitchFamily="34" charset="-122"/>
                          <a:cs typeface="Calibri" pitchFamily="34" charset="-120"/>
                        </a:rPr>
                        <a:t>0.44</a:t>
                      </a:r>
                      <a:endParaRPr lang="en-US" sz="1400" dirty="0">
                        <a:latin typeface="Calibri" charset="0"/>
                        <a:ea typeface="Calibri" charset="0"/>
                        <a:cs typeface="Calibri" charset="0"/>
                      </a:endParaRPr>
                    </a:p>
                  </a:txBody>
                  <a:tcPr anchor="ctr">
                    <a:lnL w="12700" cap="flat" cmpd="sng" algn="ctr">
                      <a:solidFill>
                        <a:srgbClr val="E4E0D6"/>
                      </a:solidFill>
                      <a:prstDash val="solid"/>
                      <a:round/>
                      <a:headEnd type="none" w="med" len="med"/>
                      <a:tailEnd type="none" w="med" len="med"/>
                    </a:lnL>
                    <a:lnR w="12700" cap="flat" cmpd="sng" algn="ctr">
                      <a:solidFill>
                        <a:srgbClr val="E4E0D6"/>
                      </a:solidFill>
                      <a:prstDash val="solid"/>
                      <a:round/>
                      <a:headEnd type="none" w="med" len="med"/>
                      <a:tailEnd type="none" w="med" len="med"/>
                    </a:lnR>
                    <a:lnT w="12700" cap="flat" cmpd="sng" algn="ctr">
                      <a:solidFill>
                        <a:srgbClr val="E4E0D6"/>
                      </a:solidFill>
                      <a:prstDash val="solid"/>
                      <a:round/>
                      <a:headEnd type="none" w="med" len="med"/>
                      <a:tailEnd type="none" w="med" len="med"/>
                    </a:lnT>
                    <a:lnB w="12700" cap="flat" cmpd="sng" algn="ctr">
                      <a:solidFill>
                        <a:srgbClr val="E4E0D6"/>
                      </a:solidFill>
                      <a:prstDash val="solid"/>
                      <a:round/>
                      <a:headEnd type="none" w="med" len="med"/>
                      <a:tailEnd type="none" w="med" len="med"/>
                    </a:lnB>
                    <a:solidFill>
                      <a:srgbClr val="FFFFFF"/>
                    </a:solidFill>
                  </a:tcPr>
                </a:tc>
                <a:tc>
                  <a:txBody>
                    <a:bodyPr/>
                    <a:lstStyle/>
                    <a:p>
                      <a:pPr marL="0" indent="0" algn="ctr">
                        <a:buNone/>
                      </a:pPr>
                      <a:r>
                        <a:rPr lang="en-US" sz="1400" dirty="0">
                          <a:solidFill>
                            <a:schemeClr val="tx1"/>
                          </a:solidFill>
                          <a:latin typeface="Calibri" pitchFamily="34" charset="0"/>
                          <a:ea typeface="Calibri" pitchFamily="34" charset="-122"/>
                          <a:cs typeface="Calibri" pitchFamily="34" charset="-120"/>
                        </a:rPr>
                        <a:t>0.30</a:t>
                      </a:r>
                      <a:endParaRPr lang="en-US" sz="1400" dirty="0">
                        <a:latin typeface="Calibri" charset="0"/>
                        <a:ea typeface="Calibri" charset="0"/>
                        <a:cs typeface="Calibri" charset="0"/>
                      </a:endParaRPr>
                    </a:p>
                  </a:txBody>
                  <a:tcPr anchor="ctr">
                    <a:lnL w="12700" cap="flat" cmpd="sng" algn="ctr">
                      <a:solidFill>
                        <a:srgbClr val="E4E0D6"/>
                      </a:solidFill>
                      <a:prstDash val="solid"/>
                      <a:round/>
                      <a:headEnd type="none" w="med" len="med"/>
                      <a:tailEnd type="none" w="med" len="med"/>
                    </a:lnL>
                    <a:lnR w="12700" cap="flat" cmpd="sng" algn="ctr">
                      <a:solidFill>
                        <a:srgbClr val="E4E0D6"/>
                      </a:solidFill>
                      <a:prstDash val="solid"/>
                      <a:round/>
                      <a:headEnd type="none" w="med" len="med"/>
                      <a:tailEnd type="none" w="med" len="med"/>
                    </a:lnR>
                    <a:lnT w="12700" cap="flat" cmpd="sng" algn="ctr">
                      <a:solidFill>
                        <a:srgbClr val="E4E0D6"/>
                      </a:solidFill>
                      <a:prstDash val="solid"/>
                      <a:round/>
                      <a:headEnd type="none" w="med" len="med"/>
                      <a:tailEnd type="none" w="med" len="med"/>
                    </a:lnT>
                    <a:lnB w="12700" cap="flat" cmpd="sng" algn="ctr">
                      <a:solidFill>
                        <a:srgbClr val="E4E0D6"/>
                      </a:solidFill>
                      <a:prstDash val="solid"/>
                      <a:round/>
                      <a:headEnd type="none" w="med" len="med"/>
                      <a:tailEnd type="none" w="med" len="med"/>
                    </a:lnB>
                    <a:solidFill>
                      <a:srgbClr val="FFFFFF"/>
                    </a:solidFill>
                  </a:tcPr>
                </a:tc>
                <a:tc>
                  <a:txBody>
                    <a:bodyPr/>
                    <a:lstStyle/>
                    <a:p>
                      <a:pPr marL="0" indent="0" algn="ctr">
                        <a:buNone/>
                      </a:pPr>
                      <a:r>
                        <a:rPr lang="en-US" sz="1400" dirty="0">
                          <a:solidFill>
                            <a:schemeClr val="tx1"/>
                          </a:solidFill>
                          <a:latin typeface="Calibri" pitchFamily="34" charset="0"/>
                          <a:ea typeface="Calibri" pitchFamily="34" charset="-122"/>
                          <a:cs typeface="Calibri" pitchFamily="34" charset="-120"/>
                        </a:rPr>
                        <a:t>13.2</a:t>
                      </a:r>
                      <a:endParaRPr lang="en-US" sz="1400" dirty="0">
                        <a:latin typeface="Calibri" charset="0"/>
                        <a:ea typeface="Calibri" charset="0"/>
                        <a:cs typeface="Calibri" charset="0"/>
                      </a:endParaRPr>
                    </a:p>
                  </a:txBody>
                  <a:tcPr anchor="ctr">
                    <a:lnL w="12700" cap="flat" cmpd="sng" algn="ctr">
                      <a:solidFill>
                        <a:srgbClr val="E4E0D6"/>
                      </a:solidFill>
                      <a:prstDash val="solid"/>
                      <a:round/>
                      <a:headEnd type="none" w="med" len="med"/>
                      <a:tailEnd type="none" w="med" len="med"/>
                    </a:lnL>
                    <a:lnR w="12700" cap="flat" cmpd="sng" algn="ctr">
                      <a:solidFill>
                        <a:srgbClr val="E4E0D6"/>
                      </a:solidFill>
                      <a:prstDash val="solid"/>
                      <a:round/>
                      <a:headEnd type="none" w="med" len="med"/>
                      <a:tailEnd type="none" w="med" len="med"/>
                    </a:lnR>
                    <a:lnT w="12700" cap="flat" cmpd="sng" algn="ctr">
                      <a:solidFill>
                        <a:srgbClr val="E4E0D6"/>
                      </a:solidFill>
                      <a:prstDash val="solid"/>
                      <a:round/>
                      <a:headEnd type="none" w="med" len="med"/>
                      <a:tailEnd type="none" w="med" len="med"/>
                    </a:lnT>
                    <a:lnB w="12700" cap="flat" cmpd="sng" algn="ctr">
                      <a:solidFill>
                        <a:srgbClr val="E4E0D6"/>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20624">
                <a:tc>
                  <a:txBody>
                    <a:bodyPr/>
                    <a:lstStyle/>
                    <a:p>
                      <a:pPr marL="0" indent="0" algn="l">
                        <a:buNone/>
                      </a:pPr>
                      <a:r>
                        <a:rPr lang="en-US" sz="1400" dirty="0">
                          <a:solidFill>
                            <a:schemeClr val="tx1"/>
                          </a:solidFill>
                          <a:latin typeface="Calibri" pitchFamily="34" charset="0"/>
                          <a:ea typeface="Calibri" pitchFamily="34" charset="-122"/>
                          <a:cs typeface="Calibri" pitchFamily="34" charset="-120"/>
                        </a:rPr>
                        <a:t>Values V</a:t>
                      </a:r>
                      <a:endParaRPr lang="en-US" sz="1400" dirty="0">
                        <a:latin typeface="Calibri" charset="0"/>
                        <a:ea typeface="Calibri" charset="0"/>
                        <a:cs typeface="Calibri" charset="0"/>
                      </a:endParaRPr>
                    </a:p>
                  </a:txBody>
                  <a:tcPr anchor="ctr">
                    <a:lnL w="12700" cap="flat" cmpd="sng" algn="ctr">
                      <a:solidFill>
                        <a:srgbClr val="E4E0D6"/>
                      </a:solidFill>
                      <a:prstDash val="solid"/>
                      <a:round/>
                      <a:headEnd type="none" w="med" len="med"/>
                      <a:tailEnd type="none" w="med" len="med"/>
                    </a:lnL>
                    <a:lnR w="12700" cap="flat" cmpd="sng" algn="ctr">
                      <a:solidFill>
                        <a:srgbClr val="E4E0D6"/>
                      </a:solidFill>
                      <a:prstDash val="solid"/>
                      <a:round/>
                      <a:headEnd type="none" w="med" len="med"/>
                      <a:tailEnd type="none" w="med" len="med"/>
                    </a:lnR>
                    <a:lnT w="12700" cap="flat" cmpd="sng" algn="ctr">
                      <a:solidFill>
                        <a:srgbClr val="E4E0D6"/>
                      </a:solidFill>
                      <a:prstDash val="solid"/>
                      <a:round/>
                      <a:headEnd type="none" w="med" len="med"/>
                      <a:tailEnd type="none" w="med" len="med"/>
                    </a:lnT>
                    <a:lnB w="12700" cap="flat" cmpd="sng" algn="ctr">
                      <a:solidFill>
                        <a:srgbClr val="E4E0D6"/>
                      </a:solidFill>
                      <a:prstDash val="solid"/>
                      <a:round/>
                      <a:headEnd type="none" w="med" len="med"/>
                      <a:tailEnd type="none" w="med" len="med"/>
                    </a:lnB>
                    <a:solidFill>
                      <a:srgbClr val="FFFFFF"/>
                    </a:solidFill>
                  </a:tcPr>
                </a:tc>
                <a:tc>
                  <a:txBody>
                    <a:bodyPr/>
                    <a:lstStyle/>
                    <a:p>
                      <a:pPr marL="0" indent="0" algn="ctr">
                        <a:buNone/>
                      </a:pPr>
                      <a:r>
                        <a:rPr lang="en-US" sz="1400" dirty="0">
                          <a:solidFill>
                            <a:schemeClr val="tx1"/>
                          </a:solidFill>
                          <a:latin typeface="Calibri" pitchFamily="34" charset="0"/>
                          <a:ea typeface="Calibri" pitchFamily="34" charset="-122"/>
                          <a:cs typeface="Calibri" pitchFamily="34" charset="-120"/>
                        </a:rPr>
                        <a:t>0.97</a:t>
                      </a:r>
                      <a:endParaRPr lang="en-US" sz="1400" dirty="0">
                        <a:latin typeface="Calibri" charset="0"/>
                        <a:ea typeface="Calibri" charset="0"/>
                        <a:cs typeface="Calibri" charset="0"/>
                      </a:endParaRPr>
                    </a:p>
                  </a:txBody>
                  <a:tcPr anchor="ctr">
                    <a:lnL w="12700" cap="flat" cmpd="sng" algn="ctr">
                      <a:solidFill>
                        <a:srgbClr val="E4E0D6"/>
                      </a:solidFill>
                      <a:prstDash val="solid"/>
                      <a:round/>
                      <a:headEnd type="none" w="med" len="med"/>
                      <a:tailEnd type="none" w="med" len="med"/>
                    </a:lnL>
                    <a:lnR w="12700" cap="flat" cmpd="sng" algn="ctr">
                      <a:solidFill>
                        <a:srgbClr val="E4E0D6"/>
                      </a:solidFill>
                      <a:prstDash val="solid"/>
                      <a:round/>
                      <a:headEnd type="none" w="med" len="med"/>
                      <a:tailEnd type="none" w="med" len="med"/>
                    </a:lnR>
                    <a:lnT w="12700" cap="flat" cmpd="sng" algn="ctr">
                      <a:solidFill>
                        <a:srgbClr val="E4E0D6"/>
                      </a:solidFill>
                      <a:prstDash val="solid"/>
                      <a:round/>
                      <a:headEnd type="none" w="med" len="med"/>
                      <a:tailEnd type="none" w="med" len="med"/>
                    </a:lnT>
                    <a:lnB w="12700" cap="flat" cmpd="sng" algn="ctr">
                      <a:solidFill>
                        <a:srgbClr val="E4E0D6"/>
                      </a:solidFill>
                      <a:prstDash val="solid"/>
                      <a:round/>
                      <a:headEnd type="none" w="med" len="med"/>
                      <a:tailEnd type="none" w="med" len="med"/>
                    </a:lnB>
                    <a:solidFill>
                      <a:srgbClr val="FFFFFF"/>
                    </a:solidFill>
                  </a:tcPr>
                </a:tc>
                <a:tc>
                  <a:txBody>
                    <a:bodyPr/>
                    <a:lstStyle/>
                    <a:p>
                      <a:pPr marL="0" indent="0" algn="ctr">
                        <a:buNone/>
                      </a:pPr>
                      <a:r>
                        <a:rPr lang="en-US" sz="1400" dirty="0">
                          <a:solidFill>
                            <a:schemeClr val="tx1"/>
                          </a:solidFill>
                          <a:latin typeface="Calibri" pitchFamily="34" charset="0"/>
                          <a:ea typeface="Calibri" pitchFamily="34" charset="-122"/>
                          <a:cs typeface="Calibri" pitchFamily="34" charset="-120"/>
                        </a:rPr>
                        <a:t>0.05</a:t>
                      </a:r>
                      <a:endParaRPr lang="en-US" sz="1400" dirty="0">
                        <a:latin typeface="Calibri" charset="0"/>
                        <a:ea typeface="Calibri" charset="0"/>
                        <a:cs typeface="Calibri" charset="0"/>
                      </a:endParaRPr>
                    </a:p>
                  </a:txBody>
                  <a:tcPr anchor="ctr">
                    <a:lnL w="12700" cap="flat" cmpd="sng" algn="ctr">
                      <a:solidFill>
                        <a:srgbClr val="E4E0D6"/>
                      </a:solidFill>
                      <a:prstDash val="solid"/>
                      <a:round/>
                      <a:headEnd type="none" w="med" len="med"/>
                      <a:tailEnd type="none" w="med" len="med"/>
                    </a:lnL>
                    <a:lnR w="12700" cap="flat" cmpd="sng" algn="ctr">
                      <a:solidFill>
                        <a:srgbClr val="E4E0D6"/>
                      </a:solidFill>
                      <a:prstDash val="solid"/>
                      <a:round/>
                      <a:headEnd type="none" w="med" len="med"/>
                      <a:tailEnd type="none" w="med" len="med"/>
                    </a:lnR>
                    <a:lnT w="12700" cap="flat" cmpd="sng" algn="ctr">
                      <a:solidFill>
                        <a:srgbClr val="E4E0D6"/>
                      </a:solidFill>
                      <a:prstDash val="solid"/>
                      <a:round/>
                      <a:headEnd type="none" w="med" len="med"/>
                      <a:tailEnd type="none" w="med" len="med"/>
                    </a:lnT>
                    <a:lnB w="12700" cap="flat" cmpd="sng" algn="ctr">
                      <a:solidFill>
                        <a:srgbClr val="E4E0D6"/>
                      </a:solidFill>
                      <a:prstDash val="solid"/>
                      <a:round/>
                      <a:headEnd type="none" w="med" len="med"/>
                      <a:tailEnd type="none" w="med" len="med"/>
                    </a:lnB>
                    <a:solidFill>
                      <a:srgbClr val="FFFFFF"/>
                    </a:solidFill>
                  </a:tcPr>
                </a:tc>
                <a:tc>
                  <a:txBody>
                    <a:bodyPr/>
                    <a:lstStyle/>
                    <a:p>
                      <a:pPr marL="0" indent="0" algn="ctr">
                        <a:buNone/>
                      </a:pPr>
                      <a:r>
                        <a:rPr lang="en-US" sz="1400" dirty="0">
                          <a:solidFill>
                            <a:schemeClr val="tx1"/>
                          </a:solidFill>
                          <a:latin typeface="Calibri" pitchFamily="34" charset="0"/>
                          <a:ea typeface="Calibri" pitchFamily="34" charset="-122"/>
                          <a:cs typeface="Calibri" pitchFamily="34" charset="-120"/>
                        </a:rPr>
                        <a:t>4.8</a:t>
                      </a:r>
                      <a:endParaRPr lang="en-US" sz="1400" dirty="0">
                        <a:latin typeface="Calibri" charset="0"/>
                        <a:ea typeface="Calibri" charset="0"/>
                        <a:cs typeface="Calibri" charset="0"/>
                      </a:endParaRPr>
                    </a:p>
                  </a:txBody>
                  <a:tcPr anchor="ctr">
                    <a:lnL w="12700" cap="flat" cmpd="sng" algn="ctr">
                      <a:solidFill>
                        <a:srgbClr val="E4E0D6"/>
                      </a:solidFill>
                      <a:prstDash val="solid"/>
                      <a:round/>
                      <a:headEnd type="none" w="med" len="med"/>
                      <a:tailEnd type="none" w="med" len="med"/>
                    </a:lnL>
                    <a:lnR w="12700" cap="flat" cmpd="sng" algn="ctr">
                      <a:solidFill>
                        <a:srgbClr val="E4E0D6"/>
                      </a:solidFill>
                      <a:prstDash val="solid"/>
                      <a:round/>
                      <a:headEnd type="none" w="med" len="med"/>
                      <a:tailEnd type="none" w="med" len="med"/>
                    </a:lnR>
                    <a:lnT w="12700" cap="flat" cmpd="sng" algn="ctr">
                      <a:solidFill>
                        <a:srgbClr val="E4E0D6"/>
                      </a:solidFill>
                      <a:prstDash val="solid"/>
                      <a:round/>
                      <a:headEnd type="none" w="med" len="med"/>
                      <a:tailEnd type="none" w="med" len="med"/>
                    </a:lnT>
                    <a:lnB w="12700" cap="flat" cmpd="sng" algn="ctr">
                      <a:solidFill>
                        <a:srgbClr val="E4E0D6"/>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20624">
                <a:tc>
                  <a:txBody>
                    <a:bodyPr/>
                    <a:lstStyle/>
                    <a:p>
                      <a:pPr marL="0" indent="0">
                        <a:buNone/>
                      </a:pPr>
                      <a:r>
                        <a:rPr lang="en-US" sz="1500" b="1" dirty="0">
                          <a:solidFill>
                            <a:schemeClr val="tx1"/>
                          </a:solidFill>
                          <a:latin typeface="Calibri" pitchFamily="34" charset="0"/>
                          <a:ea typeface="Calibri" pitchFamily="34" charset="-122"/>
                          <a:cs typeface="Calibri" pitchFamily="34" charset="-120"/>
                        </a:rPr>
                        <a:t>Total</a:t>
                      </a:r>
                      <a:endParaRPr lang="en-US" sz="1500" dirty="0">
                        <a:latin typeface="Calibri" charset="0"/>
                        <a:ea typeface="Calibri" charset="0"/>
                        <a:cs typeface="Calibri" charset="0"/>
                      </a:endParaRPr>
                    </a:p>
                  </a:txBody>
                  <a:tcPr anchor="ctr">
                    <a:lnL w="12700" cap="flat" cmpd="sng" algn="ctr">
                      <a:solidFill>
                        <a:srgbClr val="E4E0D6"/>
                      </a:solidFill>
                      <a:prstDash val="solid"/>
                      <a:round/>
                      <a:headEnd type="none" w="med" len="med"/>
                      <a:tailEnd type="none" w="med" len="med"/>
                    </a:lnL>
                    <a:lnR w="12700" cap="flat" cmpd="sng" algn="ctr">
                      <a:solidFill>
                        <a:srgbClr val="E4E0D6"/>
                      </a:solidFill>
                      <a:prstDash val="solid"/>
                      <a:round/>
                      <a:headEnd type="none" w="med" len="med"/>
                      <a:tailEnd type="none" w="med" len="med"/>
                    </a:lnR>
                    <a:lnT w="12700" cap="flat" cmpd="sng" algn="ctr">
                      <a:solidFill>
                        <a:srgbClr val="E4E0D6"/>
                      </a:solidFill>
                      <a:prstDash val="solid"/>
                      <a:round/>
                      <a:headEnd type="none" w="med" len="med"/>
                      <a:tailEnd type="none" w="med" len="med"/>
                    </a:lnT>
                    <a:lnB w="12700" cap="flat" cmpd="sng" algn="ctr">
                      <a:solidFill>
                        <a:srgbClr val="E4E0D6"/>
                      </a:solidFill>
                      <a:prstDash val="solid"/>
                      <a:round/>
                      <a:headEnd type="none" w="med" len="med"/>
                      <a:tailEnd type="none" w="med" len="med"/>
                    </a:lnB>
                    <a:solidFill>
                      <a:srgbClr val="E6F3F1"/>
                    </a:solidFill>
                  </a:tcPr>
                </a:tc>
                <a:tc>
                  <a:txBody>
                    <a:bodyPr/>
                    <a:lstStyle/>
                    <a:p>
                      <a:pPr marL="0" indent="0">
                        <a:buNone/>
                      </a:pPr>
                      <a:endParaRPr lang="en-US" sz="1200" dirty="0">
                        <a:latin typeface="Calibri" charset="0"/>
                        <a:ea typeface="Calibri" charset="0"/>
                        <a:cs typeface="Calibri" charset="0"/>
                      </a:endParaRPr>
                    </a:p>
                  </a:txBody>
                  <a:tcPr anchor="ctr">
                    <a:lnL w="12700" cap="flat" cmpd="sng" algn="ctr">
                      <a:solidFill>
                        <a:srgbClr val="E4E0D6"/>
                      </a:solidFill>
                      <a:prstDash val="solid"/>
                      <a:round/>
                      <a:headEnd type="none" w="med" len="med"/>
                      <a:tailEnd type="none" w="med" len="med"/>
                    </a:lnL>
                    <a:lnR w="12700" cap="flat" cmpd="sng" algn="ctr">
                      <a:solidFill>
                        <a:srgbClr val="E4E0D6"/>
                      </a:solidFill>
                      <a:prstDash val="solid"/>
                      <a:round/>
                      <a:headEnd type="none" w="med" len="med"/>
                      <a:tailEnd type="none" w="med" len="med"/>
                    </a:lnR>
                    <a:lnT w="12700" cap="flat" cmpd="sng" algn="ctr">
                      <a:solidFill>
                        <a:srgbClr val="E4E0D6"/>
                      </a:solidFill>
                      <a:prstDash val="solid"/>
                      <a:round/>
                      <a:headEnd type="none" w="med" len="med"/>
                      <a:tailEnd type="none" w="med" len="med"/>
                    </a:lnT>
                    <a:lnB w="12700" cap="flat" cmpd="sng" algn="ctr">
                      <a:solidFill>
                        <a:srgbClr val="E4E0D6"/>
                      </a:solidFill>
                      <a:prstDash val="solid"/>
                      <a:round/>
                      <a:headEnd type="none" w="med" len="med"/>
                      <a:tailEnd type="none" w="med" len="med"/>
                    </a:lnB>
                    <a:solidFill>
                      <a:srgbClr val="E6F3F1"/>
                    </a:solidFill>
                  </a:tcPr>
                </a:tc>
                <a:tc>
                  <a:txBody>
                    <a:bodyPr/>
                    <a:lstStyle/>
                    <a:p>
                      <a:pPr marL="0" indent="0" algn="ctr">
                        <a:buNone/>
                      </a:pPr>
                      <a:r>
                        <a:rPr lang="en-US" sz="1500" b="1" dirty="0">
                          <a:solidFill>
                            <a:schemeClr val="tx1"/>
                          </a:solidFill>
                          <a:latin typeface="Calibri" pitchFamily="34" charset="0"/>
                          <a:ea typeface="Calibri" pitchFamily="34" charset="-122"/>
                          <a:cs typeface="Calibri" pitchFamily="34" charset="-120"/>
                        </a:rPr>
                        <a:t>1.00</a:t>
                      </a:r>
                      <a:endParaRPr lang="en-US" sz="1500" dirty="0">
                        <a:latin typeface="Calibri" charset="0"/>
                        <a:ea typeface="Calibri" charset="0"/>
                        <a:cs typeface="Calibri" charset="0"/>
                      </a:endParaRPr>
                    </a:p>
                  </a:txBody>
                  <a:tcPr anchor="ctr">
                    <a:lnL w="12700" cap="flat" cmpd="sng" algn="ctr">
                      <a:solidFill>
                        <a:srgbClr val="E4E0D6"/>
                      </a:solidFill>
                      <a:prstDash val="solid"/>
                      <a:round/>
                      <a:headEnd type="none" w="med" len="med"/>
                      <a:tailEnd type="none" w="med" len="med"/>
                    </a:lnL>
                    <a:lnR w="12700" cap="flat" cmpd="sng" algn="ctr">
                      <a:solidFill>
                        <a:srgbClr val="E4E0D6"/>
                      </a:solidFill>
                      <a:prstDash val="solid"/>
                      <a:round/>
                      <a:headEnd type="none" w="med" len="med"/>
                      <a:tailEnd type="none" w="med" len="med"/>
                    </a:lnR>
                    <a:lnT w="12700" cap="flat" cmpd="sng" algn="ctr">
                      <a:solidFill>
                        <a:srgbClr val="E4E0D6"/>
                      </a:solidFill>
                      <a:prstDash val="solid"/>
                      <a:round/>
                      <a:headEnd type="none" w="med" len="med"/>
                      <a:tailEnd type="none" w="med" len="med"/>
                    </a:lnT>
                    <a:lnB w="12700" cap="flat" cmpd="sng" algn="ctr">
                      <a:solidFill>
                        <a:srgbClr val="E4E0D6"/>
                      </a:solidFill>
                      <a:prstDash val="solid"/>
                      <a:round/>
                      <a:headEnd type="none" w="med" len="med"/>
                      <a:tailEnd type="none" w="med" len="med"/>
                    </a:lnB>
                    <a:solidFill>
                      <a:srgbClr val="E6F3F1"/>
                    </a:solidFill>
                  </a:tcPr>
                </a:tc>
                <a:tc>
                  <a:txBody>
                    <a:bodyPr/>
                    <a:lstStyle/>
                    <a:p>
                      <a:pPr marL="0" indent="0" algn="ctr">
                        <a:buNone/>
                      </a:pPr>
                      <a:r>
                        <a:rPr lang="en-US" sz="1500" b="1" dirty="0">
                          <a:solidFill>
                            <a:schemeClr val="tx1"/>
                          </a:solidFill>
                          <a:latin typeface="Calibri" pitchFamily="34" charset="0"/>
                          <a:ea typeface="Calibri" pitchFamily="34" charset="-122"/>
                          <a:cs typeface="Calibri" pitchFamily="34" charset="-120"/>
                        </a:rPr>
                        <a:t>43.7</a:t>
                      </a:r>
                      <a:endParaRPr lang="en-US" sz="1500" dirty="0">
                        <a:latin typeface="Calibri" charset="0"/>
                        <a:ea typeface="Calibri" charset="0"/>
                        <a:cs typeface="Calibri" charset="0"/>
                      </a:endParaRPr>
                    </a:p>
                  </a:txBody>
                  <a:tcPr anchor="ctr">
                    <a:lnL w="12700" cap="flat" cmpd="sng" algn="ctr">
                      <a:solidFill>
                        <a:srgbClr val="E4E0D6"/>
                      </a:solidFill>
                      <a:prstDash val="solid"/>
                      <a:round/>
                      <a:headEnd type="none" w="med" len="med"/>
                      <a:tailEnd type="none" w="med" len="med"/>
                    </a:lnL>
                    <a:lnR w="12700" cap="flat" cmpd="sng" algn="ctr">
                      <a:solidFill>
                        <a:srgbClr val="E4E0D6"/>
                      </a:solidFill>
                      <a:prstDash val="solid"/>
                      <a:round/>
                      <a:headEnd type="none" w="med" len="med"/>
                      <a:tailEnd type="none" w="med" len="med"/>
                    </a:lnR>
                    <a:lnT w="12700" cap="flat" cmpd="sng" algn="ctr">
                      <a:solidFill>
                        <a:srgbClr val="E4E0D6"/>
                      </a:solidFill>
                      <a:prstDash val="solid"/>
                      <a:round/>
                      <a:headEnd type="none" w="med" len="med"/>
                      <a:tailEnd type="none" w="med" len="med"/>
                    </a:lnT>
                    <a:lnB w="12700" cap="flat" cmpd="sng" algn="ctr">
                      <a:solidFill>
                        <a:srgbClr val="E4E0D6"/>
                      </a:solidFill>
                      <a:prstDash val="solid"/>
                      <a:round/>
                      <a:headEnd type="none" w="med" len="med"/>
                      <a:tailEnd type="none" w="med" len="med"/>
                    </a:lnB>
                    <a:solidFill>
                      <a:srgbClr val="E6F3F1"/>
                    </a:solidFill>
                  </a:tcPr>
                </a:tc>
                <a:extLst>
                  <a:ext uri="{0D108BD9-81ED-4DB2-BD59-A6C34878D82A}">
                    <a16:rowId xmlns:a16="http://schemas.microsoft.com/office/drawing/2014/main" val="10006"/>
                  </a:ext>
                </a:extLst>
              </a:tr>
            </a:tbl>
          </a:graphicData>
        </a:graphic>
      </p:graphicFrame>
      <p:sp>
        <p:nvSpPr>
          <p:cNvPr id="5" name="Text 1"/>
          <p:cNvSpPr txBox="1"/>
          <p:nvPr/>
        </p:nvSpPr>
        <p:spPr>
          <a:xfrm>
            <a:off x="548640" y="4480560"/>
            <a:ext cx="5394960" cy="548640"/>
          </a:xfrm>
          <a:prstGeom prst="rect">
            <a:avLst/>
          </a:prstGeom>
          <a:noFill/>
          <a:ln/>
        </p:spPr>
        <p:txBody>
          <a:bodyPr wrap="square" lIns="0" tIns="0" rIns="0" bIns="0" rtlCol="0" anchor="t"/>
          <a:lstStyle/>
          <a:p>
            <a:pPr marL="0" indent="0">
              <a:buNone/>
            </a:pPr>
            <a:r>
              <a:rPr lang="en-US" sz="1300" dirty="0">
                <a:solidFill>
                  <a:srgbClr val="4A5A66"/>
                </a:solidFill>
              </a:rPr>
              <a:t>Weights shown are Friends mode: interests 30%, clubs 25%, courses 20%, free time 20%, values 5%.</a:t>
            </a:r>
            <a:endParaRPr lang="en-US" sz="1300" dirty="0"/>
          </a:p>
        </p:txBody>
      </p:sp>
      <p:graphicFrame>
        <p:nvGraphicFramePr>
          <p:cNvPr id="6" name="Chart 0"/>
          <p:cNvGraphicFramePr/>
          <p:nvPr/>
        </p:nvGraphicFramePr>
        <p:xfrm>
          <a:off x="6217920" y="1325880"/>
          <a:ext cx="5394960" cy="3657600"/>
        </p:xfrm>
        <a:graphic>
          <a:graphicData uri="http://schemas.openxmlformats.org/drawingml/2006/chart">
            <c:chart xmlns:c="http://schemas.openxmlformats.org/drawingml/2006/chart" xmlns:r="http://schemas.openxmlformats.org/officeDocument/2006/relationships" r:id="rId3"/>
          </a:graphicData>
        </a:graphic>
      </p:graphicFrame>
      <p:sp>
        <p:nvSpPr>
          <p:cNvPr id="7" name="Shape 2"/>
          <p:cNvSpPr/>
          <p:nvPr/>
        </p:nvSpPr>
        <p:spPr>
          <a:xfrm>
            <a:off x="548640" y="5166360"/>
            <a:ext cx="11064240" cy="1097280"/>
          </a:xfrm>
          <a:prstGeom prst="roundRect">
            <a:avLst>
              <a:gd name="adj" fmla="val 10000"/>
            </a:avLst>
          </a:prstGeom>
          <a:solidFill>
            <a:srgbClr val="E6F3F1"/>
          </a:solidFill>
          <a:ln w="12700">
            <a:solidFill>
              <a:srgbClr val="E6F3F1"/>
            </a:solidFill>
            <a:prstDash val="solid"/>
          </a:ln>
        </p:spPr>
        <p:txBody>
          <a:bodyPr/>
          <a:lstStyle/>
          <a:p>
            <a:endParaRPr lang="en-US"/>
          </a:p>
        </p:txBody>
      </p:sp>
      <p:sp>
        <p:nvSpPr>
          <p:cNvPr id="8" name="Text 3"/>
          <p:cNvSpPr txBox="1"/>
          <p:nvPr/>
        </p:nvSpPr>
        <p:spPr>
          <a:xfrm>
            <a:off x="777240" y="5294376"/>
            <a:ext cx="10607040" cy="256032"/>
          </a:xfrm>
          <a:prstGeom prst="rect">
            <a:avLst/>
          </a:prstGeom>
          <a:noFill/>
          <a:ln/>
        </p:spPr>
        <p:txBody>
          <a:bodyPr wrap="square" lIns="0" tIns="0" rIns="0" bIns="0" rtlCol="0" anchor="ctr"/>
          <a:lstStyle/>
          <a:p>
            <a:pPr marL="0" indent="0">
              <a:buNone/>
            </a:pPr>
            <a:r>
              <a:rPr lang="en-US" sz="1100" b="1" kern="0" spc="200" dirty="0">
                <a:solidFill>
                  <a:srgbClr val="0F766E"/>
                </a:solidFill>
              </a:rPr>
              <a:t>IN PLAIN WORDS</a:t>
            </a:r>
            <a:endParaRPr lang="en-US" sz="1100" dirty="0"/>
          </a:p>
        </p:txBody>
      </p:sp>
      <p:sp>
        <p:nvSpPr>
          <p:cNvPr id="9" name="Text 4"/>
          <p:cNvSpPr txBox="1"/>
          <p:nvPr/>
        </p:nvSpPr>
        <p:spPr>
          <a:xfrm>
            <a:off x="777240" y="5586984"/>
            <a:ext cx="10607040" cy="566928"/>
          </a:xfrm>
          <a:prstGeom prst="rect">
            <a:avLst/>
          </a:prstGeom>
          <a:noFill/>
          <a:ln/>
        </p:spPr>
        <p:txBody>
          <a:bodyPr wrap="square" lIns="0" tIns="0" rIns="0" bIns="0" rtlCol="0" anchor="t"/>
          <a:lstStyle/>
          <a:p>
            <a:pPr marL="0" indent="0">
              <a:buNone/>
            </a:pPr>
            <a:r>
              <a:rPr lang="en-US" sz="1500" dirty="0">
                <a:solidFill>
                  <a:schemeClr val="tx1"/>
                </a:solidFill>
              </a:rPr>
              <a:t>Points = how much two people overlap on an ingredient × how much that ingredient matters in this mode. Add them up and you get the score out of 100.</a:t>
            </a:r>
            <a:endParaRPr lang="en-US" sz="1500" dirty="0"/>
          </a:p>
        </p:txBody>
      </p:sp>
      <p:sp>
        <p:nvSpPr>
          <p:cNvPr id="25" name="Slide Number Placeholder 0"/>
          <p:cNvSpPr>
            <a:spLocks noGrp="1"/>
          </p:cNvSpPr>
          <p:nvPr>
            <p:ph type="sldNum" sz="quarter" idx="4294967295"/>
          </p:nvPr>
        </p:nvSpPr>
        <p:spPr>
          <a:xfrm>
            <a:off x="11155680" y="647395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400" b="1" dirty="0">
                <a:solidFill>
                  <a:schemeClr val="tx1"/>
                </a:solidFill>
              </a:rPr>
              <a:t>Modes change the weights, sliders make it personal</a:t>
            </a:r>
            <a:endParaRPr lang="en-US" sz="3400" dirty="0"/>
          </a:p>
        </p:txBody>
      </p:sp>
      <p:graphicFrame>
        <p:nvGraphicFramePr>
          <p:cNvPr id="4" name="Chart 0"/>
          <p:cNvGraphicFramePr/>
          <p:nvPr/>
        </p:nvGraphicFramePr>
        <p:xfrm>
          <a:off x="548640" y="1325880"/>
          <a:ext cx="6675120" cy="4023360"/>
        </p:xfrm>
        <a:graphic>
          <a:graphicData uri="http://schemas.openxmlformats.org/drawingml/2006/chart">
            <c:chart xmlns:c="http://schemas.openxmlformats.org/drawingml/2006/chart" xmlns:r="http://schemas.openxmlformats.org/officeDocument/2006/relationships" r:id="rId3"/>
          </a:graphicData>
        </a:graphic>
      </p:graphicFrame>
      <p:pic>
        <p:nvPicPr>
          <p:cNvPr id="5" name="Image 0" descr="Phone screenshot of the what-matters-to-me sliders"/>
          <p:cNvPicPr>
            <a:picLocks noChangeAspect="1"/>
          </p:cNvPicPr>
          <p:nvPr/>
        </p:nvPicPr>
        <p:blipFill>
          <a:blip r:embed="rId4"/>
          <a:stretch>
            <a:fillRect/>
          </a:stretch>
        </p:blipFill>
        <p:spPr>
          <a:xfrm>
            <a:off x="7680960" y="1280160"/>
            <a:ext cx="1964383" cy="4069080"/>
          </a:xfrm>
          <a:prstGeom prst="rect">
            <a:avLst/>
          </a:prstGeom>
        </p:spPr>
      </p:pic>
      <p:sp>
        <p:nvSpPr>
          <p:cNvPr id="6" name="step-1-dot"/>
          <p:cNvSpPr/>
          <p:nvPr/>
        </p:nvSpPr>
        <p:spPr>
          <a:xfrm>
            <a:off x="9966960" y="1554480"/>
            <a:ext cx="457200" cy="457200"/>
          </a:xfrm>
          <a:prstGeom prst="ellipse">
            <a:avLst/>
          </a:prstGeom>
          <a:solidFill>
            <a:srgbClr val="0F766E"/>
          </a:solidFill>
          <a:ln w="12700">
            <a:solidFill>
              <a:srgbClr val="0F766E"/>
            </a:solidFill>
            <a:prstDash val="solid"/>
          </a:ln>
        </p:spPr>
        <p:txBody>
          <a:bodyPr/>
          <a:lstStyle/>
          <a:p>
            <a:endParaRPr lang="en-US"/>
          </a:p>
        </p:txBody>
      </p:sp>
      <p:sp>
        <p:nvSpPr>
          <p:cNvPr id="7" name="Text 2"/>
          <p:cNvSpPr txBox="1"/>
          <p:nvPr/>
        </p:nvSpPr>
        <p:spPr>
          <a:xfrm>
            <a:off x="9966960" y="1554480"/>
            <a:ext cx="457200" cy="457200"/>
          </a:xfrm>
          <a:prstGeom prst="rect">
            <a:avLst/>
          </a:prstGeom>
          <a:noFill/>
          <a:ln/>
        </p:spPr>
        <p:txBody>
          <a:bodyPr wrap="square" lIns="0" tIns="0" rIns="0" bIns="0" rtlCol="0" anchor="ctr"/>
          <a:lstStyle/>
          <a:p>
            <a:pPr marL="0" indent="0" algn="ctr">
              <a:buNone/>
            </a:pPr>
            <a:r>
              <a:rPr lang="en-US" sz="1600" b="1" dirty="0">
                <a:solidFill>
                  <a:srgbClr val="12202B"/>
                </a:solidFill>
              </a:rPr>
              <a:t>1</a:t>
            </a:r>
            <a:endParaRPr lang="en-US" sz="1600" dirty="0"/>
          </a:p>
        </p:txBody>
      </p:sp>
      <p:sp>
        <p:nvSpPr>
          <p:cNvPr id="8" name="Text 3"/>
          <p:cNvSpPr txBox="1"/>
          <p:nvPr/>
        </p:nvSpPr>
        <p:spPr>
          <a:xfrm>
            <a:off x="10652760" y="1499616"/>
            <a:ext cx="1417320" cy="365760"/>
          </a:xfrm>
          <a:prstGeom prst="rect">
            <a:avLst/>
          </a:prstGeom>
          <a:noFill/>
          <a:ln/>
        </p:spPr>
        <p:txBody>
          <a:bodyPr wrap="square" lIns="0" tIns="0" rIns="0" bIns="0" rtlCol="0" anchor="ctr"/>
          <a:lstStyle/>
          <a:p>
            <a:pPr marL="0" indent="0">
              <a:buNone/>
            </a:pPr>
            <a:r>
              <a:rPr lang="en-US" sz="1400" b="1" dirty="0">
                <a:solidFill>
                  <a:schemeClr val="tx1"/>
                </a:solidFill>
              </a:rPr>
              <a:t>Three sliders</a:t>
            </a:r>
            <a:endParaRPr lang="en-US" sz="1400" dirty="0"/>
          </a:p>
        </p:txBody>
      </p:sp>
      <p:sp>
        <p:nvSpPr>
          <p:cNvPr id="9" name="Text 4"/>
          <p:cNvSpPr txBox="1"/>
          <p:nvPr/>
        </p:nvSpPr>
        <p:spPr>
          <a:xfrm>
            <a:off x="10652760" y="1883664"/>
            <a:ext cx="1417320" cy="640080"/>
          </a:xfrm>
          <a:prstGeom prst="rect">
            <a:avLst/>
          </a:prstGeom>
          <a:noFill/>
          <a:ln/>
        </p:spPr>
        <p:txBody>
          <a:bodyPr wrap="square" lIns="0" tIns="0" rIns="0" bIns="0" rtlCol="0" anchor="t"/>
          <a:lstStyle/>
          <a:p>
            <a:pPr marL="0" indent="0">
              <a:buNone/>
            </a:pPr>
            <a:r>
              <a:rPr lang="en-US" sz="1200" dirty="0">
                <a:solidFill>
                  <a:srgbClr val="4A5A66"/>
                </a:solidFill>
              </a:rPr>
              <a:t>From 0.5× to 1.5× on classes, interests and free time.</a:t>
            </a:r>
            <a:endParaRPr lang="en-US" sz="1200" dirty="0"/>
          </a:p>
        </p:txBody>
      </p:sp>
      <p:sp>
        <p:nvSpPr>
          <p:cNvPr id="10" name="step-2-dot"/>
          <p:cNvSpPr/>
          <p:nvPr/>
        </p:nvSpPr>
        <p:spPr>
          <a:xfrm>
            <a:off x="9966960" y="3291840"/>
            <a:ext cx="457200" cy="457200"/>
          </a:xfrm>
          <a:prstGeom prst="ellipse">
            <a:avLst/>
          </a:prstGeom>
          <a:solidFill>
            <a:srgbClr val="0F766E"/>
          </a:solidFill>
          <a:ln w="12700">
            <a:solidFill>
              <a:srgbClr val="0F766E"/>
            </a:solidFill>
            <a:prstDash val="solid"/>
          </a:ln>
        </p:spPr>
        <p:txBody>
          <a:bodyPr/>
          <a:lstStyle/>
          <a:p>
            <a:endParaRPr lang="en-US"/>
          </a:p>
        </p:txBody>
      </p:sp>
      <p:sp>
        <p:nvSpPr>
          <p:cNvPr id="11" name="Text 6"/>
          <p:cNvSpPr txBox="1"/>
          <p:nvPr/>
        </p:nvSpPr>
        <p:spPr>
          <a:xfrm>
            <a:off x="9966960" y="3291840"/>
            <a:ext cx="457200" cy="457200"/>
          </a:xfrm>
          <a:prstGeom prst="rect">
            <a:avLst/>
          </a:prstGeom>
          <a:noFill/>
          <a:ln/>
        </p:spPr>
        <p:txBody>
          <a:bodyPr wrap="square" lIns="0" tIns="0" rIns="0" bIns="0" rtlCol="0" anchor="ctr"/>
          <a:lstStyle/>
          <a:p>
            <a:pPr marL="0" indent="0" algn="ctr">
              <a:buNone/>
            </a:pPr>
            <a:r>
              <a:rPr lang="en-US" sz="1600" b="1" dirty="0">
                <a:solidFill>
                  <a:srgbClr val="12202B"/>
                </a:solidFill>
              </a:rPr>
              <a:t>2</a:t>
            </a:r>
            <a:endParaRPr lang="en-US" sz="1600" dirty="0"/>
          </a:p>
        </p:txBody>
      </p:sp>
      <p:sp>
        <p:nvSpPr>
          <p:cNvPr id="12" name="Text 7"/>
          <p:cNvSpPr txBox="1"/>
          <p:nvPr/>
        </p:nvSpPr>
        <p:spPr>
          <a:xfrm>
            <a:off x="10652760" y="3236976"/>
            <a:ext cx="1417320" cy="365760"/>
          </a:xfrm>
          <a:prstGeom prst="rect">
            <a:avLst/>
          </a:prstGeom>
          <a:noFill/>
          <a:ln/>
        </p:spPr>
        <p:txBody>
          <a:bodyPr wrap="square" lIns="0" tIns="0" rIns="0" bIns="0" rtlCol="0" anchor="ctr"/>
          <a:lstStyle/>
          <a:p>
            <a:pPr marL="0" indent="0">
              <a:buNone/>
            </a:pPr>
            <a:r>
              <a:rPr lang="en-US" sz="1400" b="1" dirty="0">
                <a:solidFill>
                  <a:schemeClr val="tx1"/>
                </a:solidFill>
              </a:rPr>
              <a:t>Ranking is two-sided</a:t>
            </a:r>
            <a:endParaRPr lang="en-US" sz="1400" dirty="0"/>
          </a:p>
        </p:txBody>
      </p:sp>
      <p:sp>
        <p:nvSpPr>
          <p:cNvPr id="13" name="Text 8"/>
          <p:cNvSpPr txBox="1"/>
          <p:nvPr/>
        </p:nvSpPr>
        <p:spPr>
          <a:xfrm>
            <a:off x="10652760" y="3621024"/>
            <a:ext cx="1417320" cy="640080"/>
          </a:xfrm>
          <a:prstGeom prst="rect">
            <a:avLst/>
          </a:prstGeom>
          <a:noFill/>
          <a:ln/>
        </p:spPr>
        <p:txBody>
          <a:bodyPr wrap="square" lIns="0" tIns="0" rIns="0" bIns="0" rtlCol="0" anchor="t"/>
          <a:lstStyle/>
          <a:p>
            <a:pPr marL="0" indent="0">
              <a:buNone/>
            </a:pPr>
            <a:r>
              <a:rPr lang="en-US" sz="1200" dirty="0">
                <a:solidFill>
                  <a:srgbClr val="4A5A66"/>
                </a:solidFill>
              </a:rPr>
              <a:t>Harmonic mean: good for both, not just one.</a:t>
            </a:r>
            <a:endParaRPr lang="en-US" sz="1200" dirty="0"/>
          </a:p>
        </p:txBody>
      </p:sp>
      <p:sp>
        <p:nvSpPr>
          <p:cNvPr id="14" name="Shape 9"/>
          <p:cNvSpPr/>
          <p:nvPr/>
        </p:nvSpPr>
        <p:spPr>
          <a:xfrm>
            <a:off x="548640" y="5486400"/>
            <a:ext cx="11064240" cy="868680"/>
          </a:xfrm>
          <a:prstGeom prst="roundRect">
            <a:avLst>
              <a:gd name="adj" fmla="val 12632"/>
            </a:avLst>
          </a:prstGeom>
          <a:solidFill>
            <a:srgbClr val="E6F3F1"/>
          </a:solidFill>
          <a:ln w="12700">
            <a:solidFill>
              <a:srgbClr val="E6F3F1"/>
            </a:solidFill>
            <a:prstDash val="solid"/>
          </a:ln>
        </p:spPr>
        <p:txBody>
          <a:bodyPr/>
          <a:lstStyle/>
          <a:p>
            <a:endParaRPr lang="en-US"/>
          </a:p>
        </p:txBody>
      </p:sp>
      <p:sp>
        <p:nvSpPr>
          <p:cNvPr id="15" name="Text 10"/>
          <p:cNvSpPr txBox="1"/>
          <p:nvPr/>
        </p:nvSpPr>
        <p:spPr>
          <a:xfrm>
            <a:off x="777240" y="5614416"/>
            <a:ext cx="10607040" cy="256032"/>
          </a:xfrm>
          <a:prstGeom prst="rect">
            <a:avLst/>
          </a:prstGeom>
          <a:noFill/>
          <a:ln/>
        </p:spPr>
        <p:txBody>
          <a:bodyPr wrap="square" lIns="0" tIns="0" rIns="0" bIns="0" rtlCol="0" anchor="ctr"/>
          <a:lstStyle/>
          <a:p>
            <a:pPr marL="0" indent="0">
              <a:buNone/>
            </a:pPr>
            <a:r>
              <a:rPr lang="en-US" sz="1100" b="1" kern="0" spc="200" dirty="0">
                <a:solidFill>
                  <a:srgbClr val="0F766E"/>
                </a:solidFill>
              </a:rPr>
              <a:t>IN PLAIN WORDS</a:t>
            </a:r>
            <a:endParaRPr lang="en-US" sz="1100" dirty="0"/>
          </a:p>
        </p:txBody>
      </p:sp>
      <p:sp>
        <p:nvSpPr>
          <p:cNvPr id="16" name="Text 11"/>
          <p:cNvSpPr txBox="1"/>
          <p:nvPr/>
        </p:nvSpPr>
        <p:spPr>
          <a:xfrm>
            <a:off x="777240" y="5907024"/>
            <a:ext cx="10607040" cy="338328"/>
          </a:xfrm>
          <a:prstGeom prst="rect">
            <a:avLst/>
          </a:prstGeom>
          <a:noFill/>
          <a:ln/>
        </p:spPr>
        <p:txBody>
          <a:bodyPr wrap="square" lIns="0" tIns="0" rIns="0" bIns="0" rtlCol="0" anchor="t"/>
          <a:lstStyle/>
          <a:p>
            <a:pPr marL="0" indent="0">
              <a:buNone/>
            </a:pPr>
            <a:r>
              <a:rPr lang="en-US" sz="1500" dirty="0">
                <a:solidFill>
                  <a:schemeClr val="tx1"/>
                </a:solidFill>
              </a:rPr>
              <a:t>The mode says what kind of person you are looking for. The sliders let you fine-tune it. Ranking counts both people's view.</a:t>
            </a:r>
            <a:endParaRPr lang="en-US" sz="1500" dirty="0"/>
          </a:p>
        </p:txBody>
      </p:sp>
      <p:sp>
        <p:nvSpPr>
          <p:cNvPr id="25" name="Slide Number Placeholder 0"/>
          <p:cNvSpPr>
            <a:spLocks noGrp="1"/>
          </p:cNvSpPr>
          <p:nvPr>
            <p:ph type="sldNum" sz="quarter" idx="4294967295"/>
          </p:nvPr>
        </p:nvSpPr>
        <p:spPr>
          <a:xfrm>
            <a:off x="11155680" y="647395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400" b="1" dirty="0">
                <a:solidFill>
                  <a:schemeClr val="tx1"/>
                </a:solidFill>
              </a:rPr>
              <a:t>From scores to six daily picks</a:t>
            </a:r>
            <a:endParaRPr lang="en-US" sz="3400" dirty="0"/>
          </a:p>
        </p:txBody>
      </p:sp>
      <p:graphicFrame>
        <p:nvGraphicFramePr>
          <p:cNvPr id="4" name="Chart 0"/>
          <p:cNvGraphicFramePr/>
          <p:nvPr/>
        </p:nvGraphicFramePr>
        <p:xfrm>
          <a:off x="548640" y="1325880"/>
          <a:ext cx="5943600" cy="411480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1"/>
          <p:cNvSpPr/>
          <p:nvPr/>
        </p:nvSpPr>
        <p:spPr>
          <a:xfrm>
            <a:off x="6858000" y="1417320"/>
            <a:ext cx="822960" cy="822960"/>
          </a:xfrm>
          <a:prstGeom prst="ellipse">
            <a:avLst/>
          </a:prstGeom>
          <a:solidFill>
            <a:srgbClr val="0F766E"/>
          </a:solidFill>
          <a:ln w="12700">
            <a:solidFill>
              <a:srgbClr val="0F766E"/>
            </a:solidFill>
            <a:prstDash val="solid"/>
          </a:ln>
        </p:spPr>
        <p:txBody>
          <a:bodyPr/>
          <a:lstStyle/>
          <a:p>
            <a:endParaRPr lang="en-US"/>
          </a:p>
        </p:txBody>
      </p:sp>
      <p:sp>
        <p:nvSpPr>
          <p:cNvPr id="6" name="Text 2"/>
          <p:cNvSpPr txBox="1"/>
          <p:nvPr/>
        </p:nvSpPr>
        <p:spPr>
          <a:xfrm>
            <a:off x="6858000" y="1417320"/>
            <a:ext cx="822960" cy="822960"/>
          </a:xfrm>
          <a:prstGeom prst="rect">
            <a:avLst/>
          </a:prstGeom>
          <a:noFill/>
          <a:ln/>
        </p:spPr>
        <p:txBody>
          <a:bodyPr wrap="square" lIns="0" tIns="0" rIns="0" bIns="0" rtlCol="0" anchor="ctr"/>
          <a:lstStyle/>
          <a:p>
            <a:pPr marL="0" indent="0" algn="ctr">
              <a:buNone/>
            </a:pPr>
            <a:r>
              <a:rPr lang="en-US" sz="3000" b="1" dirty="0">
                <a:solidFill>
                  <a:srgbClr val="FFFFFF"/>
                </a:solidFill>
                <a:latin typeface="Cambria" pitchFamily="34" charset="0"/>
                <a:ea typeface="Cambria" pitchFamily="34" charset="-122"/>
                <a:cs typeface="Cambria" pitchFamily="34" charset="-120"/>
              </a:rPr>
              <a:t>4</a:t>
            </a:r>
            <a:endParaRPr lang="en-US" sz="3000" dirty="0"/>
          </a:p>
        </p:txBody>
      </p:sp>
      <p:sp>
        <p:nvSpPr>
          <p:cNvPr id="7" name="Text 3"/>
          <p:cNvSpPr txBox="1"/>
          <p:nvPr/>
        </p:nvSpPr>
        <p:spPr>
          <a:xfrm>
            <a:off x="7863840" y="1399032"/>
            <a:ext cx="3749040" cy="365760"/>
          </a:xfrm>
          <a:prstGeom prst="rect">
            <a:avLst/>
          </a:prstGeom>
          <a:noFill/>
          <a:ln/>
        </p:spPr>
        <p:txBody>
          <a:bodyPr wrap="square" lIns="0" tIns="0" rIns="0" bIns="0" rtlCol="0" anchor="ctr"/>
          <a:lstStyle/>
          <a:p>
            <a:pPr marL="0" indent="0">
              <a:buNone/>
            </a:pPr>
            <a:r>
              <a:rPr lang="en-US" sz="1800" b="1" dirty="0">
                <a:solidFill>
                  <a:schemeClr val="tx1"/>
                </a:solidFill>
              </a:rPr>
              <a:t>From the top</a:t>
            </a:r>
            <a:endParaRPr lang="en-US" sz="1800" dirty="0"/>
          </a:p>
        </p:txBody>
      </p:sp>
      <p:sp>
        <p:nvSpPr>
          <p:cNvPr id="8" name="Text 4"/>
          <p:cNvSpPr txBox="1"/>
          <p:nvPr/>
        </p:nvSpPr>
        <p:spPr>
          <a:xfrm>
            <a:off x="7863840" y="1783080"/>
            <a:ext cx="3749040" cy="502920"/>
          </a:xfrm>
          <a:prstGeom prst="rect">
            <a:avLst/>
          </a:prstGeom>
          <a:noFill/>
          <a:ln/>
        </p:spPr>
        <p:txBody>
          <a:bodyPr wrap="square" lIns="0" tIns="0" rIns="0" bIns="0" rtlCol="0" anchor="t"/>
          <a:lstStyle/>
          <a:p>
            <a:pPr marL="0" indent="0">
              <a:buNone/>
            </a:pPr>
            <a:r>
              <a:rPr lang="en-US" sz="1400" dirty="0">
                <a:solidFill>
                  <a:srgbClr val="4A5A66"/>
                </a:solidFill>
              </a:rPr>
              <a:t>The best-ranked people on the list.</a:t>
            </a:r>
            <a:endParaRPr lang="en-US" sz="1400" dirty="0"/>
          </a:p>
        </p:txBody>
      </p:sp>
      <p:sp>
        <p:nvSpPr>
          <p:cNvPr id="9" name="Shape 5"/>
          <p:cNvSpPr/>
          <p:nvPr/>
        </p:nvSpPr>
        <p:spPr>
          <a:xfrm>
            <a:off x="6858000" y="2606040"/>
            <a:ext cx="822960" cy="822960"/>
          </a:xfrm>
          <a:prstGeom prst="ellipse">
            <a:avLst/>
          </a:prstGeom>
          <a:solidFill>
            <a:srgbClr val="5B3FA6"/>
          </a:solidFill>
          <a:ln w="12700">
            <a:solidFill>
              <a:srgbClr val="5B3FA6"/>
            </a:solidFill>
            <a:prstDash val="solid"/>
          </a:ln>
        </p:spPr>
        <p:txBody>
          <a:bodyPr/>
          <a:lstStyle/>
          <a:p>
            <a:endParaRPr lang="en-US"/>
          </a:p>
        </p:txBody>
      </p:sp>
      <p:sp>
        <p:nvSpPr>
          <p:cNvPr id="10" name="Text 6"/>
          <p:cNvSpPr txBox="1"/>
          <p:nvPr/>
        </p:nvSpPr>
        <p:spPr>
          <a:xfrm>
            <a:off x="6858000" y="2606040"/>
            <a:ext cx="822960" cy="822960"/>
          </a:xfrm>
          <a:prstGeom prst="rect">
            <a:avLst/>
          </a:prstGeom>
          <a:noFill/>
          <a:ln/>
        </p:spPr>
        <p:txBody>
          <a:bodyPr wrap="square" lIns="0" tIns="0" rIns="0" bIns="0" rtlCol="0" anchor="ctr"/>
          <a:lstStyle/>
          <a:p>
            <a:pPr marL="0" indent="0" algn="ctr">
              <a:buNone/>
            </a:pPr>
            <a:r>
              <a:rPr lang="en-US" sz="3000" b="1" dirty="0">
                <a:solidFill>
                  <a:srgbClr val="FFFFFF"/>
                </a:solidFill>
                <a:latin typeface="Cambria" pitchFamily="34" charset="0"/>
                <a:ea typeface="Cambria" pitchFamily="34" charset="-122"/>
                <a:cs typeface="Cambria" pitchFamily="34" charset="-120"/>
              </a:rPr>
              <a:t>1</a:t>
            </a:r>
            <a:endParaRPr lang="en-US" sz="3000" dirty="0"/>
          </a:p>
        </p:txBody>
      </p:sp>
      <p:sp>
        <p:nvSpPr>
          <p:cNvPr id="11" name="Text 7"/>
          <p:cNvSpPr txBox="1"/>
          <p:nvPr/>
        </p:nvSpPr>
        <p:spPr>
          <a:xfrm>
            <a:off x="7863840" y="2587752"/>
            <a:ext cx="3749040" cy="365760"/>
          </a:xfrm>
          <a:prstGeom prst="rect">
            <a:avLst/>
          </a:prstGeom>
          <a:noFill/>
          <a:ln/>
        </p:spPr>
        <p:txBody>
          <a:bodyPr wrap="square" lIns="0" tIns="0" rIns="0" bIns="0" rtlCol="0" anchor="ctr"/>
          <a:lstStyle/>
          <a:p>
            <a:pPr marL="0" indent="0">
              <a:buNone/>
            </a:pPr>
            <a:r>
              <a:rPr lang="en-US" sz="1800" b="1" dirty="0">
                <a:solidFill>
                  <a:schemeClr val="tx1"/>
                </a:solidFill>
              </a:rPr>
              <a:t>From the middle</a:t>
            </a:r>
            <a:endParaRPr lang="en-US" sz="1800" dirty="0"/>
          </a:p>
        </p:txBody>
      </p:sp>
      <p:sp>
        <p:nvSpPr>
          <p:cNvPr id="12" name="Text 8"/>
          <p:cNvSpPr txBox="1"/>
          <p:nvPr/>
        </p:nvSpPr>
        <p:spPr>
          <a:xfrm>
            <a:off x="7863840" y="2971800"/>
            <a:ext cx="3749040" cy="502920"/>
          </a:xfrm>
          <a:prstGeom prst="rect">
            <a:avLst/>
          </a:prstGeom>
          <a:noFill/>
          <a:ln/>
        </p:spPr>
        <p:txBody>
          <a:bodyPr wrap="square" lIns="0" tIns="0" rIns="0" bIns="0" rtlCol="0" anchor="t"/>
          <a:lstStyle/>
          <a:p>
            <a:pPr marL="0" indent="0">
              <a:buNone/>
            </a:pPr>
            <a:r>
              <a:rPr lang="en-US" sz="1400" dirty="0">
                <a:solidFill>
                  <a:srgbClr val="4A5A66"/>
                </a:solidFill>
              </a:rPr>
              <a:t>Rank 20 to 50: variety, not only the obvious.</a:t>
            </a:r>
            <a:endParaRPr lang="en-US" sz="1400" dirty="0"/>
          </a:p>
        </p:txBody>
      </p:sp>
      <p:sp>
        <p:nvSpPr>
          <p:cNvPr id="13" name="Shape 9"/>
          <p:cNvSpPr/>
          <p:nvPr/>
        </p:nvSpPr>
        <p:spPr>
          <a:xfrm>
            <a:off x="6858000" y="3794760"/>
            <a:ext cx="822960" cy="822960"/>
          </a:xfrm>
          <a:prstGeom prst="ellipse">
            <a:avLst/>
          </a:prstGeom>
          <a:solidFill>
            <a:srgbClr val="B7791F"/>
          </a:solidFill>
          <a:ln w="12700">
            <a:solidFill>
              <a:srgbClr val="B7791F"/>
            </a:solidFill>
            <a:prstDash val="solid"/>
          </a:ln>
        </p:spPr>
        <p:txBody>
          <a:bodyPr/>
          <a:lstStyle/>
          <a:p>
            <a:endParaRPr lang="en-US"/>
          </a:p>
        </p:txBody>
      </p:sp>
      <p:sp>
        <p:nvSpPr>
          <p:cNvPr id="14" name="Text 10"/>
          <p:cNvSpPr txBox="1"/>
          <p:nvPr/>
        </p:nvSpPr>
        <p:spPr>
          <a:xfrm>
            <a:off x="6858000" y="3794760"/>
            <a:ext cx="822960" cy="822960"/>
          </a:xfrm>
          <a:prstGeom prst="rect">
            <a:avLst/>
          </a:prstGeom>
          <a:noFill/>
          <a:ln/>
        </p:spPr>
        <p:txBody>
          <a:bodyPr wrap="square" lIns="0" tIns="0" rIns="0" bIns="0" rtlCol="0" anchor="ctr"/>
          <a:lstStyle/>
          <a:p>
            <a:pPr marL="0" indent="0" algn="ctr">
              <a:buNone/>
            </a:pPr>
            <a:r>
              <a:rPr lang="en-US" sz="3000" b="1" dirty="0">
                <a:solidFill>
                  <a:srgbClr val="FFFFFF"/>
                </a:solidFill>
                <a:latin typeface="Cambria" pitchFamily="34" charset="0"/>
                <a:ea typeface="Cambria" pitchFamily="34" charset="-122"/>
                <a:cs typeface="Cambria" pitchFamily="34" charset="-120"/>
              </a:rPr>
              <a:t>1</a:t>
            </a:r>
            <a:endParaRPr lang="en-US" sz="3000" dirty="0"/>
          </a:p>
        </p:txBody>
      </p:sp>
      <p:sp>
        <p:nvSpPr>
          <p:cNvPr id="15" name="Text 11"/>
          <p:cNvSpPr txBox="1"/>
          <p:nvPr/>
        </p:nvSpPr>
        <p:spPr>
          <a:xfrm>
            <a:off x="7863840" y="3776472"/>
            <a:ext cx="3749040" cy="365760"/>
          </a:xfrm>
          <a:prstGeom prst="rect">
            <a:avLst/>
          </a:prstGeom>
          <a:noFill/>
          <a:ln/>
        </p:spPr>
        <p:txBody>
          <a:bodyPr wrap="square" lIns="0" tIns="0" rIns="0" bIns="0" rtlCol="0" anchor="ctr"/>
          <a:lstStyle/>
          <a:p>
            <a:pPr marL="0" indent="0">
              <a:buNone/>
            </a:pPr>
            <a:r>
              <a:rPr lang="en-US" sz="1800" b="1" dirty="0">
                <a:solidFill>
                  <a:schemeClr val="tx1"/>
                </a:solidFill>
              </a:rPr>
              <a:t>A newcomer</a:t>
            </a:r>
            <a:endParaRPr lang="en-US" sz="1800" dirty="0"/>
          </a:p>
        </p:txBody>
      </p:sp>
      <p:sp>
        <p:nvSpPr>
          <p:cNvPr id="16" name="Text 12"/>
          <p:cNvSpPr txBox="1"/>
          <p:nvPr/>
        </p:nvSpPr>
        <p:spPr>
          <a:xfrm>
            <a:off x="7863840" y="4160520"/>
            <a:ext cx="3749040" cy="502920"/>
          </a:xfrm>
          <a:prstGeom prst="rect">
            <a:avLst/>
          </a:prstGeom>
          <a:noFill/>
          <a:ln/>
        </p:spPr>
        <p:txBody>
          <a:bodyPr wrap="square" lIns="0" tIns="0" rIns="0" bIns="0" rtlCol="0" anchor="t"/>
          <a:lstStyle/>
          <a:p>
            <a:pPr marL="0" indent="0">
              <a:buNone/>
            </a:pPr>
            <a:r>
              <a:rPr lang="en-US" sz="1400" dirty="0">
                <a:solidFill>
                  <a:srgbClr val="4A5A66"/>
                </a:solidFill>
              </a:rPr>
              <a:t>Someone who joined in the last 7 days.</a:t>
            </a:r>
            <a:endParaRPr lang="en-US" sz="1400" dirty="0"/>
          </a:p>
        </p:txBody>
      </p:sp>
      <p:sp>
        <p:nvSpPr>
          <p:cNvPr id="17" name="Text 13"/>
          <p:cNvSpPr txBox="1"/>
          <p:nvPr/>
        </p:nvSpPr>
        <p:spPr>
          <a:xfrm>
            <a:off x="6858000" y="4983480"/>
            <a:ext cx="4754880" cy="1371600"/>
          </a:xfrm>
          <a:prstGeom prst="rect">
            <a:avLst/>
          </a:prstGeom>
          <a:noFill/>
          <a:ln/>
        </p:spPr>
        <p:txBody>
          <a:bodyPr wrap="square" lIns="0" tIns="0" rIns="0" bIns="0" rtlCol="0" anchor="t"/>
          <a:lstStyle/>
          <a:p>
            <a:pPr marL="0" indent="0">
              <a:spcAft>
                <a:spcPts val="600"/>
              </a:spcAft>
              <a:buNone/>
            </a:pPr>
            <a:r>
              <a:rPr lang="en-US" sz="1600" b="1" dirty="0">
                <a:solidFill>
                  <a:schemeClr val="tx1"/>
                </a:solidFill>
              </a:rPr>
              <a:t>Fairness rules</a:t>
            </a:r>
            <a:endParaRPr lang="en-US" sz="1400" dirty="0"/>
          </a:p>
          <a:p>
            <a:pPr marL="342900" indent="-342900">
              <a:spcAft>
                <a:spcPts val="400"/>
              </a:spcAft>
              <a:buSzPct val="100000"/>
              <a:buChar char="•"/>
            </a:pPr>
            <a:r>
              <a:rPr lang="en-US" sz="1400" dirty="0">
                <a:solidFill>
                  <a:schemeClr val="tx1"/>
                </a:solidFill>
              </a:rPr>
              <a:t>Nobody is shown more than 25 times a day</a:t>
            </a:r>
            <a:endParaRPr lang="en-US" sz="1400" dirty="0"/>
          </a:p>
          <a:p>
            <a:pPr marL="342900" indent="-342900">
              <a:spcAft>
                <a:spcPts val="400"/>
              </a:spcAft>
              <a:buSzPct val="100000"/>
              <a:buChar char="•"/>
            </a:pPr>
            <a:r>
              <a:rPr lang="en-US" sz="1400" dirty="0">
                <a:solidFill>
                  <a:schemeClr val="tx1"/>
                </a:solidFill>
              </a:rPr>
              <a:t>Passed twice means never shown again</a:t>
            </a:r>
            <a:endParaRPr lang="en-US" sz="1400" dirty="0"/>
          </a:p>
          <a:p>
            <a:pPr marL="342900" indent="-342900">
              <a:spcAft>
                <a:spcPts val="400"/>
              </a:spcAft>
              <a:buSzPct val="100000"/>
              <a:buChar char="•"/>
            </a:pPr>
            <a:r>
              <a:rPr lang="en-US" sz="1400" dirty="0">
                <a:solidFill>
                  <a:schemeClr val="tx1"/>
                </a:solidFill>
              </a:rPr>
              <a:t>A low trust score halves your reach</a:t>
            </a:r>
            <a:endParaRPr lang="en-US" sz="1400" dirty="0"/>
          </a:p>
          <a:p>
            <a:pPr marL="342900" indent="-342900">
              <a:buSzPct val="100000"/>
              <a:buChar char="•"/>
            </a:pPr>
            <a:r>
              <a:rPr lang="en-US" sz="1400" dirty="0">
                <a:solidFill>
                  <a:schemeClr val="tx1"/>
                </a:solidFill>
              </a:rPr>
              <a:t>"Today" is the Seoul calendar day, not UTC</a:t>
            </a:r>
            <a:endParaRPr lang="en-US" sz="1400" dirty="0"/>
          </a:p>
        </p:txBody>
      </p:sp>
      <p:sp>
        <p:nvSpPr>
          <p:cNvPr id="18" name="Shape 14"/>
          <p:cNvSpPr/>
          <p:nvPr/>
        </p:nvSpPr>
        <p:spPr>
          <a:xfrm>
            <a:off x="548640" y="5532120"/>
            <a:ext cx="5943600" cy="868680"/>
          </a:xfrm>
          <a:prstGeom prst="roundRect">
            <a:avLst>
              <a:gd name="adj" fmla="val 12632"/>
            </a:avLst>
          </a:prstGeom>
          <a:solidFill>
            <a:srgbClr val="E6F3F1"/>
          </a:solidFill>
          <a:ln w="12700">
            <a:solidFill>
              <a:srgbClr val="E6F3F1"/>
            </a:solidFill>
            <a:prstDash val="solid"/>
          </a:ln>
        </p:spPr>
        <p:txBody>
          <a:bodyPr/>
          <a:lstStyle/>
          <a:p>
            <a:endParaRPr lang="en-US"/>
          </a:p>
        </p:txBody>
      </p:sp>
      <p:sp>
        <p:nvSpPr>
          <p:cNvPr id="19" name="Text 15"/>
          <p:cNvSpPr txBox="1"/>
          <p:nvPr/>
        </p:nvSpPr>
        <p:spPr>
          <a:xfrm>
            <a:off x="777240" y="5660136"/>
            <a:ext cx="5486400" cy="256032"/>
          </a:xfrm>
          <a:prstGeom prst="rect">
            <a:avLst/>
          </a:prstGeom>
          <a:noFill/>
          <a:ln/>
        </p:spPr>
        <p:txBody>
          <a:bodyPr wrap="square" lIns="0" tIns="0" rIns="0" bIns="0" rtlCol="0" anchor="ctr"/>
          <a:lstStyle/>
          <a:p>
            <a:pPr marL="0" indent="0">
              <a:buNone/>
            </a:pPr>
            <a:r>
              <a:rPr lang="en-US" sz="1100" b="1" kern="0" spc="200" dirty="0">
                <a:solidFill>
                  <a:srgbClr val="0F766E"/>
                </a:solidFill>
              </a:rPr>
              <a:t>IN PLAIN WORDS</a:t>
            </a:r>
            <a:endParaRPr lang="en-US" sz="1100" dirty="0"/>
          </a:p>
        </p:txBody>
      </p:sp>
      <p:sp>
        <p:nvSpPr>
          <p:cNvPr id="20" name="Text 16"/>
          <p:cNvSpPr txBox="1"/>
          <p:nvPr/>
        </p:nvSpPr>
        <p:spPr>
          <a:xfrm>
            <a:off x="777240" y="5952744"/>
            <a:ext cx="5486400" cy="338328"/>
          </a:xfrm>
          <a:prstGeom prst="rect">
            <a:avLst/>
          </a:prstGeom>
          <a:noFill/>
          <a:ln/>
        </p:spPr>
        <p:txBody>
          <a:bodyPr wrap="square" lIns="0" tIns="0" rIns="0" bIns="0" rtlCol="0" anchor="t"/>
          <a:lstStyle/>
          <a:p>
            <a:pPr marL="0" indent="0">
              <a:buNone/>
            </a:pPr>
            <a:r>
              <a:rPr lang="en-US" sz="1500" dirty="0">
                <a:solidFill>
                  <a:schemeClr val="tx1"/>
                </a:solidFill>
              </a:rPr>
              <a:t>Scores make a ranked list. The list is then shaped by a few simple rules so it stays varied and fair.</a:t>
            </a:r>
            <a:endParaRPr lang="en-US" sz="1500" dirty="0"/>
          </a:p>
        </p:txBody>
      </p:sp>
      <p:sp>
        <p:nvSpPr>
          <p:cNvPr id="25" name="Slide Number Placeholder 0"/>
          <p:cNvSpPr>
            <a:spLocks noGrp="1"/>
          </p:cNvSpPr>
          <p:nvPr>
            <p:ph type="sldNum" sz="quarter" idx="4294967295"/>
          </p:nvPr>
        </p:nvSpPr>
        <p:spPr>
          <a:xfrm>
            <a:off x="11155680" y="647395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400" b="1" dirty="0">
                <a:solidFill>
                  <a:srgbClr val="FFFFFF"/>
                </a:solidFill>
              </a:rPr>
              <a:t>The scoring is just two small functions</a:t>
            </a:r>
            <a:endParaRPr lang="en-US" sz="3400" dirty="0"/>
          </a:p>
        </p:txBody>
      </p:sp>
      <p:sp>
        <p:nvSpPr>
          <p:cNvPr id="4" name="Shape 1"/>
          <p:cNvSpPr/>
          <p:nvPr/>
        </p:nvSpPr>
        <p:spPr>
          <a:xfrm>
            <a:off x="548640" y="1371600"/>
            <a:ext cx="7040880" cy="4846320"/>
          </a:xfrm>
          <a:prstGeom prst="roundRect">
            <a:avLst>
              <a:gd name="adj" fmla="val 2264"/>
            </a:avLst>
          </a:prstGeom>
          <a:solidFill>
            <a:srgbClr val="0C151C"/>
          </a:solidFill>
          <a:ln w="12700">
            <a:solidFill>
              <a:srgbClr val="414D55"/>
            </a:solidFill>
            <a:prstDash val="solid"/>
          </a:ln>
        </p:spPr>
        <p:txBody>
          <a:bodyPr/>
          <a:lstStyle/>
          <a:p>
            <a:endParaRPr lang="en-US"/>
          </a:p>
        </p:txBody>
      </p:sp>
      <p:sp>
        <p:nvSpPr>
          <p:cNvPr id="5" name="Text 2"/>
          <p:cNvSpPr txBox="1"/>
          <p:nvPr/>
        </p:nvSpPr>
        <p:spPr>
          <a:xfrm>
            <a:off x="777240" y="1554480"/>
            <a:ext cx="6675120" cy="4480560"/>
          </a:xfrm>
          <a:prstGeom prst="rect">
            <a:avLst/>
          </a:prstGeom>
          <a:noFill/>
          <a:ln/>
        </p:spPr>
        <p:txBody>
          <a:bodyPr wrap="square" lIns="0" tIns="0" rIns="0" bIns="0" rtlCol="0" anchor="t"/>
          <a:lstStyle/>
          <a:p>
            <a:pPr marL="0" indent="0">
              <a:spcAft>
                <a:spcPts val="300"/>
              </a:spcAft>
              <a:buNone/>
            </a:pPr>
            <a:r>
              <a:rPr lang="en-US" sz="1700" dirty="0">
                <a:solidFill>
                  <a:srgbClr val="7F95A1"/>
                </a:solidFill>
                <a:latin typeface="Consolas" pitchFamily="34" charset="0"/>
                <a:ea typeface="Consolas" pitchFamily="34" charset="-122"/>
                <a:cs typeface="Consolas" pitchFamily="34" charset="-120"/>
              </a:rPr>
              <a:t>// How good is b for a? One number from 0 to 100</a:t>
            </a:r>
            <a:endParaRPr lang="en-US" sz="1700" dirty="0"/>
          </a:p>
          <a:p>
            <a:pPr marL="0" indent="0">
              <a:spcAft>
                <a:spcPts val="300"/>
              </a:spcAft>
              <a:buNone/>
            </a:pPr>
            <a:r>
              <a:rPr lang="en-US" sz="1700" dirty="0">
                <a:solidFill>
                  <a:srgbClr val="5FD3C6"/>
                </a:solidFill>
                <a:latin typeface="Consolas" pitchFamily="34" charset="0"/>
                <a:ea typeface="Consolas" pitchFamily="34" charset="-122"/>
                <a:cs typeface="Consolas" pitchFamily="34" charset="-120"/>
              </a:rPr>
              <a:t>function </a:t>
            </a:r>
            <a:r>
              <a:rPr lang="en-US" sz="1700" dirty="0">
                <a:solidFill>
                  <a:srgbClr val="F5B544"/>
                </a:solidFill>
                <a:latin typeface="Consolas" pitchFamily="34" charset="0"/>
                <a:ea typeface="Consolas" pitchFamily="34" charset="-122"/>
                <a:cs typeface="Consolas" pitchFamily="34" charset="-120"/>
              </a:rPr>
              <a:t>scoreFromTerms</a:t>
            </a:r>
            <a:r>
              <a:rPr lang="en-US" sz="1700" dirty="0">
                <a:solidFill>
                  <a:srgbClr val="E6EEF2"/>
                </a:solidFill>
                <a:latin typeface="Consolas" pitchFamily="34" charset="0"/>
                <a:ea typeface="Consolas" pitchFamily="34" charset="-122"/>
                <a:cs typeface="Consolas" pitchFamily="34" charset="-120"/>
              </a:rPr>
              <a:t>(terms, weights) {</a:t>
            </a:r>
            <a:endParaRPr lang="en-US" sz="1700" dirty="0"/>
          </a:p>
          <a:p>
            <a:pPr marL="0" indent="0">
              <a:spcAft>
                <a:spcPts val="300"/>
              </a:spcAft>
              <a:buNone/>
            </a:pPr>
            <a:r>
              <a:rPr lang="en-US" sz="1700" dirty="0">
                <a:solidFill>
                  <a:srgbClr val="E6EEF2"/>
                </a:solidFill>
                <a:latin typeface="Consolas" pitchFamily="34" charset="0"/>
                <a:ea typeface="Consolas" pitchFamily="34" charset="-122"/>
                <a:cs typeface="Consolas" pitchFamily="34" charset="-120"/>
              </a:rPr>
              <a:t>  const raw = weights.wC * terms.C</a:t>
            </a:r>
            <a:endParaRPr lang="en-US" sz="1700" dirty="0"/>
          </a:p>
          <a:p>
            <a:pPr marL="0" indent="0">
              <a:spcAft>
                <a:spcPts val="300"/>
              </a:spcAft>
              <a:buNone/>
            </a:pPr>
            <a:r>
              <a:rPr lang="en-US" sz="1700" dirty="0">
                <a:solidFill>
                  <a:srgbClr val="E6EEF2"/>
                </a:solidFill>
                <a:latin typeface="Consolas" pitchFamily="34" charset="0"/>
                <a:ea typeface="Consolas" pitchFamily="34" charset="-122"/>
                <a:cs typeface="Consolas" pitchFamily="34" charset="-120"/>
              </a:rPr>
              <a:t>            + weights.wK * terms.K</a:t>
            </a:r>
            <a:endParaRPr lang="en-US" sz="1700" dirty="0"/>
          </a:p>
          <a:p>
            <a:pPr marL="0" indent="0">
              <a:spcAft>
                <a:spcPts val="300"/>
              </a:spcAft>
              <a:buNone/>
            </a:pPr>
            <a:r>
              <a:rPr lang="en-US" sz="1700" dirty="0">
                <a:solidFill>
                  <a:srgbClr val="E6EEF2"/>
                </a:solidFill>
                <a:latin typeface="Consolas" pitchFamily="34" charset="0"/>
                <a:ea typeface="Consolas" pitchFamily="34" charset="-122"/>
                <a:cs typeface="Consolas" pitchFamily="34" charset="-120"/>
              </a:rPr>
              <a:t>            + weights.wT * terms.T</a:t>
            </a:r>
            <a:endParaRPr lang="en-US" sz="1700" dirty="0"/>
          </a:p>
          <a:p>
            <a:pPr marL="0" indent="0">
              <a:spcAft>
                <a:spcPts val="300"/>
              </a:spcAft>
              <a:buNone/>
            </a:pPr>
            <a:r>
              <a:rPr lang="en-US" sz="1700" dirty="0">
                <a:solidFill>
                  <a:srgbClr val="E6EEF2"/>
                </a:solidFill>
                <a:latin typeface="Consolas" pitchFamily="34" charset="0"/>
                <a:ea typeface="Consolas" pitchFamily="34" charset="-122"/>
                <a:cs typeface="Consolas" pitchFamily="34" charset="-120"/>
              </a:rPr>
              <a:t>            + weights.wI * terms.I</a:t>
            </a:r>
            <a:endParaRPr lang="en-US" sz="1700" dirty="0"/>
          </a:p>
          <a:p>
            <a:pPr marL="0" indent="0">
              <a:spcAft>
                <a:spcPts val="300"/>
              </a:spcAft>
              <a:buNone/>
            </a:pPr>
            <a:r>
              <a:rPr lang="en-US" sz="1700" dirty="0">
                <a:solidFill>
                  <a:srgbClr val="E6EEF2"/>
                </a:solidFill>
                <a:latin typeface="Consolas" pitchFamily="34" charset="0"/>
                <a:ea typeface="Consolas" pitchFamily="34" charset="-122"/>
                <a:cs typeface="Consolas" pitchFamily="34" charset="-120"/>
              </a:rPr>
              <a:t>            + weights.wV * terms.V;</a:t>
            </a:r>
            <a:endParaRPr lang="en-US" sz="1700" dirty="0"/>
          </a:p>
          <a:p>
            <a:pPr marL="0" indent="0">
              <a:spcAft>
                <a:spcPts val="300"/>
              </a:spcAft>
              <a:buNone/>
            </a:pPr>
            <a:r>
              <a:rPr lang="en-US" sz="1700" dirty="0">
                <a:solidFill>
                  <a:srgbClr val="5FD3C6"/>
                </a:solidFill>
                <a:latin typeface="Consolas" pitchFamily="34" charset="0"/>
                <a:ea typeface="Consolas" pitchFamily="34" charset="-122"/>
                <a:cs typeface="Consolas" pitchFamily="34" charset="-120"/>
              </a:rPr>
              <a:t>  return </a:t>
            </a:r>
            <a:r>
              <a:rPr lang="en-US" sz="1700" dirty="0">
                <a:solidFill>
                  <a:srgbClr val="E6EEF2"/>
                </a:solidFill>
                <a:latin typeface="Consolas" pitchFamily="34" charset="0"/>
                <a:ea typeface="Consolas" pitchFamily="34" charset="-122"/>
                <a:cs typeface="Consolas" pitchFamily="34" charset="-120"/>
              </a:rPr>
              <a:t>100 * clamp(raw, 0, 1);</a:t>
            </a:r>
            <a:endParaRPr lang="en-US" sz="1700" dirty="0"/>
          </a:p>
          <a:p>
            <a:pPr marL="0" indent="0">
              <a:spcAft>
                <a:spcPts val="300"/>
              </a:spcAft>
              <a:buNone/>
            </a:pPr>
            <a:r>
              <a:rPr lang="en-US" sz="1700" dirty="0">
                <a:solidFill>
                  <a:srgbClr val="E6EEF2"/>
                </a:solidFill>
                <a:latin typeface="Consolas" pitchFamily="34" charset="0"/>
                <a:ea typeface="Consolas" pitchFamily="34" charset="-122"/>
                <a:cs typeface="Consolas" pitchFamily="34" charset="-120"/>
              </a:rPr>
              <a:t>}</a:t>
            </a:r>
            <a:endParaRPr lang="en-US" sz="1700" dirty="0"/>
          </a:p>
          <a:p>
            <a:pPr marL="0" indent="0">
              <a:spcAft>
                <a:spcPts val="300"/>
              </a:spcAft>
              <a:buNone/>
            </a:pPr>
            <a:endParaRPr lang="en-US" sz="1700" dirty="0"/>
          </a:p>
          <a:p>
            <a:pPr marL="0" indent="0">
              <a:spcAft>
                <a:spcPts val="300"/>
              </a:spcAft>
              <a:buNone/>
            </a:pPr>
            <a:r>
              <a:rPr lang="en-US" sz="1700" dirty="0">
                <a:solidFill>
                  <a:srgbClr val="7F95A1"/>
                </a:solidFill>
                <a:latin typeface="Consolas" pitchFamily="34" charset="0"/>
                <a:ea typeface="Consolas" pitchFamily="34" charset="-122"/>
                <a:cs typeface="Consolas" pitchFamily="34" charset="-120"/>
              </a:rPr>
              <a:t>// Good for BOTH people, not just one (harmonic mean)</a:t>
            </a:r>
            <a:endParaRPr lang="en-US" sz="1700" dirty="0"/>
          </a:p>
          <a:p>
            <a:pPr marL="0" indent="0">
              <a:spcAft>
                <a:spcPts val="300"/>
              </a:spcAft>
              <a:buNone/>
            </a:pPr>
            <a:r>
              <a:rPr lang="en-US" sz="1700" dirty="0">
                <a:solidFill>
                  <a:srgbClr val="5FD3C6"/>
                </a:solidFill>
                <a:latin typeface="Consolas" pitchFamily="34" charset="0"/>
                <a:ea typeface="Consolas" pitchFamily="34" charset="-122"/>
                <a:cs typeface="Consolas" pitchFamily="34" charset="-120"/>
              </a:rPr>
              <a:t>function </a:t>
            </a:r>
            <a:r>
              <a:rPr lang="en-US" sz="1700" dirty="0">
                <a:solidFill>
                  <a:srgbClr val="F5B544"/>
                </a:solidFill>
                <a:latin typeface="Consolas" pitchFamily="34" charset="0"/>
                <a:ea typeface="Consolas" pitchFamily="34" charset="-122"/>
                <a:cs typeface="Consolas" pitchFamily="34" charset="-120"/>
              </a:rPr>
              <a:t>reciprocityScore</a:t>
            </a:r>
            <a:r>
              <a:rPr lang="en-US" sz="1700" dirty="0">
                <a:solidFill>
                  <a:srgbClr val="E6EEF2"/>
                </a:solidFill>
                <a:latin typeface="Consolas" pitchFamily="34" charset="0"/>
                <a:ea typeface="Consolas" pitchFamily="34" charset="-122"/>
                <a:cs typeface="Consolas" pitchFamily="34" charset="-120"/>
              </a:rPr>
              <a:t>(aToB, bToA) {</a:t>
            </a:r>
            <a:endParaRPr lang="en-US" sz="1700" dirty="0"/>
          </a:p>
          <a:p>
            <a:pPr marL="0" indent="0">
              <a:spcAft>
                <a:spcPts val="300"/>
              </a:spcAft>
              <a:buNone/>
            </a:pPr>
            <a:r>
              <a:rPr lang="en-US" sz="1700" dirty="0">
                <a:solidFill>
                  <a:srgbClr val="5FD3C6"/>
                </a:solidFill>
                <a:latin typeface="Consolas" pitchFamily="34" charset="0"/>
                <a:ea typeface="Consolas" pitchFamily="34" charset="-122"/>
                <a:cs typeface="Consolas" pitchFamily="34" charset="-120"/>
              </a:rPr>
              <a:t>  if (aToB &lt;= 0 || bToA &lt;= 0) </a:t>
            </a:r>
            <a:r>
              <a:rPr lang="en-US" sz="1700" dirty="0">
                <a:solidFill>
                  <a:srgbClr val="E6EEF2"/>
                </a:solidFill>
                <a:latin typeface="Consolas" pitchFamily="34" charset="0"/>
                <a:ea typeface="Consolas" pitchFamily="34" charset="-122"/>
                <a:cs typeface="Consolas" pitchFamily="34" charset="-120"/>
              </a:rPr>
              <a:t>return 0;</a:t>
            </a:r>
            <a:endParaRPr lang="en-US" sz="1700" dirty="0"/>
          </a:p>
          <a:p>
            <a:pPr marL="0" indent="0">
              <a:spcAft>
                <a:spcPts val="300"/>
              </a:spcAft>
              <a:buNone/>
            </a:pPr>
            <a:r>
              <a:rPr lang="en-US" sz="1700" dirty="0">
                <a:solidFill>
                  <a:srgbClr val="5FD3C6"/>
                </a:solidFill>
                <a:latin typeface="Consolas" pitchFamily="34" charset="0"/>
                <a:ea typeface="Consolas" pitchFamily="34" charset="-122"/>
                <a:cs typeface="Consolas" pitchFamily="34" charset="-120"/>
              </a:rPr>
              <a:t>  return </a:t>
            </a:r>
            <a:r>
              <a:rPr lang="en-US" sz="1700" dirty="0">
                <a:solidFill>
                  <a:srgbClr val="E6EEF2"/>
                </a:solidFill>
                <a:latin typeface="Consolas" pitchFamily="34" charset="0"/>
                <a:ea typeface="Consolas" pitchFamily="34" charset="-122"/>
                <a:cs typeface="Consolas" pitchFamily="34" charset="-120"/>
              </a:rPr>
              <a:t>(2 * aToB * bToA) / (aToB + bToA);</a:t>
            </a:r>
            <a:endParaRPr lang="en-US" sz="1700" dirty="0"/>
          </a:p>
          <a:p>
            <a:pPr marL="0" indent="0">
              <a:spcAft>
                <a:spcPts val="300"/>
              </a:spcAft>
              <a:buNone/>
            </a:pPr>
            <a:r>
              <a:rPr lang="en-US" sz="1700" dirty="0">
                <a:solidFill>
                  <a:srgbClr val="E6EEF2"/>
                </a:solidFill>
                <a:latin typeface="Consolas" pitchFamily="34" charset="0"/>
                <a:ea typeface="Consolas" pitchFamily="34" charset="-122"/>
                <a:cs typeface="Consolas" pitchFamily="34" charset="-120"/>
              </a:rPr>
              <a:t>}</a:t>
            </a:r>
            <a:endParaRPr lang="en-US" sz="1700" dirty="0"/>
          </a:p>
        </p:txBody>
      </p:sp>
      <p:sp>
        <p:nvSpPr>
          <p:cNvPr id="6" name="Text 3"/>
          <p:cNvSpPr txBox="1"/>
          <p:nvPr/>
        </p:nvSpPr>
        <p:spPr>
          <a:xfrm>
            <a:off x="548640" y="6263640"/>
            <a:ext cx="7040880" cy="274320"/>
          </a:xfrm>
          <a:prstGeom prst="rect">
            <a:avLst/>
          </a:prstGeom>
          <a:noFill/>
          <a:ln/>
        </p:spPr>
        <p:txBody>
          <a:bodyPr wrap="square" lIns="0" tIns="0" rIns="0" bIns="0" rtlCol="0" anchor="ctr"/>
          <a:lstStyle/>
          <a:p>
            <a:pPr marL="0" indent="0">
              <a:buNone/>
            </a:pPr>
            <a:r>
              <a:rPr lang="en-US" sz="1100" dirty="0">
                <a:solidFill>
                  <a:srgbClr val="8FA0A9"/>
                </a:solidFill>
              </a:rPr>
              <a:t>Simplified from src/server/matching/score.ts</a:t>
            </a:r>
            <a:endParaRPr lang="en-US" sz="1100" dirty="0"/>
          </a:p>
        </p:txBody>
      </p:sp>
      <p:sp>
        <p:nvSpPr>
          <p:cNvPr id="7" name="Shape 4"/>
          <p:cNvSpPr/>
          <p:nvPr/>
        </p:nvSpPr>
        <p:spPr>
          <a:xfrm>
            <a:off x="7955280" y="1371600"/>
            <a:ext cx="3657600" cy="2331720"/>
          </a:xfrm>
          <a:prstGeom prst="roundRect">
            <a:avLst>
              <a:gd name="adj" fmla="val 4706"/>
            </a:avLst>
          </a:prstGeom>
          <a:solidFill>
            <a:srgbClr val="FFFFFF"/>
          </a:solidFill>
          <a:ln w="12700">
            <a:solidFill>
              <a:srgbClr val="E4E0D6"/>
            </a:solidFill>
            <a:prstDash val="solid"/>
          </a:ln>
        </p:spPr>
        <p:txBody>
          <a:bodyPr/>
          <a:lstStyle/>
          <a:p>
            <a:endParaRPr lang="en-US"/>
          </a:p>
        </p:txBody>
      </p:sp>
      <p:sp>
        <p:nvSpPr>
          <p:cNvPr id="8" name="Shape 5"/>
          <p:cNvSpPr/>
          <p:nvPr/>
        </p:nvSpPr>
        <p:spPr>
          <a:xfrm>
            <a:off x="8156448" y="1591056"/>
            <a:ext cx="219456" cy="219456"/>
          </a:xfrm>
          <a:prstGeom prst="ellipse">
            <a:avLst/>
          </a:prstGeom>
          <a:solidFill>
            <a:srgbClr val="B7791F"/>
          </a:solidFill>
          <a:ln w="12700">
            <a:solidFill>
              <a:srgbClr val="B7791F"/>
            </a:solidFill>
            <a:prstDash val="solid"/>
          </a:ln>
        </p:spPr>
        <p:txBody>
          <a:bodyPr/>
          <a:lstStyle/>
          <a:p>
            <a:endParaRPr lang="en-US"/>
          </a:p>
        </p:txBody>
      </p:sp>
      <p:sp>
        <p:nvSpPr>
          <p:cNvPr id="9" name="Text 6"/>
          <p:cNvSpPr txBox="1"/>
          <p:nvPr/>
        </p:nvSpPr>
        <p:spPr>
          <a:xfrm>
            <a:off x="8503920" y="1481328"/>
            <a:ext cx="2926080" cy="438912"/>
          </a:xfrm>
          <a:prstGeom prst="rect">
            <a:avLst/>
          </a:prstGeom>
          <a:noFill/>
          <a:ln/>
        </p:spPr>
        <p:txBody>
          <a:bodyPr wrap="square" lIns="0" tIns="0" rIns="0" bIns="0" rtlCol="0" anchor="ctr"/>
          <a:lstStyle/>
          <a:p>
            <a:pPr marL="0" indent="0">
              <a:buNone/>
            </a:pPr>
            <a:r>
              <a:rPr lang="en-US" sz="1700" b="1" dirty="0">
                <a:solidFill>
                  <a:schemeClr val="tx1"/>
                </a:solidFill>
              </a:rPr>
              <a:t>Why harmonic mean?</a:t>
            </a:r>
            <a:endParaRPr lang="en-US" sz="1700" dirty="0"/>
          </a:p>
        </p:txBody>
      </p:sp>
      <p:sp>
        <p:nvSpPr>
          <p:cNvPr id="10" name="Text 7"/>
          <p:cNvSpPr txBox="1"/>
          <p:nvPr/>
        </p:nvSpPr>
        <p:spPr>
          <a:xfrm>
            <a:off x="8156448" y="2029968"/>
            <a:ext cx="3255264" cy="1545336"/>
          </a:xfrm>
          <a:prstGeom prst="rect">
            <a:avLst/>
          </a:prstGeom>
          <a:noFill/>
          <a:ln/>
        </p:spPr>
        <p:txBody>
          <a:bodyPr wrap="square" lIns="0" tIns="0" rIns="0" bIns="0" rtlCol="0" anchor="t"/>
          <a:lstStyle/>
          <a:p>
            <a:pPr marL="0" indent="0">
              <a:buNone/>
            </a:pPr>
            <a:r>
              <a:rPr lang="en-US" sz="1700" dirty="0">
                <a:solidFill>
                  <a:srgbClr val="4A5A66"/>
                </a:solidFill>
              </a:rPr>
              <a:t>Scores of 90 and 10 average to 50 but rank only 18. A lopsided match ranks low.</a:t>
            </a:r>
            <a:endParaRPr lang="en-US" sz="1700" dirty="0"/>
          </a:p>
        </p:txBody>
      </p:sp>
      <p:sp>
        <p:nvSpPr>
          <p:cNvPr id="11" name="Shape 8"/>
          <p:cNvSpPr/>
          <p:nvPr/>
        </p:nvSpPr>
        <p:spPr>
          <a:xfrm>
            <a:off x="7955280" y="3886200"/>
            <a:ext cx="3657600" cy="2331720"/>
          </a:xfrm>
          <a:prstGeom prst="roundRect">
            <a:avLst>
              <a:gd name="adj" fmla="val 4706"/>
            </a:avLst>
          </a:prstGeom>
          <a:solidFill>
            <a:srgbClr val="FFFFFF"/>
          </a:solidFill>
          <a:ln w="12700">
            <a:solidFill>
              <a:srgbClr val="E4E0D6"/>
            </a:solidFill>
            <a:prstDash val="solid"/>
          </a:ln>
        </p:spPr>
        <p:txBody>
          <a:bodyPr/>
          <a:lstStyle/>
          <a:p>
            <a:endParaRPr lang="en-US"/>
          </a:p>
        </p:txBody>
      </p:sp>
      <p:sp>
        <p:nvSpPr>
          <p:cNvPr id="12" name="Shape 9"/>
          <p:cNvSpPr/>
          <p:nvPr/>
        </p:nvSpPr>
        <p:spPr>
          <a:xfrm>
            <a:off x="8156448" y="4105656"/>
            <a:ext cx="219456" cy="219456"/>
          </a:xfrm>
          <a:prstGeom prst="ellipse">
            <a:avLst/>
          </a:prstGeom>
          <a:solidFill>
            <a:srgbClr val="0F766E"/>
          </a:solidFill>
          <a:ln w="12700">
            <a:solidFill>
              <a:srgbClr val="0F766E"/>
            </a:solidFill>
            <a:prstDash val="solid"/>
          </a:ln>
        </p:spPr>
        <p:txBody>
          <a:bodyPr/>
          <a:lstStyle/>
          <a:p>
            <a:endParaRPr lang="en-US"/>
          </a:p>
        </p:txBody>
      </p:sp>
      <p:sp>
        <p:nvSpPr>
          <p:cNvPr id="13" name="Text 10"/>
          <p:cNvSpPr txBox="1"/>
          <p:nvPr/>
        </p:nvSpPr>
        <p:spPr>
          <a:xfrm>
            <a:off x="8503920" y="3995928"/>
            <a:ext cx="2926080" cy="438912"/>
          </a:xfrm>
          <a:prstGeom prst="rect">
            <a:avLst/>
          </a:prstGeom>
          <a:noFill/>
          <a:ln/>
        </p:spPr>
        <p:txBody>
          <a:bodyPr wrap="square" lIns="0" tIns="0" rIns="0" bIns="0" rtlCol="0" anchor="ctr"/>
          <a:lstStyle/>
          <a:p>
            <a:pPr marL="0" indent="0">
              <a:buNone/>
            </a:pPr>
            <a:r>
              <a:rPr lang="en-US" sz="1700" b="1" dirty="0">
                <a:solidFill>
                  <a:schemeClr val="tx1"/>
                </a:solidFill>
              </a:rPr>
              <a:t>Pure functions</a:t>
            </a:r>
            <a:endParaRPr lang="en-US" sz="1700" dirty="0"/>
          </a:p>
        </p:txBody>
      </p:sp>
      <p:sp>
        <p:nvSpPr>
          <p:cNvPr id="14" name="Text 11"/>
          <p:cNvSpPr txBox="1"/>
          <p:nvPr/>
        </p:nvSpPr>
        <p:spPr>
          <a:xfrm>
            <a:off x="8156448" y="4544568"/>
            <a:ext cx="3255264" cy="1545336"/>
          </a:xfrm>
          <a:prstGeom prst="rect">
            <a:avLst/>
          </a:prstGeom>
          <a:noFill/>
          <a:ln/>
        </p:spPr>
        <p:txBody>
          <a:bodyPr wrap="square" lIns="0" tIns="0" rIns="0" bIns="0" rtlCol="0" anchor="t"/>
          <a:lstStyle/>
          <a:p>
            <a:pPr marL="0" indent="0">
              <a:buNone/>
            </a:pPr>
            <a:r>
              <a:rPr lang="en-US" sz="1700" dirty="0">
                <a:solidFill>
                  <a:srgbClr val="4A5A66"/>
                </a:solidFill>
              </a:rPr>
              <a:t>No database, no randomness. That makes them easy to test, including tests that check score(a,b) = score(b,a).</a:t>
            </a:r>
            <a:endParaRPr lang="en-US" sz="1700" dirty="0"/>
          </a:p>
        </p:txBody>
      </p:sp>
      <p:sp>
        <p:nvSpPr>
          <p:cNvPr id="25" name="Slide Number Placeholder 0"/>
          <p:cNvSpPr>
            <a:spLocks noGrp="1"/>
          </p:cNvSpPr>
          <p:nvPr>
            <p:ph type="sldNum" sz="quarter" idx="4294967295"/>
          </p:nvPr>
        </p:nvSpPr>
        <p:spPr>
          <a:xfrm>
            <a:off x="11155680" y="647395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FA0A9"/>
                </a:solidFill>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400" b="1" dirty="0">
                <a:solidFill>
                  <a:schemeClr val="tx1"/>
                </a:solidFill>
              </a:rPr>
              <a:t>How it is built</a:t>
            </a:r>
            <a:endParaRPr lang="en-US" sz="3400" dirty="0"/>
          </a:p>
        </p:txBody>
      </p:sp>
      <p:sp>
        <p:nvSpPr>
          <p:cNvPr id="4" name="Shape 1"/>
          <p:cNvSpPr/>
          <p:nvPr/>
        </p:nvSpPr>
        <p:spPr>
          <a:xfrm>
            <a:off x="548640" y="1417320"/>
            <a:ext cx="2560320" cy="2286000"/>
          </a:xfrm>
          <a:prstGeom prst="roundRect">
            <a:avLst>
              <a:gd name="adj" fmla="val 4800"/>
            </a:avLst>
          </a:prstGeom>
          <a:solidFill>
            <a:srgbClr val="FFFFFF"/>
          </a:solidFill>
          <a:ln w="25400">
            <a:solidFill>
              <a:srgbClr val="0F766E"/>
            </a:solidFill>
            <a:prstDash val="solid"/>
          </a:ln>
        </p:spPr>
        <p:txBody>
          <a:bodyPr/>
          <a:lstStyle/>
          <a:p>
            <a:endParaRPr lang="en-US"/>
          </a:p>
        </p:txBody>
      </p:sp>
      <p:sp>
        <p:nvSpPr>
          <p:cNvPr id="5" name="Text 2"/>
          <p:cNvSpPr txBox="1"/>
          <p:nvPr/>
        </p:nvSpPr>
        <p:spPr>
          <a:xfrm>
            <a:off x="731520" y="1554480"/>
            <a:ext cx="2194560" cy="411480"/>
          </a:xfrm>
          <a:prstGeom prst="rect">
            <a:avLst/>
          </a:prstGeom>
          <a:noFill/>
          <a:ln/>
        </p:spPr>
        <p:txBody>
          <a:bodyPr wrap="square" lIns="0" tIns="0" rIns="0" bIns="0" rtlCol="0" anchor="ctr"/>
          <a:lstStyle/>
          <a:p>
            <a:pPr marL="0" indent="0">
              <a:buNone/>
            </a:pPr>
            <a:r>
              <a:rPr lang="en-US" sz="1900" b="1" dirty="0">
                <a:solidFill>
                  <a:srgbClr val="0F766E"/>
                </a:solidFill>
              </a:rPr>
              <a:t>Browser</a:t>
            </a:r>
            <a:endParaRPr lang="en-US" sz="1900" dirty="0"/>
          </a:p>
        </p:txBody>
      </p:sp>
      <p:sp>
        <p:nvSpPr>
          <p:cNvPr id="6" name="Text 3"/>
          <p:cNvSpPr txBox="1"/>
          <p:nvPr/>
        </p:nvSpPr>
        <p:spPr>
          <a:xfrm>
            <a:off x="731520" y="2057400"/>
            <a:ext cx="2194560" cy="1554480"/>
          </a:xfrm>
          <a:prstGeom prst="rect">
            <a:avLst/>
          </a:prstGeom>
          <a:noFill/>
          <a:ln/>
        </p:spPr>
        <p:txBody>
          <a:bodyPr wrap="square" lIns="0" tIns="0" rIns="0" bIns="0" rtlCol="0" anchor="t"/>
          <a:lstStyle/>
          <a:p>
            <a:pPr marL="0" indent="0">
              <a:buNone/>
            </a:pPr>
            <a:r>
              <a:rPr lang="en-US" sz="1400" dirty="0">
                <a:solidFill>
                  <a:schemeClr val="tx1"/>
                </a:solidFill>
              </a:rPr>
              <a:t>React 19 · Tailwind v4</a:t>
            </a:r>
            <a:endParaRPr lang="en-US" sz="1400" dirty="0"/>
          </a:p>
          <a:p>
            <a:pPr marL="0" indent="0">
              <a:buNone/>
            </a:pPr>
            <a:r>
              <a:rPr lang="en-US" sz="1400" dirty="0">
                <a:solidFill>
                  <a:schemeClr val="tx1"/>
                </a:solidFill>
              </a:rPr>
              <a:t>Korean + English</a:t>
            </a:r>
            <a:endParaRPr lang="en-US" sz="1400" dirty="0"/>
          </a:p>
          <a:p>
            <a:pPr marL="0" indent="0">
              <a:buNone/>
            </a:pPr>
            <a:r>
              <a:rPr lang="en-US" sz="1400" dirty="0">
                <a:solidFill>
                  <a:schemeClr val="tx1"/>
                </a:solidFill>
              </a:rPr>
              <a:t>Swipe gestures, mobile first</a:t>
            </a:r>
            <a:endParaRPr lang="en-US" sz="1400" dirty="0"/>
          </a:p>
        </p:txBody>
      </p:sp>
      <p:sp>
        <p:nvSpPr>
          <p:cNvPr id="7" name="Text 4"/>
          <p:cNvSpPr txBox="1"/>
          <p:nvPr/>
        </p:nvSpPr>
        <p:spPr>
          <a:xfrm>
            <a:off x="3108960" y="2331720"/>
            <a:ext cx="274320" cy="457200"/>
          </a:xfrm>
          <a:prstGeom prst="rect">
            <a:avLst/>
          </a:prstGeom>
          <a:noFill/>
          <a:ln/>
        </p:spPr>
        <p:txBody>
          <a:bodyPr wrap="square" lIns="0" tIns="0" rIns="0" bIns="0" rtlCol="0" anchor="ctr"/>
          <a:lstStyle/>
          <a:p>
            <a:pPr marL="0" indent="0" algn="ctr">
              <a:buNone/>
            </a:pPr>
            <a:r>
              <a:rPr lang="en-US" sz="2600" dirty="0">
                <a:solidFill>
                  <a:schemeClr val="accent6"/>
                </a:solidFill>
              </a:rPr>
              <a:t>→</a:t>
            </a:r>
            <a:endParaRPr lang="en-US" sz="2600" dirty="0"/>
          </a:p>
        </p:txBody>
      </p:sp>
      <p:sp>
        <p:nvSpPr>
          <p:cNvPr id="8" name="Shape 5"/>
          <p:cNvSpPr/>
          <p:nvPr/>
        </p:nvSpPr>
        <p:spPr>
          <a:xfrm>
            <a:off x="3383280" y="1417320"/>
            <a:ext cx="2560320" cy="2286000"/>
          </a:xfrm>
          <a:prstGeom prst="roundRect">
            <a:avLst>
              <a:gd name="adj" fmla="val 4800"/>
            </a:avLst>
          </a:prstGeom>
          <a:solidFill>
            <a:srgbClr val="FFFFFF"/>
          </a:solidFill>
          <a:ln w="25400">
            <a:solidFill>
              <a:srgbClr val="5B3FA6"/>
            </a:solidFill>
            <a:prstDash val="solid"/>
          </a:ln>
        </p:spPr>
        <p:txBody>
          <a:bodyPr/>
          <a:lstStyle/>
          <a:p>
            <a:endParaRPr lang="en-US"/>
          </a:p>
        </p:txBody>
      </p:sp>
      <p:sp>
        <p:nvSpPr>
          <p:cNvPr id="9" name="Text 6"/>
          <p:cNvSpPr txBox="1"/>
          <p:nvPr/>
        </p:nvSpPr>
        <p:spPr>
          <a:xfrm>
            <a:off x="3566160" y="1554480"/>
            <a:ext cx="2194560" cy="411480"/>
          </a:xfrm>
          <a:prstGeom prst="rect">
            <a:avLst/>
          </a:prstGeom>
          <a:noFill/>
          <a:ln/>
        </p:spPr>
        <p:txBody>
          <a:bodyPr wrap="square" lIns="0" tIns="0" rIns="0" bIns="0" rtlCol="0" anchor="ctr"/>
          <a:lstStyle/>
          <a:p>
            <a:pPr marL="0" indent="0">
              <a:buNone/>
            </a:pPr>
            <a:r>
              <a:rPr lang="en-US" sz="1900" b="1" dirty="0">
                <a:solidFill>
                  <a:srgbClr val="5B3FA6"/>
                </a:solidFill>
              </a:rPr>
              <a:t>Next.js 16</a:t>
            </a:r>
            <a:endParaRPr lang="en-US" sz="1900" dirty="0"/>
          </a:p>
        </p:txBody>
      </p:sp>
      <p:sp>
        <p:nvSpPr>
          <p:cNvPr id="10" name="Text 7"/>
          <p:cNvSpPr txBox="1"/>
          <p:nvPr/>
        </p:nvSpPr>
        <p:spPr>
          <a:xfrm>
            <a:off x="3566160" y="2057400"/>
            <a:ext cx="2194560" cy="1554480"/>
          </a:xfrm>
          <a:prstGeom prst="rect">
            <a:avLst/>
          </a:prstGeom>
          <a:noFill/>
          <a:ln/>
        </p:spPr>
        <p:txBody>
          <a:bodyPr wrap="square" lIns="0" tIns="0" rIns="0" bIns="0" rtlCol="0" anchor="t"/>
          <a:lstStyle/>
          <a:p>
            <a:pPr marL="0" indent="0">
              <a:buNone/>
            </a:pPr>
            <a:r>
              <a:rPr lang="en-US" sz="1400" dirty="0">
                <a:solidFill>
                  <a:schemeClr val="tx1"/>
                </a:solidFill>
              </a:rPr>
              <a:t>App Router · server actions</a:t>
            </a:r>
            <a:endParaRPr lang="en-US" sz="1400" dirty="0"/>
          </a:p>
          <a:p>
            <a:pPr marL="0" indent="0">
              <a:buNone/>
            </a:pPr>
            <a:r>
              <a:rPr lang="en-US" sz="1400" dirty="0">
                <a:solidFill>
                  <a:schemeClr val="tx1"/>
                </a:solidFill>
              </a:rPr>
              <a:t>Every action checks</a:t>
            </a:r>
            <a:endParaRPr lang="en-US" sz="1400" dirty="0"/>
          </a:p>
          <a:p>
            <a:pPr marL="0" indent="0">
              <a:buNone/>
            </a:pPr>
            <a:r>
              <a:rPr lang="en-US" sz="1400" dirty="0">
                <a:solidFill>
                  <a:schemeClr val="tx1"/>
                </a:solidFill>
              </a:rPr>
              <a:t>permissions itself</a:t>
            </a:r>
            <a:endParaRPr lang="en-US" sz="1400" dirty="0"/>
          </a:p>
        </p:txBody>
      </p:sp>
      <p:sp>
        <p:nvSpPr>
          <p:cNvPr id="11" name="Text 8"/>
          <p:cNvSpPr txBox="1"/>
          <p:nvPr/>
        </p:nvSpPr>
        <p:spPr>
          <a:xfrm>
            <a:off x="5943600" y="2331720"/>
            <a:ext cx="274320" cy="457200"/>
          </a:xfrm>
          <a:prstGeom prst="rect">
            <a:avLst/>
          </a:prstGeom>
          <a:noFill/>
          <a:ln/>
        </p:spPr>
        <p:txBody>
          <a:bodyPr wrap="square" lIns="0" tIns="0" rIns="0" bIns="0" rtlCol="0" anchor="ctr"/>
          <a:lstStyle/>
          <a:p>
            <a:pPr marL="0" indent="0" algn="ctr">
              <a:buNone/>
            </a:pPr>
            <a:r>
              <a:rPr lang="en-US" sz="2600" dirty="0">
                <a:solidFill>
                  <a:schemeClr val="accent6"/>
                </a:solidFill>
              </a:rPr>
              <a:t>→</a:t>
            </a:r>
            <a:endParaRPr lang="en-US" sz="2600" dirty="0"/>
          </a:p>
        </p:txBody>
      </p:sp>
      <p:sp>
        <p:nvSpPr>
          <p:cNvPr id="12" name="Shape 9"/>
          <p:cNvSpPr/>
          <p:nvPr/>
        </p:nvSpPr>
        <p:spPr>
          <a:xfrm>
            <a:off x="6217920" y="1417320"/>
            <a:ext cx="2560320" cy="2286000"/>
          </a:xfrm>
          <a:prstGeom prst="roundRect">
            <a:avLst>
              <a:gd name="adj" fmla="val 4800"/>
            </a:avLst>
          </a:prstGeom>
          <a:solidFill>
            <a:srgbClr val="FFFFFF"/>
          </a:solidFill>
          <a:ln w="25400">
            <a:solidFill>
              <a:srgbClr val="B7791F"/>
            </a:solidFill>
            <a:prstDash val="solid"/>
          </a:ln>
        </p:spPr>
        <p:txBody>
          <a:bodyPr/>
          <a:lstStyle/>
          <a:p>
            <a:endParaRPr lang="en-US"/>
          </a:p>
        </p:txBody>
      </p:sp>
      <p:sp>
        <p:nvSpPr>
          <p:cNvPr id="13" name="Text 10"/>
          <p:cNvSpPr txBox="1"/>
          <p:nvPr/>
        </p:nvSpPr>
        <p:spPr>
          <a:xfrm>
            <a:off x="6400800" y="1554480"/>
            <a:ext cx="2194560" cy="411480"/>
          </a:xfrm>
          <a:prstGeom prst="rect">
            <a:avLst/>
          </a:prstGeom>
          <a:noFill/>
          <a:ln/>
        </p:spPr>
        <p:txBody>
          <a:bodyPr wrap="square" lIns="0" tIns="0" rIns="0" bIns="0" rtlCol="0" anchor="ctr"/>
          <a:lstStyle/>
          <a:p>
            <a:pPr marL="0" indent="0">
              <a:buNone/>
            </a:pPr>
            <a:r>
              <a:rPr lang="en-US" sz="1900" b="1" dirty="0">
                <a:solidFill>
                  <a:srgbClr val="B7791F"/>
                </a:solidFill>
              </a:rPr>
              <a:t>Matching engine</a:t>
            </a:r>
            <a:endParaRPr lang="en-US" sz="1900" dirty="0"/>
          </a:p>
        </p:txBody>
      </p:sp>
      <p:sp>
        <p:nvSpPr>
          <p:cNvPr id="14" name="Text 11"/>
          <p:cNvSpPr txBox="1"/>
          <p:nvPr/>
        </p:nvSpPr>
        <p:spPr>
          <a:xfrm>
            <a:off x="6400800" y="2057400"/>
            <a:ext cx="2194560" cy="1554480"/>
          </a:xfrm>
          <a:prstGeom prst="rect">
            <a:avLst/>
          </a:prstGeom>
          <a:noFill/>
          <a:ln/>
        </p:spPr>
        <p:txBody>
          <a:bodyPr wrap="square" lIns="0" tIns="0" rIns="0" bIns="0" rtlCol="0" anchor="t"/>
          <a:lstStyle/>
          <a:p>
            <a:pPr marL="0" indent="0">
              <a:buNone/>
            </a:pPr>
            <a:r>
              <a:rPr lang="en-US" sz="1400" dirty="0">
                <a:solidFill>
                  <a:schemeClr val="tx1"/>
                </a:solidFill>
              </a:rPr>
              <a:t>Plain TypeScript functions</a:t>
            </a:r>
            <a:endParaRPr lang="en-US" sz="1400" dirty="0"/>
          </a:p>
          <a:p>
            <a:pPr marL="0" indent="0">
              <a:buNone/>
            </a:pPr>
            <a:r>
              <a:rPr lang="en-US" sz="1400" dirty="0">
                <a:solidFill>
                  <a:schemeClr val="tx1"/>
                </a:solidFill>
              </a:rPr>
              <a:t>Rarity-weighted overlap</a:t>
            </a:r>
            <a:endParaRPr lang="en-US" sz="1400" dirty="0"/>
          </a:p>
          <a:p>
            <a:pPr marL="0" indent="0">
              <a:buNone/>
            </a:pPr>
            <a:r>
              <a:rPr lang="en-US" sz="1400" dirty="0">
                <a:solidFill>
                  <a:schemeClr val="tx1"/>
                </a:solidFill>
              </a:rPr>
              <a:t>Symmetric, property-tested</a:t>
            </a:r>
            <a:endParaRPr lang="en-US" sz="1400" dirty="0"/>
          </a:p>
        </p:txBody>
      </p:sp>
      <p:sp>
        <p:nvSpPr>
          <p:cNvPr id="15" name="Text 12"/>
          <p:cNvSpPr txBox="1"/>
          <p:nvPr/>
        </p:nvSpPr>
        <p:spPr>
          <a:xfrm>
            <a:off x="8778240" y="2331720"/>
            <a:ext cx="274320" cy="457200"/>
          </a:xfrm>
          <a:prstGeom prst="rect">
            <a:avLst/>
          </a:prstGeom>
          <a:noFill/>
          <a:ln/>
        </p:spPr>
        <p:txBody>
          <a:bodyPr wrap="square" lIns="0" tIns="0" rIns="0" bIns="0" rtlCol="0" anchor="ctr"/>
          <a:lstStyle/>
          <a:p>
            <a:pPr marL="0" indent="0" algn="ctr">
              <a:buNone/>
            </a:pPr>
            <a:r>
              <a:rPr lang="en-US" sz="2600" dirty="0">
                <a:solidFill>
                  <a:schemeClr val="accent6"/>
                </a:solidFill>
              </a:rPr>
              <a:t>→</a:t>
            </a:r>
            <a:endParaRPr lang="en-US" sz="2600" dirty="0"/>
          </a:p>
        </p:txBody>
      </p:sp>
      <p:sp>
        <p:nvSpPr>
          <p:cNvPr id="16" name="Shape 13"/>
          <p:cNvSpPr/>
          <p:nvPr/>
        </p:nvSpPr>
        <p:spPr>
          <a:xfrm>
            <a:off x="9052560" y="1417320"/>
            <a:ext cx="2560320" cy="2286000"/>
          </a:xfrm>
          <a:prstGeom prst="roundRect">
            <a:avLst>
              <a:gd name="adj" fmla="val 4800"/>
            </a:avLst>
          </a:prstGeom>
          <a:solidFill>
            <a:srgbClr val="FFFFFF"/>
          </a:solidFill>
          <a:ln w="25400">
            <a:solidFill>
              <a:srgbClr val="2E9E6B"/>
            </a:solidFill>
            <a:prstDash val="solid"/>
          </a:ln>
        </p:spPr>
        <p:txBody>
          <a:bodyPr/>
          <a:lstStyle/>
          <a:p>
            <a:endParaRPr lang="en-US"/>
          </a:p>
        </p:txBody>
      </p:sp>
      <p:sp>
        <p:nvSpPr>
          <p:cNvPr id="17" name="Text 14"/>
          <p:cNvSpPr txBox="1"/>
          <p:nvPr/>
        </p:nvSpPr>
        <p:spPr>
          <a:xfrm>
            <a:off x="9235440" y="1554480"/>
            <a:ext cx="2194560" cy="411480"/>
          </a:xfrm>
          <a:prstGeom prst="rect">
            <a:avLst/>
          </a:prstGeom>
          <a:noFill/>
          <a:ln/>
        </p:spPr>
        <p:txBody>
          <a:bodyPr wrap="square" lIns="0" tIns="0" rIns="0" bIns="0" rtlCol="0" anchor="ctr"/>
          <a:lstStyle/>
          <a:p>
            <a:pPr marL="0" indent="0">
              <a:buNone/>
            </a:pPr>
            <a:r>
              <a:rPr lang="en-US" sz="1900" b="1" dirty="0">
                <a:solidFill>
                  <a:srgbClr val="2E9E6B"/>
                </a:solidFill>
              </a:rPr>
              <a:t>Data</a:t>
            </a:r>
            <a:endParaRPr lang="en-US" sz="1900" dirty="0"/>
          </a:p>
        </p:txBody>
      </p:sp>
      <p:sp>
        <p:nvSpPr>
          <p:cNvPr id="18" name="Text 15"/>
          <p:cNvSpPr txBox="1"/>
          <p:nvPr/>
        </p:nvSpPr>
        <p:spPr>
          <a:xfrm>
            <a:off x="9235440" y="2057400"/>
            <a:ext cx="2194560" cy="1554480"/>
          </a:xfrm>
          <a:prstGeom prst="rect">
            <a:avLst/>
          </a:prstGeom>
          <a:noFill/>
          <a:ln/>
        </p:spPr>
        <p:txBody>
          <a:bodyPr wrap="square" lIns="0" tIns="0" rIns="0" bIns="0" rtlCol="0" anchor="t"/>
          <a:lstStyle/>
          <a:p>
            <a:pPr marL="0" indent="0">
              <a:buNone/>
            </a:pPr>
            <a:r>
              <a:rPr lang="en-US" sz="1400" dirty="0">
                <a:solidFill>
                  <a:schemeClr val="tx1"/>
                </a:solidFill>
              </a:rPr>
              <a:t>PostgreSQL + Prisma 7</a:t>
            </a:r>
            <a:endParaRPr lang="en-US" sz="1400" dirty="0"/>
          </a:p>
          <a:p>
            <a:pPr marL="0" indent="0">
              <a:buNone/>
            </a:pPr>
            <a:r>
              <a:rPr lang="en-US" sz="1400" dirty="0">
                <a:solidFill>
                  <a:schemeClr val="tx1"/>
                </a:solidFill>
              </a:rPr>
              <a:t>Emailed codes, no passwords</a:t>
            </a:r>
            <a:endParaRPr lang="en-US" sz="1400" dirty="0"/>
          </a:p>
          <a:p>
            <a:pPr marL="0" indent="0">
              <a:buNone/>
            </a:pPr>
            <a:r>
              <a:rPr lang="en-US" sz="1400" dirty="0">
                <a:solidFill>
                  <a:schemeClr val="tx1"/>
                </a:solidFill>
              </a:rPr>
              <a:t>Photos in object storage</a:t>
            </a:r>
            <a:endParaRPr lang="en-US" sz="1400" dirty="0"/>
          </a:p>
        </p:txBody>
      </p:sp>
      <p:sp>
        <p:nvSpPr>
          <p:cNvPr id="19" name="Shape 16"/>
          <p:cNvSpPr/>
          <p:nvPr/>
        </p:nvSpPr>
        <p:spPr>
          <a:xfrm>
            <a:off x="548640" y="3931920"/>
            <a:ext cx="2560320" cy="1234440"/>
          </a:xfrm>
          <a:prstGeom prst="roundRect">
            <a:avLst>
              <a:gd name="adj" fmla="val 8889"/>
            </a:avLst>
          </a:prstGeom>
          <a:solidFill>
            <a:srgbClr val="12202B"/>
          </a:solidFill>
          <a:ln w="12700">
            <a:solidFill>
              <a:srgbClr val="12202B"/>
            </a:solidFill>
            <a:prstDash val="solid"/>
          </a:ln>
        </p:spPr>
        <p:txBody>
          <a:bodyPr/>
          <a:lstStyle/>
          <a:p>
            <a:endParaRPr lang="en-US"/>
          </a:p>
        </p:txBody>
      </p:sp>
      <p:sp>
        <p:nvSpPr>
          <p:cNvPr id="20" name="Text 17"/>
          <p:cNvSpPr txBox="1"/>
          <p:nvPr/>
        </p:nvSpPr>
        <p:spPr>
          <a:xfrm>
            <a:off x="548640" y="4005072"/>
            <a:ext cx="2560320" cy="685800"/>
          </a:xfrm>
          <a:prstGeom prst="rect">
            <a:avLst/>
          </a:prstGeom>
          <a:noFill/>
          <a:ln/>
        </p:spPr>
        <p:txBody>
          <a:bodyPr wrap="square" lIns="0" tIns="0" rIns="0" bIns="0" rtlCol="0" anchor="ctr"/>
          <a:lstStyle/>
          <a:p>
            <a:pPr marL="0" indent="0" algn="ctr">
              <a:buNone/>
            </a:pPr>
            <a:r>
              <a:rPr lang="en-US" sz="3600" b="1" dirty="0">
                <a:solidFill>
                  <a:srgbClr val="F5B544"/>
                </a:solidFill>
                <a:latin typeface="Cambria" pitchFamily="34" charset="0"/>
                <a:ea typeface="Cambria" pitchFamily="34" charset="-122"/>
                <a:cs typeface="Cambria" pitchFamily="34" charset="-120"/>
              </a:rPr>
              <a:t>~47,000</a:t>
            </a:r>
            <a:endParaRPr lang="en-US" sz="3600" dirty="0"/>
          </a:p>
        </p:txBody>
      </p:sp>
      <p:sp>
        <p:nvSpPr>
          <p:cNvPr id="21" name="Text 18"/>
          <p:cNvSpPr txBox="1"/>
          <p:nvPr/>
        </p:nvSpPr>
        <p:spPr>
          <a:xfrm>
            <a:off x="548640" y="4681728"/>
            <a:ext cx="2560320" cy="365760"/>
          </a:xfrm>
          <a:prstGeom prst="rect">
            <a:avLst/>
          </a:prstGeom>
          <a:noFill/>
          <a:ln/>
        </p:spPr>
        <p:txBody>
          <a:bodyPr wrap="square" lIns="0" tIns="0" rIns="0" bIns="0" rtlCol="0" anchor="ctr"/>
          <a:lstStyle/>
          <a:p>
            <a:pPr marL="0" indent="0" algn="ctr">
              <a:buNone/>
            </a:pPr>
            <a:r>
              <a:rPr lang="en-US" sz="1400" dirty="0">
                <a:solidFill>
                  <a:srgbClr val="FFFFFF"/>
                </a:solidFill>
              </a:rPr>
              <a:t>lines of TypeScript</a:t>
            </a:r>
            <a:endParaRPr lang="en-US" sz="1400" dirty="0"/>
          </a:p>
        </p:txBody>
      </p:sp>
      <p:sp>
        <p:nvSpPr>
          <p:cNvPr id="22" name="Shape 19"/>
          <p:cNvSpPr/>
          <p:nvPr/>
        </p:nvSpPr>
        <p:spPr>
          <a:xfrm>
            <a:off x="3383280" y="3931920"/>
            <a:ext cx="2560320" cy="1234440"/>
          </a:xfrm>
          <a:prstGeom prst="roundRect">
            <a:avLst>
              <a:gd name="adj" fmla="val 8889"/>
            </a:avLst>
          </a:prstGeom>
          <a:solidFill>
            <a:srgbClr val="12202B"/>
          </a:solidFill>
          <a:ln w="12700">
            <a:solidFill>
              <a:srgbClr val="12202B"/>
            </a:solidFill>
            <a:prstDash val="solid"/>
          </a:ln>
        </p:spPr>
        <p:txBody>
          <a:bodyPr/>
          <a:lstStyle/>
          <a:p>
            <a:endParaRPr lang="en-US"/>
          </a:p>
        </p:txBody>
      </p:sp>
      <p:sp>
        <p:nvSpPr>
          <p:cNvPr id="23" name="Text 20"/>
          <p:cNvSpPr txBox="1"/>
          <p:nvPr/>
        </p:nvSpPr>
        <p:spPr>
          <a:xfrm>
            <a:off x="3383280" y="4005072"/>
            <a:ext cx="2560320" cy="685800"/>
          </a:xfrm>
          <a:prstGeom prst="rect">
            <a:avLst/>
          </a:prstGeom>
          <a:noFill/>
          <a:ln/>
        </p:spPr>
        <p:txBody>
          <a:bodyPr wrap="square" lIns="0" tIns="0" rIns="0" bIns="0" rtlCol="0" anchor="ctr"/>
          <a:lstStyle/>
          <a:p>
            <a:pPr marL="0" indent="0" algn="ctr">
              <a:buNone/>
            </a:pPr>
            <a:r>
              <a:rPr lang="en-US" sz="3600" b="1" dirty="0">
                <a:solidFill>
                  <a:srgbClr val="F5B544"/>
                </a:solidFill>
                <a:latin typeface="Cambria" pitchFamily="34" charset="0"/>
                <a:ea typeface="Cambria" pitchFamily="34" charset="-122"/>
                <a:cs typeface="Cambria" pitchFamily="34" charset="-120"/>
              </a:rPr>
              <a:t>49</a:t>
            </a:r>
            <a:endParaRPr lang="en-US" sz="3600" dirty="0"/>
          </a:p>
        </p:txBody>
      </p:sp>
      <p:sp>
        <p:nvSpPr>
          <p:cNvPr id="24" name="Text 21"/>
          <p:cNvSpPr txBox="1"/>
          <p:nvPr/>
        </p:nvSpPr>
        <p:spPr>
          <a:xfrm>
            <a:off x="3383280" y="4681728"/>
            <a:ext cx="2560320" cy="365760"/>
          </a:xfrm>
          <a:prstGeom prst="rect">
            <a:avLst/>
          </a:prstGeom>
          <a:noFill/>
          <a:ln/>
        </p:spPr>
        <p:txBody>
          <a:bodyPr wrap="square" lIns="0" tIns="0" rIns="0" bIns="0" rtlCol="0" anchor="ctr"/>
          <a:lstStyle/>
          <a:p>
            <a:pPr marL="0" indent="0" algn="ctr">
              <a:buNone/>
            </a:pPr>
            <a:r>
              <a:rPr lang="en-US" sz="1400" dirty="0">
                <a:solidFill>
                  <a:srgbClr val="FFFFFF"/>
                </a:solidFill>
              </a:rPr>
              <a:t>database tables</a:t>
            </a:r>
            <a:endParaRPr lang="en-US" sz="1400" dirty="0"/>
          </a:p>
        </p:txBody>
      </p:sp>
      <p:sp>
        <p:nvSpPr>
          <p:cNvPr id="25" name="Shape 22"/>
          <p:cNvSpPr/>
          <p:nvPr/>
        </p:nvSpPr>
        <p:spPr>
          <a:xfrm>
            <a:off x="6217920" y="3931920"/>
            <a:ext cx="2560320" cy="1234440"/>
          </a:xfrm>
          <a:prstGeom prst="roundRect">
            <a:avLst>
              <a:gd name="adj" fmla="val 8889"/>
            </a:avLst>
          </a:prstGeom>
          <a:solidFill>
            <a:srgbClr val="12202B"/>
          </a:solidFill>
          <a:ln w="12700">
            <a:solidFill>
              <a:srgbClr val="12202B"/>
            </a:solidFill>
            <a:prstDash val="solid"/>
          </a:ln>
        </p:spPr>
        <p:txBody>
          <a:bodyPr/>
          <a:lstStyle/>
          <a:p>
            <a:endParaRPr lang="en-US"/>
          </a:p>
        </p:txBody>
      </p:sp>
      <p:sp>
        <p:nvSpPr>
          <p:cNvPr id="26" name="Text 23"/>
          <p:cNvSpPr txBox="1"/>
          <p:nvPr/>
        </p:nvSpPr>
        <p:spPr>
          <a:xfrm>
            <a:off x="6217920" y="4005072"/>
            <a:ext cx="2560320" cy="685800"/>
          </a:xfrm>
          <a:prstGeom prst="rect">
            <a:avLst/>
          </a:prstGeom>
          <a:noFill/>
          <a:ln/>
        </p:spPr>
        <p:txBody>
          <a:bodyPr wrap="square" lIns="0" tIns="0" rIns="0" bIns="0" rtlCol="0" anchor="ctr"/>
          <a:lstStyle/>
          <a:p>
            <a:pPr marL="0" indent="0" algn="ctr">
              <a:buNone/>
            </a:pPr>
            <a:r>
              <a:rPr lang="en-US" sz="3600" b="1" dirty="0">
                <a:solidFill>
                  <a:srgbClr val="F5B544"/>
                </a:solidFill>
                <a:latin typeface="Cambria" pitchFamily="34" charset="0"/>
                <a:ea typeface="Cambria" pitchFamily="34" charset="-122"/>
                <a:cs typeface="Cambria" pitchFamily="34" charset="-120"/>
              </a:rPr>
              <a:t>1,475</a:t>
            </a:r>
            <a:endParaRPr lang="en-US" sz="3600" dirty="0"/>
          </a:p>
        </p:txBody>
      </p:sp>
      <p:sp>
        <p:nvSpPr>
          <p:cNvPr id="27" name="Text 24"/>
          <p:cNvSpPr txBox="1"/>
          <p:nvPr/>
        </p:nvSpPr>
        <p:spPr>
          <a:xfrm>
            <a:off x="6217920" y="4681728"/>
            <a:ext cx="2560320" cy="365760"/>
          </a:xfrm>
          <a:prstGeom prst="rect">
            <a:avLst/>
          </a:prstGeom>
          <a:noFill/>
          <a:ln/>
        </p:spPr>
        <p:txBody>
          <a:bodyPr wrap="square" lIns="0" tIns="0" rIns="0" bIns="0" rtlCol="0" anchor="ctr"/>
          <a:lstStyle/>
          <a:p>
            <a:pPr marL="0" indent="0" algn="ctr">
              <a:buNone/>
            </a:pPr>
            <a:r>
              <a:rPr lang="en-US" sz="1400" dirty="0">
                <a:solidFill>
                  <a:srgbClr val="FFFFFF"/>
                </a:solidFill>
              </a:rPr>
              <a:t>unit tests</a:t>
            </a:r>
            <a:endParaRPr lang="en-US" sz="1400" dirty="0"/>
          </a:p>
        </p:txBody>
      </p:sp>
      <p:sp>
        <p:nvSpPr>
          <p:cNvPr id="28" name="Shape 25"/>
          <p:cNvSpPr/>
          <p:nvPr/>
        </p:nvSpPr>
        <p:spPr>
          <a:xfrm>
            <a:off x="9052560" y="3931920"/>
            <a:ext cx="2560320" cy="1234440"/>
          </a:xfrm>
          <a:prstGeom prst="roundRect">
            <a:avLst>
              <a:gd name="adj" fmla="val 8889"/>
            </a:avLst>
          </a:prstGeom>
          <a:solidFill>
            <a:srgbClr val="12202B"/>
          </a:solidFill>
          <a:ln w="12700">
            <a:solidFill>
              <a:srgbClr val="12202B"/>
            </a:solidFill>
            <a:prstDash val="solid"/>
          </a:ln>
        </p:spPr>
        <p:txBody>
          <a:bodyPr/>
          <a:lstStyle/>
          <a:p>
            <a:endParaRPr lang="en-US"/>
          </a:p>
        </p:txBody>
      </p:sp>
      <p:sp>
        <p:nvSpPr>
          <p:cNvPr id="29" name="Text 26"/>
          <p:cNvSpPr txBox="1"/>
          <p:nvPr/>
        </p:nvSpPr>
        <p:spPr>
          <a:xfrm>
            <a:off x="9052560" y="4005072"/>
            <a:ext cx="2560320" cy="685800"/>
          </a:xfrm>
          <a:prstGeom prst="rect">
            <a:avLst/>
          </a:prstGeom>
          <a:noFill/>
          <a:ln/>
        </p:spPr>
        <p:txBody>
          <a:bodyPr wrap="square" lIns="0" tIns="0" rIns="0" bIns="0" rtlCol="0" anchor="ctr"/>
          <a:lstStyle/>
          <a:p>
            <a:pPr marL="0" indent="0" algn="ctr">
              <a:buNone/>
            </a:pPr>
            <a:r>
              <a:rPr lang="en-US" sz="3600" b="1" dirty="0">
                <a:solidFill>
                  <a:srgbClr val="F5B544"/>
                </a:solidFill>
                <a:latin typeface="Cambria" pitchFamily="34" charset="0"/>
                <a:ea typeface="Cambria" pitchFamily="34" charset="-122"/>
                <a:cs typeface="Cambria" pitchFamily="34" charset="-120"/>
              </a:rPr>
              <a:t>27</a:t>
            </a:r>
            <a:endParaRPr lang="en-US" sz="3600" dirty="0"/>
          </a:p>
        </p:txBody>
      </p:sp>
      <p:sp>
        <p:nvSpPr>
          <p:cNvPr id="30" name="Text 27"/>
          <p:cNvSpPr txBox="1"/>
          <p:nvPr/>
        </p:nvSpPr>
        <p:spPr>
          <a:xfrm>
            <a:off x="9052560" y="4681728"/>
            <a:ext cx="2560320" cy="365760"/>
          </a:xfrm>
          <a:prstGeom prst="rect">
            <a:avLst/>
          </a:prstGeom>
          <a:noFill/>
          <a:ln/>
        </p:spPr>
        <p:txBody>
          <a:bodyPr wrap="square" lIns="0" tIns="0" rIns="0" bIns="0" rtlCol="0" anchor="ctr"/>
          <a:lstStyle/>
          <a:p>
            <a:pPr marL="0" indent="0" algn="ctr">
              <a:buNone/>
            </a:pPr>
            <a:r>
              <a:rPr lang="en-US" sz="1400" dirty="0">
                <a:solidFill>
                  <a:srgbClr val="FFFFFF"/>
                </a:solidFill>
              </a:rPr>
              <a:t>end-to-end suites</a:t>
            </a:r>
            <a:endParaRPr lang="en-US" sz="1400" dirty="0"/>
          </a:p>
        </p:txBody>
      </p:sp>
      <p:sp>
        <p:nvSpPr>
          <p:cNvPr id="31" name="Shape 28"/>
          <p:cNvSpPr/>
          <p:nvPr/>
        </p:nvSpPr>
        <p:spPr>
          <a:xfrm>
            <a:off x="548640" y="5349240"/>
            <a:ext cx="11064240" cy="1005840"/>
          </a:xfrm>
          <a:prstGeom prst="roundRect">
            <a:avLst>
              <a:gd name="adj" fmla="val 10909"/>
            </a:avLst>
          </a:prstGeom>
          <a:solidFill>
            <a:srgbClr val="E6F3F1"/>
          </a:solidFill>
          <a:ln w="12700">
            <a:solidFill>
              <a:srgbClr val="E6F3F1"/>
            </a:solidFill>
            <a:prstDash val="solid"/>
          </a:ln>
        </p:spPr>
        <p:txBody>
          <a:bodyPr/>
          <a:lstStyle/>
          <a:p>
            <a:endParaRPr lang="en-US"/>
          </a:p>
        </p:txBody>
      </p:sp>
      <p:sp>
        <p:nvSpPr>
          <p:cNvPr id="32" name="Text 29"/>
          <p:cNvSpPr txBox="1"/>
          <p:nvPr/>
        </p:nvSpPr>
        <p:spPr>
          <a:xfrm>
            <a:off x="777240" y="5477256"/>
            <a:ext cx="10607040" cy="256032"/>
          </a:xfrm>
          <a:prstGeom prst="rect">
            <a:avLst/>
          </a:prstGeom>
          <a:noFill/>
          <a:ln/>
        </p:spPr>
        <p:txBody>
          <a:bodyPr wrap="square" lIns="0" tIns="0" rIns="0" bIns="0" rtlCol="0" anchor="ctr"/>
          <a:lstStyle/>
          <a:p>
            <a:pPr marL="0" indent="0">
              <a:buNone/>
            </a:pPr>
            <a:r>
              <a:rPr lang="en-US" sz="1100" b="1" kern="0" spc="200" dirty="0">
                <a:solidFill>
                  <a:srgbClr val="0F766E"/>
                </a:solidFill>
              </a:rPr>
              <a:t>IN PLAIN WORDS</a:t>
            </a:r>
            <a:endParaRPr lang="en-US" sz="1100" dirty="0"/>
          </a:p>
        </p:txBody>
      </p:sp>
      <p:sp>
        <p:nvSpPr>
          <p:cNvPr id="33" name="Text 30"/>
          <p:cNvSpPr txBox="1"/>
          <p:nvPr/>
        </p:nvSpPr>
        <p:spPr>
          <a:xfrm>
            <a:off x="777240" y="5769864"/>
            <a:ext cx="10607040" cy="475488"/>
          </a:xfrm>
          <a:prstGeom prst="rect">
            <a:avLst/>
          </a:prstGeom>
          <a:noFill/>
          <a:ln/>
        </p:spPr>
        <p:txBody>
          <a:bodyPr wrap="square" lIns="0" tIns="0" rIns="0" bIns="0" rtlCol="0" anchor="t"/>
          <a:lstStyle/>
          <a:p>
            <a:pPr marL="0" indent="0">
              <a:buNone/>
            </a:pPr>
            <a:r>
              <a:rPr lang="en-US" sz="1500" dirty="0">
                <a:solidFill>
                  <a:schemeClr val="tx1"/>
                </a:solidFill>
              </a:rPr>
              <a:t>Pages in the browser call the server. The server checks who you are, asks the matching engine, and reads or writes the database. Tests run the same app on a phone and on a desktop.</a:t>
            </a:r>
            <a:endParaRPr lang="en-US" sz="1500" dirty="0"/>
          </a:p>
        </p:txBody>
      </p:sp>
      <p:sp>
        <p:nvSpPr>
          <p:cNvPr id="3" name="Slide Number Placeholder 0"/>
          <p:cNvSpPr>
            <a:spLocks noGrp="1"/>
          </p:cNvSpPr>
          <p:nvPr>
            <p:ph type="sldNum" sz="quarter" idx="4294967295"/>
          </p:nvPr>
        </p:nvSpPr>
        <p:spPr>
          <a:xfrm>
            <a:off x="11155680" y="647395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480560" y="548640"/>
            <a:ext cx="7223760" cy="1371600"/>
          </a:xfrm>
          <a:prstGeom prst="rect">
            <a:avLst/>
          </a:prstGeom>
          <a:noFill/>
          <a:ln/>
        </p:spPr>
        <p:txBody>
          <a:bodyPr wrap="square" lIns="0" tIns="0" rIns="0" bIns="0" rtlCol="0" anchor="t"/>
          <a:lstStyle/>
          <a:p>
            <a:pPr marL="0" indent="0" algn="l">
              <a:buNone/>
            </a:pPr>
            <a:r>
              <a:rPr lang="en-US" sz="3400" b="1" dirty="0">
                <a:solidFill>
                  <a:srgbClr val="FFFFFF"/>
                </a:solidFill>
              </a:rPr>
              <a:t>Safety: report, human decision, enforcement</a:t>
            </a:r>
            <a:endParaRPr lang="en-US" sz="3400" dirty="0"/>
          </a:p>
        </p:txBody>
      </p:sp>
      <p:pic>
        <p:nvPicPr>
          <p:cNvPr id="3" name="Media 0">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822960" y="548640"/>
            <a:ext cx="2781942" cy="5760720"/>
          </a:xfrm>
          <a:prstGeom prst="rect">
            <a:avLst/>
          </a:prstGeom>
        </p:spPr>
      </p:pic>
      <p:sp>
        <p:nvSpPr>
          <p:cNvPr id="5" name="step-1-dot"/>
          <p:cNvSpPr/>
          <p:nvPr/>
        </p:nvSpPr>
        <p:spPr>
          <a:xfrm>
            <a:off x="4480560" y="2011680"/>
            <a:ext cx="457200" cy="457200"/>
          </a:xfrm>
          <a:prstGeom prst="ellipse">
            <a:avLst/>
          </a:prstGeom>
          <a:solidFill>
            <a:srgbClr val="F5B544"/>
          </a:solidFill>
          <a:ln w="12700">
            <a:solidFill>
              <a:srgbClr val="F5B544"/>
            </a:solidFill>
            <a:prstDash val="solid"/>
          </a:ln>
        </p:spPr>
        <p:txBody>
          <a:bodyPr/>
          <a:lstStyle/>
          <a:p>
            <a:endParaRPr lang="en-US"/>
          </a:p>
        </p:txBody>
      </p:sp>
      <p:sp>
        <p:nvSpPr>
          <p:cNvPr id="6" name="Text 2"/>
          <p:cNvSpPr txBox="1"/>
          <p:nvPr/>
        </p:nvSpPr>
        <p:spPr>
          <a:xfrm>
            <a:off x="4480560" y="2011680"/>
            <a:ext cx="457200" cy="457200"/>
          </a:xfrm>
          <a:prstGeom prst="rect">
            <a:avLst/>
          </a:prstGeom>
          <a:noFill/>
          <a:ln/>
        </p:spPr>
        <p:txBody>
          <a:bodyPr wrap="square" lIns="0" tIns="0" rIns="0" bIns="0" rtlCol="0" anchor="ctr"/>
          <a:lstStyle/>
          <a:p>
            <a:pPr marL="0" indent="0" algn="ctr">
              <a:buNone/>
            </a:pPr>
            <a:r>
              <a:rPr lang="en-US" sz="1600" b="1" dirty="0">
                <a:solidFill>
                  <a:srgbClr val="12202B"/>
                </a:solidFill>
              </a:rPr>
              <a:t>1</a:t>
            </a:r>
            <a:endParaRPr lang="en-US" sz="1600" dirty="0"/>
          </a:p>
        </p:txBody>
      </p:sp>
      <p:sp>
        <p:nvSpPr>
          <p:cNvPr id="7" name="Text 3"/>
          <p:cNvSpPr txBox="1"/>
          <p:nvPr/>
        </p:nvSpPr>
        <p:spPr>
          <a:xfrm>
            <a:off x="5166360" y="1956816"/>
            <a:ext cx="6446520" cy="365760"/>
          </a:xfrm>
          <a:prstGeom prst="rect">
            <a:avLst/>
          </a:prstGeom>
          <a:noFill/>
          <a:ln/>
        </p:spPr>
        <p:txBody>
          <a:bodyPr wrap="square" lIns="0" tIns="0" rIns="0" bIns="0" rtlCol="0" anchor="ctr"/>
          <a:lstStyle/>
          <a:p>
            <a:pPr marL="0" indent="0">
              <a:buNone/>
            </a:pPr>
            <a:r>
              <a:rPr lang="en-US" sz="1900" b="1" dirty="0">
                <a:solidFill>
                  <a:srgbClr val="FFFFFF"/>
                </a:solidFill>
              </a:rPr>
              <a:t>A person reports</a:t>
            </a:r>
            <a:endParaRPr lang="en-US" sz="1900" dirty="0"/>
          </a:p>
        </p:txBody>
      </p:sp>
      <p:sp>
        <p:nvSpPr>
          <p:cNvPr id="8" name="Text 4"/>
          <p:cNvSpPr txBox="1"/>
          <p:nvPr/>
        </p:nvSpPr>
        <p:spPr>
          <a:xfrm>
            <a:off x="5166360" y="2340864"/>
            <a:ext cx="6446520" cy="640080"/>
          </a:xfrm>
          <a:prstGeom prst="rect">
            <a:avLst/>
          </a:prstGeom>
          <a:noFill/>
          <a:ln/>
        </p:spPr>
        <p:txBody>
          <a:bodyPr wrap="square" lIns="0" tIns="0" rIns="0" bIns="0" rtlCol="0" anchor="t"/>
          <a:lstStyle/>
          <a:p>
            <a:pPr marL="0" indent="0">
              <a:buNone/>
            </a:pPr>
            <a:r>
              <a:rPr lang="en-US" sz="1400" dirty="0">
                <a:solidFill>
                  <a:srgbClr val="B9CBD3"/>
                </a:solidFill>
              </a:rPr>
              <a:t>Pick a reason, add context. Urgent kinds are sorted first.</a:t>
            </a:r>
            <a:endParaRPr lang="en-US" sz="1400" dirty="0"/>
          </a:p>
        </p:txBody>
      </p:sp>
      <p:sp>
        <p:nvSpPr>
          <p:cNvPr id="9" name="step-2-dot"/>
          <p:cNvSpPr/>
          <p:nvPr/>
        </p:nvSpPr>
        <p:spPr>
          <a:xfrm>
            <a:off x="4480560" y="3200400"/>
            <a:ext cx="457200" cy="457200"/>
          </a:xfrm>
          <a:prstGeom prst="ellipse">
            <a:avLst/>
          </a:prstGeom>
          <a:solidFill>
            <a:srgbClr val="F5B544"/>
          </a:solidFill>
          <a:ln w="12700">
            <a:solidFill>
              <a:srgbClr val="F5B544"/>
            </a:solidFill>
            <a:prstDash val="solid"/>
          </a:ln>
        </p:spPr>
        <p:txBody>
          <a:bodyPr/>
          <a:lstStyle/>
          <a:p>
            <a:endParaRPr lang="en-US"/>
          </a:p>
        </p:txBody>
      </p:sp>
      <p:sp>
        <p:nvSpPr>
          <p:cNvPr id="10" name="Text 6"/>
          <p:cNvSpPr txBox="1"/>
          <p:nvPr/>
        </p:nvSpPr>
        <p:spPr>
          <a:xfrm>
            <a:off x="4480560" y="3200400"/>
            <a:ext cx="457200" cy="457200"/>
          </a:xfrm>
          <a:prstGeom prst="rect">
            <a:avLst/>
          </a:prstGeom>
          <a:noFill/>
          <a:ln/>
        </p:spPr>
        <p:txBody>
          <a:bodyPr wrap="square" lIns="0" tIns="0" rIns="0" bIns="0" rtlCol="0" anchor="ctr"/>
          <a:lstStyle/>
          <a:p>
            <a:pPr marL="0" indent="0" algn="ctr">
              <a:buNone/>
            </a:pPr>
            <a:r>
              <a:rPr lang="en-US" sz="1600" b="1" dirty="0">
                <a:solidFill>
                  <a:srgbClr val="12202B"/>
                </a:solidFill>
              </a:rPr>
              <a:t>2</a:t>
            </a:r>
            <a:endParaRPr lang="en-US" sz="1600" dirty="0"/>
          </a:p>
        </p:txBody>
      </p:sp>
      <p:sp>
        <p:nvSpPr>
          <p:cNvPr id="11" name="Text 7"/>
          <p:cNvSpPr txBox="1"/>
          <p:nvPr/>
        </p:nvSpPr>
        <p:spPr>
          <a:xfrm>
            <a:off x="5166360" y="3145536"/>
            <a:ext cx="6446520" cy="365760"/>
          </a:xfrm>
          <a:prstGeom prst="rect">
            <a:avLst/>
          </a:prstGeom>
          <a:noFill/>
          <a:ln/>
        </p:spPr>
        <p:txBody>
          <a:bodyPr wrap="square" lIns="0" tIns="0" rIns="0" bIns="0" rtlCol="0" anchor="ctr"/>
          <a:lstStyle/>
          <a:p>
            <a:pPr marL="0" indent="0">
              <a:buNone/>
            </a:pPr>
            <a:r>
              <a:rPr lang="en-US" sz="1900" b="1" dirty="0">
                <a:solidFill>
                  <a:srgbClr val="FFFFFF"/>
                </a:solidFill>
              </a:rPr>
              <a:t>A moderator decides</a:t>
            </a:r>
            <a:endParaRPr lang="en-US" sz="1900" dirty="0"/>
          </a:p>
        </p:txBody>
      </p:sp>
      <p:sp>
        <p:nvSpPr>
          <p:cNvPr id="12" name="Text 8"/>
          <p:cNvSpPr txBox="1"/>
          <p:nvPr/>
        </p:nvSpPr>
        <p:spPr>
          <a:xfrm>
            <a:off x="5166360" y="3529584"/>
            <a:ext cx="6446520" cy="640080"/>
          </a:xfrm>
          <a:prstGeom prst="rect">
            <a:avLst/>
          </a:prstGeom>
          <a:noFill/>
          <a:ln/>
        </p:spPr>
        <p:txBody>
          <a:bodyPr wrap="square" lIns="0" tIns="0" rIns="0" bIns="0" rtlCol="0" anchor="t"/>
          <a:lstStyle/>
          <a:p>
            <a:pPr marL="0" indent="0">
              <a:buNone/>
            </a:pPr>
            <a:r>
              <a:rPr lang="en-US" sz="1400" dirty="0">
                <a:solidFill>
                  <a:srgbClr val="B9CBD3"/>
                </a:solidFill>
              </a:rPr>
              <a:t>A human reads it and writes a reason. Never automatic.</a:t>
            </a:r>
            <a:endParaRPr lang="en-US" sz="1400" dirty="0"/>
          </a:p>
        </p:txBody>
      </p:sp>
      <p:sp>
        <p:nvSpPr>
          <p:cNvPr id="13" name="step-3-dot"/>
          <p:cNvSpPr/>
          <p:nvPr/>
        </p:nvSpPr>
        <p:spPr>
          <a:xfrm>
            <a:off x="4480560" y="4389120"/>
            <a:ext cx="457200" cy="457200"/>
          </a:xfrm>
          <a:prstGeom prst="ellipse">
            <a:avLst/>
          </a:prstGeom>
          <a:solidFill>
            <a:srgbClr val="F5B544"/>
          </a:solidFill>
          <a:ln w="12700">
            <a:solidFill>
              <a:srgbClr val="F5B544"/>
            </a:solidFill>
            <a:prstDash val="solid"/>
          </a:ln>
        </p:spPr>
        <p:txBody>
          <a:bodyPr/>
          <a:lstStyle/>
          <a:p>
            <a:endParaRPr lang="en-US"/>
          </a:p>
        </p:txBody>
      </p:sp>
      <p:sp>
        <p:nvSpPr>
          <p:cNvPr id="14" name="Text 10"/>
          <p:cNvSpPr txBox="1"/>
          <p:nvPr/>
        </p:nvSpPr>
        <p:spPr>
          <a:xfrm>
            <a:off x="4480560" y="4389120"/>
            <a:ext cx="457200" cy="457200"/>
          </a:xfrm>
          <a:prstGeom prst="rect">
            <a:avLst/>
          </a:prstGeom>
          <a:noFill/>
          <a:ln/>
        </p:spPr>
        <p:txBody>
          <a:bodyPr wrap="square" lIns="0" tIns="0" rIns="0" bIns="0" rtlCol="0" anchor="ctr"/>
          <a:lstStyle/>
          <a:p>
            <a:pPr marL="0" indent="0" algn="ctr">
              <a:buNone/>
            </a:pPr>
            <a:r>
              <a:rPr lang="en-US" sz="1600" b="1" dirty="0">
                <a:solidFill>
                  <a:srgbClr val="12202B"/>
                </a:solidFill>
              </a:rPr>
              <a:t>3</a:t>
            </a:r>
            <a:endParaRPr lang="en-US" sz="1600" dirty="0"/>
          </a:p>
        </p:txBody>
      </p:sp>
      <p:sp>
        <p:nvSpPr>
          <p:cNvPr id="15" name="Text 11"/>
          <p:cNvSpPr txBox="1"/>
          <p:nvPr/>
        </p:nvSpPr>
        <p:spPr>
          <a:xfrm>
            <a:off x="5166360" y="4334256"/>
            <a:ext cx="6446520" cy="365760"/>
          </a:xfrm>
          <a:prstGeom prst="rect">
            <a:avLst/>
          </a:prstGeom>
          <a:noFill/>
          <a:ln/>
        </p:spPr>
        <p:txBody>
          <a:bodyPr wrap="square" lIns="0" tIns="0" rIns="0" bIns="0" rtlCol="0" anchor="ctr"/>
          <a:lstStyle/>
          <a:p>
            <a:pPr marL="0" indent="0">
              <a:buNone/>
            </a:pPr>
            <a:r>
              <a:rPr lang="en-US" sz="1900" b="1" dirty="0">
                <a:solidFill>
                  <a:srgbClr val="FFFFFF"/>
                </a:solidFill>
              </a:rPr>
              <a:t>Enforcement is clear</a:t>
            </a:r>
            <a:endParaRPr lang="en-US" sz="1900" dirty="0"/>
          </a:p>
        </p:txBody>
      </p:sp>
      <p:sp>
        <p:nvSpPr>
          <p:cNvPr id="16" name="Text 12"/>
          <p:cNvSpPr txBox="1"/>
          <p:nvPr/>
        </p:nvSpPr>
        <p:spPr>
          <a:xfrm>
            <a:off x="5166360" y="4718304"/>
            <a:ext cx="6446520" cy="640080"/>
          </a:xfrm>
          <a:prstGeom prst="rect">
            <a:avLst/>
          </a:prstGeom>
          <a:noFill/>
          <a:ln/>
        </p:spPr>
        <p:txBody>
          <a:bodyPr wrap="square" lIns="0" tIns="0" rIns="0" bIns="0" rtlCol="0" anchor="t"/>
          <a:lstStyle/>
          <a:p>
            <a:pPr marL="0" indent="0">
              <a:buNone/>
            </a:pPr>
            <a:r>
              <a:rPr lang="en-US" sz="1400" dirty="0">
                <a:solidFill>
                  <a:srgbClr val="B9CBD3"/>
                </a:solidFill>
              </a:rPr>
              <a:t>Warn, 7-day suspension, ban. The person sees why and can appeal.</a:t>
            </a:r>
            <a:endParaRPr lang="en-US" sz="1400" dirty="0"/>
          </a:p>
        </p:txBody>
      </p:sp>
      <p:sp>
        <p:nvSpPr>
          <p:cNvPr id="17" name="Text 13"/>
          <p:cNvSpPr txBox="1"/>
          <p:nvPr/>
        </p:nvSpPr>
        <p:spPr>
          <a:xfrm>
            <a:off x="548640" y="6355080"/>
            <a:ext cx="3291840" cy="365760"/>
          </a:xfrm>
          <a:prstGeom prst="rect">
            <a:avLst/>
          </a:prstGeom>
          <a:noFill/>
          <a:ln/>
        </p:spPr>
        <p:txBody>
          <a:bodyPr wrap="square" lIns="0" tIns="0" rIns="0" bIns="0" rtlCol="0" anchor="ctr"/>
          <a:lstStyle/>
          <a:p>
            <a:pPr marL="0" indent="0" algn="ctr">
              <a:buNone/>
            </a:pPr>
            <a:r>
              <a:rPr lang="en-US" sz="1200" dirty="0">
                <a:solidFill>
                  <a:srgbClr val="B9CBD3"/>
                </a:solidFill>
              </a:rPr>
              <a:t>Screen recording of the real app</a:t>
            </a:r>
            <a:endParaRPr lang="en-US" sz="1200" dirty="0"/>
          </a:p>
        </p:txBody>
      </p:sp>
      <p:sp>
        <p:nvSpPr>
          <p:cNvPr id="25" name="Slide Number Placeholder 0"/>
          <p:cNvSpPr>
            <a:spLocks noGrp="1"/>
          </p:cNvSpPr>
          <p:nvPr>
            <p:ph type="sldNum" sz="quarter" idx="4294967295"/>
          </p:nvPr>
        </p:nvSpPr>
        <p:spPr>
          <a:xfrm>
            <a:off x="11155680" y="647395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FA0A9"/>
                </a:solidFill>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400" b="1" dirty="0">
                <a:solidFill>
                  <a:srgbClr val="FFFFFF"/>
                </a:solidFill>
              </a:rPr>
              <a:t>What the moderator sees</a:t>
            </a:r>
            <a:endParaRPr lang="en-US" sz="3400" dirty="0"/>
          </a:p>
        </p:txBody>
      </p:sp>
      <p:pic>
        <p:nvPicPr>
          <p:cNvPr id="3" name="Media 0">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548640" y="1371600"/>
            <a:ext cx="6949440" cy="4661210"/>
          </a:xfrm>
          <a:prstGeom prst="rect">
            <a:avLst/>
          </a:prstGeom>
        </p:spPr>
      </p:pic>
      <p:sp>
        <p:nvSpPr>
          <p:cNvPr id="5" name="step-1-dot"/>
          <p:cNvSpPr/>
          <p:nvPr/>
        </p:nvSpPr>
        <p:spPr>
          <a:xfrm>
            <a:off x="8138160" y="1417320"/>
            <a:ext cx="457200" cy="457200"/>
          </a:xfrm>
          <a:prstGeom prst="ellipse">
            <a:avLst/>
          </a:prstGeom>
          <a:solidFill>
            <a:srgbClr val="F5B544"/>
          </a:solidFill>
          <a:ln w="12700">
            <a:solidFill>
              <a:srgbClr val="F5B544"/>
            </a:solidFill>
            <a:prstDash val="solid"/>
          </a:ln>
        </p:spPr>
        <p:txBody>
          <a:bodyPr/>
          <a:lstStyle/>
          <a:p>
            <a:endParaRPr lang="en-US"/>
          </a:p>
        </p:txBody>
      </p:sp>
      <p:sp>
        <p:nvSpPr>
          <p:cNvPr id="6" name="Text 2"/>
          <p:cNvSpPr txBox="1"/>
          <p:nvPr/>
        </p:nvSpPr>
        <p:spPr>
          <a:xfrm>
            <a:off x="8138160" y="1417320"/>
            <a:ext cx="457200" cy="457200"/>
          </a:xfrm>
          <a:prstGeom prst="rect">
            <a:avLst/>
          </a:prstGeom>
          <a:noFill/>
          <a:ln/>
        </p:spPr>
        <p:txBody>
          <a:bodyPr wrap="square" lIns="0" tIns="0" rIns="0" bIns="0" rtlCol="0" anchor="ctr"/>
          <a:lstStyle/>
          <a:p>
            <a:pPr marL="0" indent="0" algn="ctr">
              <a:buNone/>
            </a:pPr>
            <a:r>
              <a:rPr lang="en-US" sz="1600" b="1" dirty="0">
                <a:solidFill>
                  <a:srgbClr val="12202B"/>
                </a:solidFill>
              </a:rPr>
              <a:t>1</a:t>
            </a:r>
            <a:endParaRPr lang="en-US" sz="1600" dirty="0"/>
          </a:p>
        </p:txBody>
      </p:sp>
      <p:sp>
        <p:nvSpPr>
          <p:cNvPr id="7" name="Text 3"/>
          <p:cNvSpPr txBox="1"/>
          <p:nvPr/>
        </p:nvSpPr>
        <p:spPr>
          <a:xfrm>
            <a:off x="8823960" y="1362456"/>
            <a:ext cx="2880360" cy="365760"/>
          </a:xfrm>
          <a:prstGeom prst="rect">
            <a:avLst/>
          </a:prstGeom>
          <a:noFill/>
          <a:ln/>
        </p:spPr>
        <p:txBody>
          <a:bodyPr wrap="square" lIns="0" tIns="0" rIns="0" bIns="0" rtlCol="0" anchor="ctr"/>
          <a:lstStyle/>
          <a:p>
            <a:pPr marL="0" indent="0">
              <a:buNone/>
            </a:pPr>
            <a:r>
              <a:rPr lang="en-US" sz="1700" b="1" dirty="0">
                <a:solidFill>
                  <a:srgbClr val="FFFFFF"/>
                </a:solidFill>
              </a:rPr>
              <a:t>Verification queue</a:t>
            </a:r>
            <a:endParaRPr lang="en-US" sz="1700" dirty="0"/>
          </a:p>
        </p:txBody>
      </p:sp>
      <p:sp>
        <p:nvSpPr>
          <p:cNvPr id="8" name="Text 4"/>
          <p:cNvSpPr txBox="1"/>
          <p:nvPr/>
        </p:nvSpPr>
        <p:spPr>
          <a:xfrm>
            <a:off x="8823960" y="1746504"/>
            <a:ext cx="2880360" cy="640080"/>
          </a:xfrm>
          <a:prstGeom prst="rect">
            <a:avLst/>
          </a:prstGeom>
          <a:noFill/>
          <a:ln/>
        </p:spPr>
        <p:txBody>
          <a:bodyPr wrap="square" lIns="0" tIns="0" rIns="0" bIns="0" rtlCol="0" anchor="t"/>
          <a:lstStyle/>
          <a:p>
            <a:pPr marL="0" indent="0">
              <a:buNone/>
            </a:pPr>
            <a:r>
              <a:rPr lang="en-US" sz="1300" dirty="0">
                <a:solidFill>
                  <a:srgbClr val="B9CBD3"/>
                </a:solidFill>
              </a:rPr>
              <a:t>Compare a selfie to the profile photos, then approve or reject.</a:t>
            </a:r>
            <a:endParaRPr lang="en-US" sz="1300" dirty="0"/>
          </a:p>
        </p:txBody>
      </p:sp>
      <p:sp>
        <p:nvSpPr>
          <p:cNvPr id="9" name="step-2-dot"/>
          <p:cNvSpPr/>
          <p:nvPr/>
        </p:nvSpPr>
        <p:spPr>
          <a:xfrm>
            <a:off x="8138160" y="2834640"/>
            <a:ext cx="457200" cy="457200"/>
          </a:xfrm>
          <a:prstGeom prst="ellipse">
            <a:avLst/>
          </a:prstGeom>
          <a:solidFill>
            <a:srgbClr val="F5B544"/>
          </a:solidFill>
          <a:ln w="12700">
            <a:solidFill>
              <a:srgbClr val="F5B544"/>
            </a:solidFill>
            <a:prstDash val="solid"/>
          </a:ln>
        </p:spPr>
        <p:txBody>
          <a:bodyPr/>
          <a:lstStyle/>
          <a:p>
            <a:endParaRPr lang="en-US"/>
          </a:p>
        </p:txBody>
      </p:sp>
      <p:sp>
        <p:nvSpPr>
          <p:cNvPr id="10" name="Text 6"/>
          <p:cNvSpPr txBox="1"/>
          <p:nvPr/>
        </p:nvSpPr>
        <p:spPr>
          <a:xfrm>
            <a:off x="8138160" y="2834640"/>
            <a:ext cx="457200" cy="457200"/>
          </a:xfrm>
          <a:prstGeom prst="rect">
            <a:avLst/>
          </a:prstGeom>
          <a:noFill/>
          <a:ln/>
        </p:spPr>
        <p:txBody>
          <a:bodyPr wrap="square" lIns="0" tIns="0" rIns="0" bIns="0" rtlCol="0" anchor="ctr"/>
          <a:lstStyle/>
          <a:p>
            <a:pPr marL="0" indent="0" algn="ctr">
              <a:buNone/>
            </a:pPr>
            <a:r>
              <a:rPr lang="en-US" sz="1600" b="1" dirty="0">
                <a:solidFill>
                  <a:srgbClr val="12202B"/>
                </a:solidFill>
              </a:rPr>
              <a:t>2</a:t>
            </a:r>
            <a:endParaRPr lang="en-US" sz="1600" dirty="0"/>
          </a:p>
        </p:txBody>
      </p:sp>
      <p:sp>
        <p:nvSpPr>
          <p:cNvPr id="11" name="Text 7"/>
          <p:cNvSpPr txBox="1"/>
          <p:nvPr/>
        </p:nvSpPr>
        <p:spPr>
          <a:xfrm>
            <a:off x="8823960" y="2779776"/>
            <a:ext cx="2880360" cy="365760"/>
          </a:xfrm>
          <a:prstGeom prst="rect">
            <a:avLst/>
          </a:prstGeom>
          <a:noFill/>
          <a:ln/>
        </p:spPr>
        <p:txBody>
          <a:bodyPr wrap="square" lIns="0" tIns="0" rIns="0" bIns="0" rtlCol="0" anchor="ctr"/>
          <a:lstStyle/>
          <a:p>
            <a:pPr marL="0" indent="0">
              <a:buNone/>
            </a:pPr>
            <a:r>
              <a:rPr lang="en-US" sz="1700" b="1" dirty="0">
                <a:solidFill>
                  <a:srgbClr val="FFFFFF"/>
                </a:solidFill>
              </a:rPr>
              <a:t>Reports queue</a:t>
            </a:r>
            <a:endParaRPr lang="en-US" sz="1700" dirty="0"/>
          </a:p>
        </p:txBody>
      </p:sp>
      <p:sp>
        <p:nvSpPr>
          <p:cNvPr id="12" name="Text 8"/>
          <p:cNvSpPr txBox="1"/>
          <p:nvPr/>
        </p:nvSpPr>
        <p:spPr>
          <a:xfrm>
            <a:off x="8823960" y="3163824"/>
            <a:ext cx="2880360" cy="640080"/>
          </a:xfrm>
          <a:prstGeom prst="rect">
            <a:avLst/>
          </a:prstGeom>
          <a:noFill/>
          <a:ln/>
        </p:spPr>
        <p:txBody>
          <a:bodyPr wrap="square" lIns="0" tIns="0" rIns="0" bIns="0" rtlCol="0" anchor="t"/>
          <a:lstStyle/>
          <a:p>
            <a:pPr marL="0" indent="0">
              <a:buNone/>
            </a:pPr>
            <a:r>
              <a:rPr lang="en-US" sz="1300" dirty="0">
                <a:solidFill>
                  <a:srgbClr val="B9CBD3"/>
                </a:solidFill>
              </a:rPr>
              <a:t>Urgent first. Every decision needs a written reason.</a:t>
            </a:r>
            <a:endParaRPr lang="en-US" sz="1300" dirty="0"/>
          </a:p>
        </p:txBody>
      </p:sp>
      <p:sp>
        <p:nvSpPr>
          <p:cNvPr id="13" name="step-3-dot"/>
          <p:cNvSpPr/>
          <p:nvPr/>
        </p:nvSpPr>
        <p:spPr>
          <a:xfrm>
            <a:off x="8138160" y="4251960"/>
            <a:ext cx="457200" cy="457200"/>
          </a:xfrm>
          <a:prstGeom prst="ellipse">
            <a:avLst/>
          </a:prstGeom>
          <a:solidFill>
            <a:srgbClr val="F5B544"/>
          </a:solidFill>
          <a:ln w="12700">
            <a:solidFill>
              <a:srgbClr val="F5B544"/>
            </a:solidFill>
            <a:prstDash val="solid"/>
          </a:ln>
        </p:spPr>
        <p:txBody>
          <a:bodyPr/>
          <a:lstStyle/>
          <a:p>
            <a:endParaRPr lang="en-US"/>
          </a:p>
        </p:txBody>
      </p:sp>
      <p:sp>
        <p:nvSpPr>
          <p:cNvPr id="14" name="Text 10"/>
          <p:cNvSpPr txBox="1"/>
          <p:nvPr/>
        </p:nvSpPr>
        <p:spPr>
          <a:xfrm>
            <a:off x="8138160" y="4251960"/>
            <a:ext cx="457200" cy="457200"/>
          </a:xfrm>
          <a:prstGeom prst="rect">
            <a:avLst/>
          </a:prstGeom>
          <a:noFill/>
          <a:ln/>
        </p:spPr>
        <p:txBody>
          <a:bodyPr wrap="square" lIns="0" tIns="0" rIns="0" bIns="0" rtlCol="0" anchor="ctr"/>
          <a:lstStyle/>
          <a:p>
            <a:pPr marL="0" indent="0" algn="ctr">
              <a:buNone/>
            </a:pPr>
            <a:r>
              <a:rPr lang="en-US" sz="1600" b="1" dirty="0">
                <a:solidFill>
                  <a:srgbClr val="12202B"/>
                </a:solidFill>
              </a:rPr>
              <a:t>3</a:t>
            </a:r>
            <a:endParaRPr lang="en-US" sz="1600" dirty="0"/>
          </a:p>
        </p:txBody>
      </p:sp>
      <p:sp>
        <p:nvSpPr>
          <p:cNvPr id="15" name="Text 11"/>
          <p:cNvSpPr txBox="1"/>
          <p:nvPr/>
        </p:nvSpPr>
        <p:spPr>
          <a:xfrm>
            <a:off x="8823960" y="4197096"/>
            <a:ext cx="2880360" cy="365760"/>
          </a:xfrm>
          <a:prstGeom prst="rect">
            <a:avLst/>
          </a:prstGeom>
          <a:noFill/>
          <a:ln/>
        </p:spPr>
        <p:txBody>
          <a:bodyPr wrap="square" lIns="0" tIns="0" rIns="0" bIns="0" rtlCol="0" anchor="ctr"/>
          <a:lstStyle/>
          <a:p>
            <a:pPr marL="0" indent="0">
              <a:buNone/>
            </a:pPr>
            <a:r>
              <a:rPr lang="en-US" sz="1700" b="1" dirty="0">
                <a:solidFill>
                  <a:srgbClr val="FFFFFF"/>
                </a:solidFill>
              </a:rPr>
              <a:t>Moderators see the minimum</a:t>
            </a:r>
            <a:endParaRPr lang="en-US" sz="1700" dirty="0"/>
          </a:p>
        </p:txBody>
      </p:sp>
      <p:sp>
        <p:nvSpPr>
          <p:cNvPr id="16" name="Text 12"/>
          <p:cNvSpPr txBox="1"/>
          <p:nvPr/>
        </p:nvSpPr>
        <p:spPr>
          <a:xfrm>
            <a:off x="8823960" y="4581144"/>
            <a:ext cx="2880360" cy="640080"/>
          </a:xfrm>
          <a:prstGeom prst="rect">
            <a:avLst/>
          </a:prstGeom>
          <a:noFill/>
          <a:ln/>
        </p:spPr>
        <p:txBody>
          <a:bodyPr wrap="square" lIns="0" tIns="0" rIns="0" bIns="0" rtlCol="0" anchor="t"/>
          <a:lstStyle/>
          <a:p>
            <a:pPr marL="0" indent="0">
              <a:buNone/>
            </a:pPr>
            <a:r>
              <a:rPr lang="en-US" sz="1300" dirty="0">
                <a:solidFill>
                  <a:srgbClr val="B9CBD3"/>
                </a:solidFill>
              </a:rPr>
              <a:t>Who someone wants to date is never loaded for them.</a:t>
            </a:r>
            <a:endParaRPr lang="en-US" sz="1300" dirty="0"/>
          </a:p>
        </p:txBody>
      </p:sp>
      <p:sp>
        <p:nvSpPr>
          <p:cNvPr id="17" name="Text 13"/>
          <p:cNvSpPr txBox="1"/>
          <p:nvPr/>
        </p:nvSpPr>
        <p:spPr>
          <a:xfrm>
            <a:off x="548640" y="6080760"/>
            <a:ext cx="6949440" cy="365760"/>
          </a:xfrm>
          <a:prstGeom prst="rect">
            <a:avLst/>
          </a:prstGeom>
          <a:noFill/>
          <a:ln/>
        </p:spPr>
        <p:txBody>
          <a:bodyPr wrap="square" lIns="0" tIns="0" rIns="0" bIns="0" rtlCol="0" anchor="ctr"/>
          <a:lstStyle/>
          <a:p>
            <a:pPr marL="0" indent="0" algn="ctr">
              <a:buNone/>
            </a:pPr>
            <a:r>
              <a:rPr lang="en-US" sz="1200" dirty="0">
                <a:solidFill>
                  <a:srgbClr val="B9CBD3"/>
                </a:solidFill>
              </a:rPr>
              <a:t>Screen recording of the real admin tools</a:t>
            </a:r>
            <a:endParaRPr lang="en-US" sz="1200" dirty="0"/>
          </a:p>
        </p:txBody>
      </p:sp>
      <p:sp>
        <p:nvSpPr>
          <p:cNvPr id="25" name="Slide Number Placeholder 0"/>
          <p:cNvSpPr>
            <a:spLocks noGrp="1"/>
          </p:cNvSpPr>
          <p:nvPr>
            <p:ph type="sldNum" sz="quarter" idx="4294967295"/>
          </p:nvPr>
        </p:nvSpPr>
        <p:spPr>
          <a:xfrm>
            <a:off x="11155680" y="647395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FA0A9"/>
                </a:solidFill>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400" b="1" dirty="0">
                <a:solidFill>
                  <a:schemeClr val="tx1"/>
                </a:solidFill>
              </a:rPr>
              <a:t>Privacy rules built into the code</a:t>
            </a:r>
            <a:endParaRPr lang="en-US" sz="3400" dirty="0"/>
          </a:p>
        </p:txBody>
      </p:sp>
      <p:sp>
        <p:nvSpPr>
          <p:cNvPr id="4" name="Shape 1"/>
          <p:cNvSpPr/>
          <p:nvPr/>
        </p:nvSpPr>
        <p:spPr>
          <a:xfrm>
            <a:off x="548640" y="1371600"/>
            <a:ext cx="3566160" cy="1874520"/>
          </a:xfrm>
          <a:prstGeom prst="roundRect">
            <a:avLst>
              <a:gd name="adj" fmla="val 5854"/>
            </a:avLst>
          </a:prstGeom>
          <a:solidFill>
            <a:srgbClr val="FFFFFF"/>
          </a:solidFill>
          <a:ln w="12700">
            <a:solidFill>
              <a:srgbClr val="E4E0D6"/>
            </a:solidFill>
            <a:prstDash val="solid"/>
          </a:ln>
        </p:spPr>
        <p:txBody>
          <a:bodyPr/>
          <a:lstStyle/>
          <a:p>
            <a:endParaRPr lang="en-US"/>
          </a:p>
        </p:txBody>
      </p:sp>
      <p:sp>
        <p:nvSpPr>
          <p:cNvPr id="5" name="Shape 2"/>
          <p:cNvSpPr/>
          <p:nvPr/>
        </p:nvSpPr>
        <p:spPr>
          <a:xfrm>
            <a:off x="749808" y="1591056"/>
            <a:ext cx="219456" cy="219456"/>
          </a:xfrm>
          <a:prstGeom prst="ellipse">
            <a:avLst/>
          </a:prstGeom>
          <a:solidFill>
            <a:srgbClr val="0F766E"/>
          </a:solidFill>
          <a:ln w="12700">
            <a:solidFill>
              <a:srgbClr val="0F766E"/>
            </a:solidFill>
            <a:prstDash val="solid"/>
          </a:ln>
        </p:spPr>
        <p:txBody>
          <a:bodyPr/>
          <a:lstStyle/>
          <a:p>
            <a:endParaRPr lang="en-US"/>
          </a:p>
        </p:txBody>
      </p:sp>
      <p:sp>
        <p:nvSpPr>
          <p:cNvPr id="6" name="Text 3"/>
          <p:cNvSpPr txBox="1"/>
          <p:nvPr/>
        </p:nvSpPr>
        <p:spPr>
          <a:xfrm>
            <a:off x="1097280" y="1481328"/>
            <a:ext cx="2834640" cy="438912"/>
          </a:xfrm>
          <a:prstGeom prst="rect">
            <a:avLst/>
          </a:prstGeom>
          <a:noFill/>
          <a:ln/>
        </p:spPr>
        <p:txBody>
          <a:bodyPr wrap="square" lIns="0" tIns="0" rIns="0" bIns="0" rtlCol="0" anchor="ctr"/>
          <a:lstStyle/>
          <a:p>
            <a:pPr marL="0" indent="0">
              <a:buNone/>
            </a:pPr>
            <a:r>
              <a:rPr lang="en-US" sz="1700" b="1" dirty="0">
                <a:solidFill>
                  <a:schemeClr val="tx1"/>
                </a:solidFill>
              </a:rPr>
              <a:t>No ID numbers</a:t>
            </a:r>
            <a:endParaRPr lang="en-US" sz="1700" dirty="0"/>
          </a:p>
        </p:txBody>
      </p:sp>
      <p:sp>
        <p:nvSpPr>
          <p:cNvPr id="7" name="Text 4"/>
          <p:cNvSpPr txBox="1"/>
          <p:nvPr/>
        </p:nvSpPr>
        <p:spPr>
          <a:xfrm>
            <a:off x="749808" y="2029968"/>
            <a:ext cx="3163824" cy="1088136"/>
          </a:xfrm>
          <a:prstGeom prst="rect">
            <a:avLst/>
          </a:prstGeom>
          <a:noFill/>
          <a:ln/>
        </p:spPr>
        <p:txBody>
          <a:bodyPr wrap="square" lIns="0" tIns="0" rIns="0" bIns="0" rtlCol="0" anchor="t"/>
          <a:lstStyle/>
          <a:p>
            <a:pPr marL="0" indent="0">
              <a:buNone/>
            </a:pPr>
            <a:r>
              <a:rPr lang="en-US" sz="1500" dirty="0">
                <a:solidFill>
                  <a:srgbClr val="4A5A66"/>
                </a:solidFill>
              </a:rPr>
              <a:t>Only the birth year is kept after the age check.</a:t>
            </a:r>
            <a:endParaRPr lang="en-US" sz="1500" dirty="0"/>
          </a:p>
        </p:txBody>
      </p:sp>
      <p:sp>
        <p:nvSpPr>
          <p:cNvPr id="8" name="Shape 5"/>
          <p:cNvSpPr/>
          <p:nvPr/>
        </p:nvSpPr>
        <p:spPr>
          <a:xfrm>
            <a:off x="4297680" y="1371600"/>
            <a:ext cx="3566160" cy="1874520"/>
          </a:xfrm>
          <a:prstGeom prst="roundRect">
            <a:avLst>
              <a:gd name="adj" fmla="val 5854"/>
            </a:avLst>
          </a:prstGeom>
          <a:solidFill>
            <a:srgbClr val="FFFFFF"/>
          </a:solidFill>
          <a:ln w="12700">
            <a:solidFill>
              <a:srgbClr val="E4E0D6"/>
            </a:solidFill>
            <a:prstDash val="solid"/>
          </a:ln>
        </p:spPr>
        <p:txBody>
          <a:bodyPr/>
          <a:lstStyle/>
          <a:p>
            <a:endParaRPr lang="en-US"/>
          </a:p>
        </p:txBody>
      </p:sp>
      <p:sp>
        <p:nvSpPr>
          <p:cNvPr id="9" name="Shape 6"/>
          <p:cNvSpPr/>
          <p:nvPr/>
        </p:nvSpPr>
        <p:spPr>
          <a:xfrm>
            <a:off x="4498848" y="1591056"/>
            <a:ext cx="219456" cy="219456"/>
          </a:xfrm>
          <a:prstGeom prst="ellipse">
            <a:avLst/>
          </a:prstGeom>
          <a:solidFill>
            <a:srgbClr val="5B3FA6"/>
          </a:solidFill>
          <a:ln w="12700">
            <a:solidFill>
              <a:srgbClr val="5B3FA6"/>
            </a:solidFill>
            <a:prstDash val="solid"/>
          </a:ln>
        </p:spPr>
        <p:txBody>
          <a:bodyPr/>
          <a:lstStyle/>
          <a:p>
            <a:endParaRPr lang="en-US"/>
          </a:p>
        </p:txBody>
      </p:sp>
      <p:sp>
        <p:nvSpPr>
          <p:cNvPr id="10" name="Text 7"/>
          <p:cNvSpPr txBox="1"/>
          <p:nvPr/>
        </p:nvSpPr>
        <p:spPr>
          <a:xfrm>
            <a:off x="4846320" y="1481328"/>
            <a:ext cx="2834640" cy="438912"/>
          </a:xfrm>
          <a:prstGeom prst="rect">
            <a:avLst/>
          </a:prstGeom>
          <a:noFill/>
          <a:ln/>
        </p:spPr>
        <p:txBody>
          <a:bodyPr wrap="square" lIns="0" tIns="0" rIns="0" bIns="0" rtlCol="0" anchor="ctr"/>
          <a:lstStyle/>
          <a:p>
            <a:pPr marL="0" indent="0">
              <a:buNone/>
            </a:pPr>
            <a:r>
              <a:rPr lang="en-US" sz="1700" b="1" dirty="0">
                <a:solidFill>
                  <a:schemeClr val="tx1"/>
                </a:solidFill>
              </a:rPr>
              <a:t>Selfies are temporary</a:t>
            </a:r>
            <a:endParaRPr lang="en-US" sz="1700" dirty="0"/>
          </a:p>
        </p:txBody>
      </p:sp>
      <p:sp>
        <p:nvSpPr>
          <p:cNvPr id="11" name="Text 8"/>
          <p:cNvSpPr txBox="1"/>
          <p:nvPr/>
        </p:nvSpPr>
        <p:spPr>
          <a:xfrm>
            <a:off x="4498848" y="2029968"/>
            <a:ext cx="3163824" cy="1088136"/>
          </a:xfrm>
          <a:prstGeom prst="rect">
            <a:avLst/>
          </a:prstGeom>
          <a:noFill/>
          <a:ln/>
        </p:spPr>
        <p:txBody>
          <a:bodyPr wrap="square" lIns="0" tIns="0" rIns="0" bIns="0" rtlCol="0" anchor="t"/>
          <a:lstStyle/>
          <a:p>
            <a:pPr marL="0" indent="0">
              <a:buNone/>
            </a:pPr>
            <a:r>
              <a:rPr lang="en-US" sz="1500" dirty="0">
                <a:solidFill>
                  <a:srgbClr val="4A5A66"/>
                </a:solidFill>
              </a:rPr>
              <a:t>Deleted within 7 days. Only a "verified" flag stays.</a:t>
            </a:r>
            <a:endParaRPr lang="en-US" sz="1500" dirty="0"/>
          </a:p>
        </p:txBody>
      </p:sp>
      <p:sp>
        <p:nvSpPr>
          <p:cNvPr id="12" name="Shape 9"/>
          <p:cNvSpPr/>
          <p:nvPr/>
        </p:nvSpPr>
        <p:spPr>
          <a:xfrm>
            <a:off x="8046720" y="1371600"/>
            <a:ext cx="3566160" cy="1874520"/>
          </a:xfrm>
          <a:prstGeom prst="roundRect">
            <a:avLst>
              <a:gd name="adj" fmla="val 5854"/>
            </a:avLst>
          </a:prstGeom>
          <a:solidFill>
            <a:srgbClr val="FFFFFF"/>
          </a:solidFill>
          <a:ln w="12700">
            <a:solidFill>
              <a:srgbClr val="E4E0D6"/>
            </a:solidFill>
            <a:prstDash val="solid"/>
          </a:ln>
        </p:spPr>
        <p:txBody>
          <a:bodyPr/>
          <a:lstStyle/>
          <a:p>
            <a:endParaRPr lang="en-US"/>
          </a:p>
        </p:txBody>
      </p:sp>
      <p:sp>
        <p:nvSpPr>
          <p:cNvPr id="13" name="Shape 10"/>
          <p:cNvSpPr/>
          <p:nvPr/>
        </p:nvSpPr>
        <p:spPr>
          <a:xfrm>
            <a:off x="8247888" y="1591056"/>
            <a:ext cx="219456" cy="219456"/>
          </a:xfrm>
          <a:prstGeom prst="ellipse">
            <a:avLst/>
          </a:prstGeom>
          <a:solidFill>
            <a:srgbClr val="B7791F"/>
          </a:solidFill>
          <a:ln w="12700">
            <a:solidFill>
              <a:srgbClr val="B7791F"/>
            </a:solidFill>
            <a:prstDash val="solid"/>
          </a:ln>
        </p:spPr>
        <p:txBody>
          <a:bodyPr/>
          <a:lstStyle/>
          <a:p>
            <a:endParaRPr lang="en-US"/>
          </a:p>
        </p:txBody>
      </p:sp>
      <p:sp>
        <p:nvSpPr>
          <p:cNvPr id="14" name="Text 11"/>
          <p:cNvSpPr txBox="1"/>
          <p:nvPr/>
        </p:nvSpPr>
        <p:spPr>
          <a:xfrm>
            <a:off x="8595360" y="1481328"/>
            <a:ext cx="2834640" cy="438912"/>
          </a:xfrm>
          <a:prstGeom prst="rect">
            <a:avLst/>
          </a:prstGeom>
          <a:noFill/>
          <a:ln/>
        </p:spPr>
        <p:txBody>
          <a:bodyPr wrap="square" lIns="0" tIns="0" rIns="0" bIns="0" rtlCol="0" anchor="ctr"/>
          <a:lstStyle/>
          <a:p>
            <a:pPr marL="0" indent="0">
              <a:buNone/>
            </a:pPr>
            <a:r>
              <a:rPr lang="en-US" sz="1700" b="1" dirty="0">
                <a:solidFill>
                  <a:schemeClr val="tx1"/>
                </a:solidFill>
              </a:rPr>
              <a:t>Chats stay private</a:t>
            </a:r>
            <a:endParaRPr lang="en-US" sz="1700" dirty="0"/>
          </a:p>
        </p:txBody>
      </p:sp>
      <p:sp>
        <p:nvSpPr>
          <p:cNvPr id="15" name="Text 12"/>
          <p:cNvSpPr txBox="1"/>
          <p:nvPr/>
        </p:nvSpPr>
        <p:spPr>
          <a:xfrm>
            <a:off x="8247888" y="2029968"/>
            <a:ext cx="3163824" cy="1088136"/>
          </a:xfrm>
          <a:prstGeom prst="rect">
            <a:avLst/>
          </a:prstGeom>
          <a:noFill/>
          <a:ln/>
        </p:spPr>
        <p:txBody>
          <a:bodyPr wrap="square" lIns="0" tIns="0" rIns="0" bIns="0" rtlCol="0" anchor="t"/>
          <a:lstStyle/>
          <a:p>
            <a:pPr marL="0" indent="0">
              <a:buNone/>
            </a:pPr>
            <a:r>
              <a:rPr lang="en-US" sz="1500" dirty="0">
                <a:solidFill>
                  <a:srgbClr val="4A5A66"/>
                </a:solidFill>
              </a:rPr>
              <a:t>Never logged or shared. Moderators see only what a reporter attaches.</a:t>
            </a:r>
            <a:endParaRPr lang="en-US" sz="1500" dirty="0"/>
          </a:p>
        </p:txBody>
      </p:sp>
      <p:sp>
        <p:nvSpPr>
          <p:cNvPr id="16" name="Shape 13"/>
          <p:cNvSpPr/>
          <p:nvPr/>
        </p:nvSpPr>
        <p:spPr>
          <a:xfrm>
            <a:off x="548640" y="3383280"/>
            <a:ext cx="3566160" cy="1874520"/>
          </a:xfrm>
          <a:prstGeom prst="roundRect">
            <a:avLst>
              <a:gd name="adj" fmla="val 5854"/>
            </a:avLst>
          </a:prstGeom>
          <a:solidFill>
            <a:srgbClr val="FFFFFF"/>
          </a:solidFill>
          <a:ln w="12700">
            <a:solidFill>
              <a:srgbClr val="E4E0D6"/>
            </a:solidFill>
            <a:prstDash val="solid"/>
          </a:ln>
        </p:spPr>
        <p:txBody>
          <a:bodyPr/>
          <a:lstStyle/>
          <a:p>
            <a:endParaRPr lang="en-US"/>
          </a:p>
        </p:txBody>
      </p:sp>
      <p:sp>
        <p:nvSpPr>
          <p:cNvPr id="17" name="Shape 14"/>
          <p:cNvSpPr/>
          <p:nvPr/>
        </p:nvSpPr>
        <p:spPr>
          <a:xfrm>
            <a:off x="749808" y="3602736"/>
            <a:ext cx="219456" cy="219456"/>
          </a:xfrm>
          <a:prstGeom prst="ellipse">
            <a:avLst/>
          </a:prstGeom>
          <a:solidFill>
            <a:srgbClr val="2E9E6B"/>
          </a:solidFill>
          <a:ln w="12700">
            <a:solidFill>
              <a:srgbClr val="2E9E6B"/>
            </a:solidFill>
            <a:prstDash val="solid"/>
          </a:ln>
        </p:spPr>
        <p:txBody>
          <a:bodyPr/>
          <a:lstStyle/>
          <a:p>
            <a:endParaRPr lang="en-US"/>
          </a:p>
        </p:txBody>
      </p:sp>
      <p:sp>
        <p:nvSpPr>
          <p:cNvPr id="18" name="Text 15"/>
          <p:cNvSpPr txBox="1"/>
          <p:nvPr/>
        </p:nvSpPr>
        <p:spPr>
          <a:xfrm>
            <a:off x="1097280" y="3493008"/>
            <a:ext cx="2834640" cy="438912"/>
          </a:xfrm>
          <a:prstGeom prst="rect">
            <a:avLst/>
          </a:prstGeom>
          <a:noFill/>
          <a:ln/>
        </p:spPr>
        <p:txBody>
          <a:bodyPr wrap="square" lIns="0" tIns="0" rIns="0" bIns="0" rtlCol="0" anchor="ctr"/>
          <a:lstStyle/>
          <a:p>
            <a:pPr marL="0" indent="0">
              <a:buNone/>
            </a:pPr>
            <a:r>
              <a:rPr lang="en-US" sz="1700" b="1" dirty="0">
                <a:solidFill>
                  <a:schemeClr val="tx1"/>
                </a:solidFill>
              </a:rPr>
              <a:t>Encrypted preferences</a:t>
            </a:r>
            <a:endParaRPr lang="en-US" sz="1700" dirty="0"/>
          </a:p>
        </p:txBody>
      </p:sp>
      <p:sp>
        <p:nvSpPr>
          <p:cNvPr id="19" name="Text 16"/>
          <p:cNvSpPr txBox="1"/>
          <p:nvPr/>
        </p:nvSpPr>
        <p:spPr>
          <a:xfrm>
            <a:off x="749808" y="4041648"/>
            <a:ext cx="3163824" cy="1088136"/>
          </a:xfrm>
          <a:prstGeom prst="rect">
            <a:avLst/>
          </a:prstGeom>
          <a:noFill/>
          <a:ln/>
        </p:spPr>
        <p:txBody>
          <a:bodyPr wrap="square" lIns="0" tIns="0" rIns="0" bIns="0" rtlCol="0" anchor="t"/>
          <a:lstStyle/>
          <a:p>
            <a:pPr marL="0" indent="0">
              <a:buNone/>
            </a:pPr>
            <a:r>
              <a:rPr lang="en-US" sz="1500" dirty="0">
                <a:solidFill>
                  <a:srgbClr val="4A5A66"/>
                </a:solidFill>
              </a:rPr>
              <a:t>Who you'd like to date is encrypted and never shown to moderators.</a:t>
            </a:r>
            <a:endParaRPr lang="en-US" sz="1500" dirty="0"/>
          </a:p>
        </p:txBody>
      </p:sp>
      <p:sp>
        <p:nvSpPr>
          <p:cNvPr id="20" name="Shape 17"/>
          <p:cNvSpPr/>
          <p:nvPr/>
        </p:nvSpPr>
        <p:spPr>
          <a:xfrm>
            <a:off x="4297680" y="3383280"/>
            <a:ext cx="3566160" cy="1874520"/>
          </a:xfrm>
          <a:prstGeom prst="roundRect">
            <a:avLst>
              <a:gd name="adj" fmla="val 5854"/>
            </a:avLst>
          </a:prstGeom>
          <a:solidFill>
            <a:srgbClr val="FFFFFF"/>
          </a:solidFill>
          <a:ln w="12700">
            <a:solidFill>
              <a:srgbClr val="E4E0D6"/>
            </a:solidFill>
            <a:prstDash val="solid"/>
          </a:ln>
        </p:spPr>
        <p:txBody>
          <a:bodyPr/>
          <a:lstStyle/>
          <a:p>
            <a:endParaRPr lang="en-US"/>
          </a:p>
        </p:txBody>
      </p:sp>
      <p:sp>
        <p:nvSpPr>
          <p:cNvPr id="21" name="Shape 18"/>
          <p:cNvSpPr/>
          <p:nvPr/>
        </p:nvSpPr>
        <p:spPr>
          <a:xfrm>
            <a:off x="4498848" y="3602736"/>
            <a:ext cx="219456" cy="219456"/>
          </a:xfrm>
          <a:prstGeom prst="ellipse">
            <a:avLst/>
          </a:prstGeom>
          <a:solidFill>
            <a:srgbClr val="D64550"/>
          </a:solidFill>
          <a:ln w="12700">
            <a:solidFill>
              <a:srgbClr val="D64550"/>
            </a:solidFill>
            <a:prstDash val="solid"/>
          </a:ln>
        </p:spPr>
        <p:txBody>
          <a:bodyPr/>
          <a:lstStyle/>
          <a:p>
            <a:endParaRPr lang="en-US"/>
          </a:p>
        </p:txBody>
      </p:sp>
      <p:sp>
        <p:nvSpPr>
          <p:cNvPr id="22" name="Text 19"/>
          <p:cNvSpPr txBox="1"/>
          <p:nvPr/>
        </p:nvSpPr>
        <p:spPr>
          <a:xfrm>
            <a:off x="4846320" y="3493008"/>
            <a:ext cx="2834640" cy="438912"/>
          </a:xfrm>
          <a:prstGeom prst="rect">
            <a:avLst/>
          </a:prstGeom>
          <a:noFill/>
          <a:ln/>
        </p:spPr>
        <p:txBody>
          <a:bodyPr wrap="square" lIns="0" tIns="0" rIns="0" bIns="0" rtlCol="0" anchor="ctr"/>
          <a:lstStyle/>
          <a:p>
            <a:pPr marL="0" indent="0">
              <a:buNone/>
            </a:pPr>
            <a:r>
              <a:rPr lang="en-US" sz="1700" b="1" dirty="0">
                <a:solidFill>
                  <a:schemeClr val="tx1"/>
                </a:solidFill>
              </a:rPr>
              <a:t>Delete means delete</a:t>
            </a:r>
            <a:endParaRPr lang="en-US" sz="1700" dirty="0"/>
          </a:p>
        </p:txBody>
      </p:sp>
      <p:sp>
        <p:nvSpPr>
          <p:cNvPr id="23" name="Text 20"/>
          <p:cNvSpPr txBox="1"/>
          <p:nvPr/>
        </p:nvSpPr>
        <p:spPr>
          <a:xfrm>
            <a:off x="4498848" y="4041648"/>
            <a:ext cx="3163824" cy="1088136"/>
          </a:xfrm>
          <a:prstGeom prst="rect">
            <a:avLst/>
          </a:prstGeom>
          <a:noFill/>
          <a:ln/>
        </p:spPr>
        <p:txBody>
          <a:bodyPr wrap="square" lIns="0" tIns="0" rIns="0" bIns="0" rtlCol="0" anchor="t"/>
          <a:lstStyle/>
          <a:p>
            <a:pPr marL="0" indent="0">
              <a:buNone/>
            </a:pPr>
            <a:r>
              <a:rPr lang="en-US" sz="1500" dirty="0">
                <a:solidFill>
                  <a:srgbClr val="4A5A66"/>
                </a:solidFill>
              </a:rPr>
              <a:t>30-day grace period, then your identity is scrubbed.</a:t>
            </a:r>
            <a:endParaRPr lang="en-US" sz="1500" dirty="0"/>
          </a:p>
        </p:txBody>
      </p:sp>
      <p:sp>
        <p:nvSpPr>
          <p:cNvPr id="24" name="Shape 21"/>
          <p:cNvSpPr/>
          <p:nvPr/>
        </p:nvSpPr>
        <p:spPr>
          <a:xfrm>
            <a:off x="8046720" y="3383280"/>
            <a:ext cx="3566160" cy="1874520"/>
          </a:xfrm>
          <a:prstGeom prst="roundRect">
            <a:avLst>
              <a:gd name="adj" fmla="val 5854"/>
            </a:avLst>
          </a:prstGeom>
          <a:solidFill>
            <a:srgbClr val="FFFFFF"/>
          </a:solidFill>
          <a:ln w="12700">
            <a:solidFill>
              <a:srgbClr val="E4E0D6"/>
            </a:solidFill>
            <a:prstDash val="solid"/>
          </a:ln>
        </p:spPr>
        <p:txBody>
          <a:bodyPr/>
          <a:lstStyle/>
          <a:p>
            <a:endParaRPr lang="en-US"/>
          </a:p>
        </p:txBody>
      </p:sp>
      <p:sp>
        <p:nvSpPr>
          <p:cNvPr id="25" name="Shape 22"/>
          <p:cNvSpPr/>
          <p:nvPr/>
        </p:nvSpPr>
        <p:spPr>
          <a:xfrm>
            <a:off x="8247888" y="3602736"/>
            <a:ext cx="219456" cy="219456"/>
          </a:xfrm>
          <a:prstGeom prst="ellipse">
            <a:avLst/>
          </a:prstGeom>
          <a:solidFill>
            <a:srgbClr val="12202B"/>
          </a:solidFill>
          <a:ln w="12700">
            <a:solidFill>
              <a:srgbClr val="12202B"/>
            </a:solidFill>
            <a:prstDash val="solid"/>
          </a:ln>
        </p:spPr>
        <p:txBody>
          <a:bodyPr/>
          <a:lstStyle/>
          <a:p>
            <a:endParaRPr lang="en-US"/>
          </a:p>
        </p:txBody>
      </p:sp>
      <p:sp>
        <p:nvSpPr>
          <p:cNvPr id="26" name="Text 23"/>
          <p:cNvSpPr txBox="1"/>
          <p:nvPr/>
        </p:nvSpPr>
        <p:spPr>
          <a:xfrm>
            <a:off x="8595360" y="3493008"/>
            <a:ext cx="2834640" cy="438912"/>
          </a:xfrm>
          <a:prstGeom prst="rect">
            <a:avLst/>
          </a:prstGeom>
          <a:noFill/>
          <a:ln/>
        </p:spPr>
        <p:txBody>
          <a:bodyPr wrap="square" lIns="0" tIns="0" rIns="0" bIns="0" rtlCol="0" anchor="ctr"/>
          <a:lstStyle/>
          <a:p>
            <a:pPr marL="0" indent="0">
              <a:buNone/>
            </a:pPr>
            <a:r>
              <a:rPr lang="en-US" sz="1700" b="1" dirty="0">
                <a:solidFill>
                  <a:schemeClr val="tx1"/>
                </a:solidFill>
              </a:rPr>
              <a:t>Fictional data only here</a:t>
            </a:r>
            <a:endParaRPr lang="en-US" sz="1700" dirty="0"/>
          </a:p>
        </p:txBody>
      </p:sp>
      <p:sp>
        <p:nvSpPr>
          <p:cNvPr id="27" name="Text 24"/>
          <p:cNvSpPr txBox="1"/>
          <p:nvPr/>
        </p:nvSpPr>
        <p:spPr>
          <a:xfrm>
            <a:off x="8247888" y="4041648"/>
            <a:ext cx="3163824" cy="1088136"/>
          </a:xfrm>
          <a:prstGeom prst="rect">
            <a:avLst/>
          </a:prstGeom>
          <a:noFill/>
          <a:ln/>
        </p:spPr>
        <p:txBody>
          <a:bodyPr wrap="square" lIns="0" tIns="0" rIns="0" bIns="0" rtlCol="0" anchor="t"/>
          <a:lstStyle/>
          <a:p>
            <a:pPr marL="0" indent="0">
              <a:buNone/>
            </a:pPr>
            <a:r>
              <a:rPr lang="en-US" sz="1500" dirty="0">
                <a:solidFill>
                  <a:srgbClr val="4A5A66"/>
                </a:solidFill>
              </a:rPr>
              <a:t>Fake users exist only on a development database, never in production.</a:t>
            </a:r>
            <a:endParaRPr lang="en-US" sz="1500" dirty="0"/>
          </a:p>
        </p:txBody>
      </p:sp>
      <p:sp>
        <p:nvSpPr>
          <p:cNvPr id="28" name="Shape 25"/>
          <p:cNvSpPr/>
          <p:nvPr/>
        </p:nvSpPr>
        <p:spPr>
          <a:xfrm>
            <a:off x="548640" y="5440680"/>
            <a:ext cx="11064240" cy="868680"/>
          </a:xfrm>
          <a:prstGeom prst="roundRect">
            <a:avLst>
              <a:gd name="adj" fmla="val 12632"/>
            </a:avLst>
          </a:prstGeom>
          <a:solidFill>
            <a:srgbClr val="E6F3F1"/>
          </a:solidFill>
          <a:ln w="12700">
            <a:solidFill>
              <a:srgbClr val="E6F3F1"/>
            </a:solidFill>
            <a:prstDash val="solid"/>
          </a:ln>
        </p:spPr>
        <p:txBody>
          <a:bodyPr/>
          <a:lstStyle/>
          <a:p>
            <a:endParaRPr lang="en-US"/>
          </a:p>
        </p:txBody>
      </p:sp>
      <p:sp>
        <p:nvSpPr>
          <p:cNvPr id="29" name="Text 26"/>
          <p:cNvSpPr txBox="1"/>
          <p:nvPr/>
        </p:nvSpPr>
        <p:spPr>
          <a:xfrm>
            <a:off x="777240" y="5568696"/>
            <a:ext cx="10607040" cy="256032"/>
          </a:xfrm>
          <a:prstGeom prst="rect">
            <a:avLst/>
          </a:prstGeom>
          <a:noFill/>
          <a:ln/>
        </p:spPr>
        <p:txBody>
          <a:bodyPr wrap="square" lIns="0" tIns="0" rIns="0" bIns="0" rtlCol="0" anchor="ctr"/>
          <a:lstStyle/>
          <a:p>
            <a:pPr marL="0" indent="0">
              <a:buNone/>
            </a:pPr>
            <a:r>
              <a:rPr lang="en-US" sz="1100" b="1" kern="0" spc="200" dirty="0">
                <a:solidFill>
                  <a:srgbClr val="0F766E"/>
                </a:solidFill>
              </a:rPr>
              <a:t>IN PLAIN WORDS</a:t>
            </a:r>
            <a:endParaRPr lang="en-US" sz="1100" dirty="0"/>
          </a:p>
        </p:txBody>
      </p:sp>
      <p:sp>
        <p:nvSpPr>
          <p:cNvPr id="30" name="Text 27"/>
          <p:cNvSpPr txBox="1"/>
          <p:nvPr/>
        </p:nvSpPr>
        <p:spPr>
          <a:xfrm>
            <a:off x="777240" y="5861304"/>
            <a:ext cx="10607040" cy="338328"/>
          </a:xfrm>
          <a:prstGeom prst="rect">
            <a:avLst/>
          </a:prstGeom>
          <a:noFill/>
          <a:ln/>
        </p:spPr>
        <p:txBody>
          <a:bodyPr wrap="square" lIns="0" tIns="0" rIns="0" bIns="0" rtlCol="0" anchor="t"/>
          <a:lstStyle/>
          <a:p>
            <a:pPr marL="0" indent="0">
              <a:buNone/>
            </a:pPr>
            <a:r>
              <a:rPr lang="en-US" sz="1500" dirty="0">
                <a:solidFill>
                  <a:schemeClr val="tx1"/>
                </a:solidFill>
              </a:rPr>
              <a:t>The safest data is data you never collect. For what the app does keep, the code, not just a policy, decides who can read it.</a:t>
            </a:r>
            <a:endParaRPr lang="en-US" sz="1500" dirty="0"/>
          </a:p>
        </p:txBody>
      </p:sp>
      <p:sp>
        <p:nvSpPr>
          <p:cNvPr id="3" name="Slide Number Placeholder 0"/>
          <p:cNvSpPr>
            <a:spLocks noGrp="1"/>
          </p:cNvSpPr>
          <p:nvPr>
            <p:ph type="sldNum" sz="quarter" idx="4294967295"/>
          </p:nvPr>
        </p:nvSpPr>
        <p:spPr>
          <a:xfrm>
            <a:off x="11155680" y="647395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400" b="1" dirty="0">
                <a:solidFill>
                  <a:schemeClr val="tx1"/>
                </a:solidFill>
              </a:rPr>
              <a:t>Where it stands and what comes next</a:t>
            </a:r>
            <a:endParaRPr lang="en-US" sz="3400" dirty="0"/>
          </a:p>
        </p:txBody>
      </p:sp>
      <p:sp>
        <p:nvSpPr>
          <p:cNvPr id="4" name="Shape 1"/>
          <p:cNvSpPr/>
          <p:nvPr/>
        </p:nvSpPr>
        <p:spPr>
          <a:xfrm>
            <a:off x="594360" y="1600200"/>
            <a:ext cx="640080" cy="640080"/>
          </a:xfrm>
          <a:prstGeom prst="ellipse">
            <a:avLst/>
          </a:prstGeom>
          <a:solidFill>
            <a:srgbClr val="0F766E"/>
          </a:solidFill>
          <a:ln w="12700">
            <a:solidFill>
              <a:srgbClr val="0F766E"/>
            </a:solidFill>
            <a:prstDash val="solid"/>
          </a:ln>
        </p:spPr>
        <p:txBody>
          <a:bodyPr/>
          <a:lstStyle/>
          <a:p>
            <a:endParaRPr lang="en-US"/>
          </a:p>
        </p:txBody>
      </p:sp>
      <p:sp>
        <p:nvSpPr>
          <p:cNvPr id="5" name="Shape 2"/>
          <p:cNvSpPr/>
          <p:nvPr/>
        </p:nvSpPr>
        <p:spPr>
          <a:xfrm>
            <a:off x="1280160" y="1920240"/>
            <a:ext cx="2103120" cy="0"/>
          </a:xfrm>
          <a:prstGeom prst="line">
            <a:avLst/>
          </a:prstGeom>
          <a:noFill/>
          <a:ln w="25400">
            <a:solidFill>
              <a:srgbClr val="CFC9B8"/>
            </a:solidFill>
            <a:prstDash val="dash"/>
          </a:ln>
        </p:spPr>
        <p:txBody>
          <a:bodyPr/>
          <a:lstStyle/>
          <a:p>
            <a:endParaRPr lang="en-US"/>
          </a:p>
        </p:txBody>
      </p:sp>
      <p:sp>
        <p:nvSpPr>
          <p:cNvPr id="6" name="Text 3"/>
          <p:cNvSpPr txBox="1"/>
          <p:nvPr/>
        </p:nvSpPr>
        <p:spPr>
          <a:xfrm>
            <a:off x="548640" y="2423160"/>
            <a:ext cx="2651760" cy="365760"/>
          </a:xfrm>
          <a:prstGeom prst="rect">
            <a:avLst/>
          </a:prstGeom>
          <a:noFill/>
          <a:ln/>
        </p:spPr>
        <p:txBody>
          <a:bodyPr wrap="square" lIns="0" tIns="0" rIns="0" bIns="0" rtlCol="0" anchor="ctr"/>
          <a:lstStyle/>
          <a:p>
            <a:pPr marL="0" indent="0">
              <a:buNone/>
            </a:pPr>
            <a:r>
              <a:rPr lang="en-US" sz="2000" b="1" dirty="0">
                <a:solidFill>
                  <a:schemeClr val="tx1"/>
                </a:solidFill>
              </a:rPr>
              <a:t>Now</a:t>
            </a:r>
            <a:endParaRPr lang="en-US" sz="2000" dirty="0"/>
          </a:p>
        </p:txBody>
      </p:sp>
      <p:sp>
        <p:nvSpPr>
          <p:cNvPr id="7" name="Text 4"/>
          <p:cNvSpPr txBox="1"/>
          <p:nvPr/>
        </p:nvSpPr>
        <p:spPr>
          <a:xfrm>
            <a:off x="548640" y="2834640"/>
            <a:ext cx="2560320" cy="1097280"/>
          </a:xfrm>
          <a:prstGeom prst="rect">
            <a:avLst/>
          </a:prstGeom>
          <a:noFill/>
          <a:ln/>
        </p:spPr>
        <p:txBody>
          <a:bodyPr wrap="square" lIns="0" tIns="0" rIns="0" bIns="0" rtlCol="0" anchor="t"/>
          <a:lstStyle/>
          <a:p>
            <a:pPr marL="0" indent="0">
              <a:buNone/>
            </a:pPr>
            <a:r>
              <a:rPr lang="en-US" sz="1500" dirty="0">
                <a:solidFill>
                  <a:srgbClr val="4A5A66"/>
                </a:solidFill>
              </a:rPr>
              <a:t>Live at overlaps.tech, no invites yet; mobile app in progress</a:t>
            </a:r>
            <a:endParaRPr lang="en-US" sz="1500" dirty="0"/>
          </a:p>
        </p:txBody>
      </p:sp>
      <p:sp>
        <p:nvSpPr>
          <p:cNvPr id="8" name="Shape 5"/>
          <p:cNvSpPr/>
          <p:nvPr/>
        </p:nvSpPr>
        <p:spPr>
          <a:xfrm>
            <a:off x="3429000" y="1600200"/>
            <a:ext cx="640080" cy="640080"/>
          </a:xfrm>
          <a:prstGeom prst="ellipse">
            <a:avLst/>
          </a:prstGeom>
          <a:solidFill>
            <a:srgbClr val="B7791F"/>
          </a:solidFill>
          <a:ln w="12700">
            <a:solidFill>
              <a:srgbClr val="B7791F"/>
            </a:solidFill>
            <a:prstDash val="solid"/>
          </a:ln>
        </p:spPr>
        <p:txBody>
          <a:bodyPr/>
          <a:lstStyle/>
          <a:p>
            <a:endParaRPr lang="en-US"/>
          </a:p>
        </p:txBody>
      </p:sp>
      <p:sp>
        <p:nvSpPr>
          <p:cNvPr id="9" name="Shape 6"/>
          <p:cNvSpPr/>
          <p:nvPr/>
        </p:nvSpPr>
        <p:spPr>
          <a:xfrm>
            <a:off x="4114800" y="1920240"/>
            <a:ext cx="2103120" cy="0"/>
          </a:xfrm>
          <a:prstGeom prst="line">
            <a:avLst/>
          </a:prstGeom>
          <a:noFill/>
          <a:ln w="25400">
            <a:solidFill>
              <a:srgbClr val="CFC9B8"/>
            </a:solidFill>
            <a:prstDash val="dash"/>
          </a:ln>
        </p:spPr>
        <p:txBody>
          <a:bodyPr/>
          <a:lstStyle/>
          <a:p>
            <a:endParaRPr lang="en-US"/>
          </a:p>
        </p:txBody>
      </p:sp>
      <p:sp>
        <p:nvSpPr>
          <p:cNvPr id="10" name="Text 7"/>
          <p:cNvSpPr txBox="1"/>
          <p:nvPr/>
        </p:nvSpPr>
        <p:spPr>
          <a:xfrm>
            <a:off x="3383280" y="2423160"/>
            <a:ext cx="2651760" cy="365760"/>
          </a:xfrm>
          <a:prstGeom prst="rect">
            <a:avLst/>
          </a:prstGeom>
          <a:noFill/>
          <a:ln/>
        </p:spPr>
        <p:txBody>
          <a:bodyPr wrap="square" lIns="0" tIns="0" rIns="0" bIns="0" rtlCol="0" anchor="ctr"/>
          <a:lstStyle/>
          <a:p>
            <a:pPr marL="0" indent="0">
              <a:buNone/>
            </a:pPr>
            <a:r>
              <a:rPr lang="en-US" sz="2000" b="1" dirty="0">
                <a:solidFill>
                  <a:schemeClr val="tx1"/>
                </a:solidFill>
              </a:rPr>
              <a:t>Before launch</a:t>
            </a:r>
            <a:endParaRPr lang="en-US" sz="2000" dirty="0"/>
          </a:p>
        </p:txBody>
      </p:sp>
      <p:sp>
        <p:nvSpPr>
          <p:cNvPr id="11" name="Text 8"/>
          <p:cNvSpPr txBox="1"/>
          <p:nvPr/>
        </p:nvSpPr>
        <p:spPr>
          <a:xfrm>
            <a:off x="3383280" y="2834640"/>
            <a:ext cx="2560320" cy="1097280"/>
          </a:xfrm>
          <a:prstGeom prst="rect">
            <a:avLst/>
          </a:prstGeom>
          <a:noFill/>
          <a:ln/>
        </p:spPr>
        <p:txBody>
          <a:bodyPr wrap="square" lIns="0" tIns="0" rIns="0" bIns="0" rtlCol="0" anchor="t"/>
          <a:lstStyle/>
          <a:p>
            <a:pPr marL="0" indent="0">
              <a:buNone/>
            </a:pPr>
            <a:r>
              <a:rPr lang="en-US" sz="1500" dirty="0">
                <a:solidFill>
                  <a:srgbClr val="4A5A66"/>
                </a:solidFill>
              </a:rPr>
              <a:t>A written moderator on-call rota; a 300+ waitlist or a pilot of 50 or fewer</a:t>
            </a:r>
            <a:endParaRPr lang="en-US" sz="1500" dirty="0"/>
          </a:p>
        </p:txBody>
      </p:sp>
      <p:sp>
        <p:nvSpPr>
          <p:cNvPr id="12" name="Shape 9"/>
          <p:cNvSpPr/>
          <p:nvPr/>
        </p:nvSpPr>
        <p:spPr>
          <a:xfrm>
            <a:off x="6263640" y="1600200"/>
            <a:ext cx="640080" cy="640080"/>
          </a:xfrm>
          <a:prstGeom prst="ellipse">
            <a:avLst/>
          </a:prstGeom>
          <a:solidFill>
            <a:srgbClr val="5B3FA6"/>
          </a:solidFill>
          <a:ln w="12700">
            <a:solidFill>
              <a:srgbClr val="5B3FA6"/>
            </a:solidFill>
            <a:prstDash val="solid"/>
          </a:ln>
        </p:spPr>
        <p:txBody>
          <a:bodyPr/>
          <a:lstStyle/>
          <a:p>
            <a:endParaRPr lang="en-US"/>
          </a:p>
        </p:txBody>
      </p:sp>
      <p:sp>
        <p:nvSpPr>
          <p:cNvPr id="13" name="Shape 10"/>
          <p:cNvSpPr/>
          <p:nvPr/>
        </p:nvSpPr>
        <p:spPr>
          <a:xfrm>
            <a:off x="6949440" y="1920240"/>
            <a:ext cx="2103120" cy="0"/>
          </a:xfrm>
          <a:prstGeom prst="line">
            <a:avLst/>
          </a:prstGeom>
          <a:noFill/>
          <a:ln w="25400">
            <a:solidFill>
              <a:srgbClr val="CFC9B8"/>
            </a:solidFill>
            <a:prstDash val="dash"/>
          </a:ln>
        </p:spPr>
        <p:txBody>
          <a:bodyPr/>
          <a:lstStyle/>
          <a:p>
            <a:endParaRPr lang="en-US"/>
          </a:p>
        </p:txBody>
      </p:sp>
      <p:sp>
        <p:nvSpPr>
          <p:cNvPr id="14" name="Text 11"/>
          <p:cNvSpPr txBox="1"/>
          <p:nvPr/>
        </p:nvSpPr>
        <p:spPr>
          <a:xfrm>
            <a:off x="6217920" y="2423160"/>
            <a:ext cx="2651760" cy="365760"/>
          </a:xfrm>
          <a:prstGeom prst="rect">
            <a:avLst/>
          </a:prstGeom>
          <a:noFill/>
          <a:ln/>
        </p:spPr>
        <p:txBody>
          <a:bodyPr wrap="square" lIns="0" tIns="0" rIns="0" bIns="0" rtlCol="0" anchor="ctr"/>
          <a:lstStyle/>
          <a:p>
            <a:pPr marL="0" indent="0">
              <a:buNone/>
            </a:pPr>
            <a:r>
              <a:rPr lang="en-US" sz="2000" b="1" dirty="0">
                <a:solidFill>
                  <a:schemeClr val="tx1"/>
                </a:solidFill>
              </a:rPr>
              <a:t>First pilot</a:t>
            </a:r>
            <a:endParaRPr lang="en-US" sz="2000" dirty="0"/>
          </a:p>
        </p:txBody>
      </p:sp>
      <p:sp>
        <p:nvSpPr>
          <p:cNvPr id="15" name="Text 12"/>
          <p:cNvSpPr txBox="1"/>
          <p:nvPr/>
        </p:nvSpPr>
        <p:spPr>
          <a:xfrm>
            <a:off x="6217920" y="2834640"/>
            <a:ext cx="2560320" cy="1097280"/>
          </a:xfrm>
          <a:prstGeom prst="rect">
            <a:avLst/>
          </a:prstGeom>
          <a:noFill/>
          <a:ln/>
        </p:spPr>
        <p:txBody>
          <a:bodyPr wrap="square" lIns="0" tIns="0" rIns="0" bIns="0" rtlCol="0" anchor="t"/>
          <a:lstStyle/>
          <a:p>
            <a:pPr marL="0" indent="0">
              <a:buNone/>
            </a:pPr>
            <a:r>
              <a:rPr lang="en-US" sz="1500" dirty="0">
                <a:solidFill>
                  <a:srgbClr val="4A5A66"/>
                </a:solidFill>
              </a:rPr>
              <a:t>Invite-only, at most 50 people, one campus</a:t>
            </a:r>
            <a:endParaRPr lang="en-US" sz="1500" dirty="0"/>
          </a:p>
        </p:txBody>
      </p:sp>
      <p:sp>
        <p:nvSpPr>
          <p:cNvPr id="16" name="Shape 13"/>
          <p:cNvSpPr/>
          <p:nvPr/>
        </p:nvSpPr>
        <p:spPr>
          <a:xfrm>
            <a:off x="9098280" y="1600200"/>
            <a:ext cx="640080" cy="640080"/>
          </a:xfrm>
          <a:prstGeom prst="ellipse">
            <a:avLst/>
          </a:prstGeom>
          <a:solidFill>
            <a:srgbClr val="2E9E6B"/>
          </a:solidFill>
          <a:ln w="12700">
            <a:solidFill>
              <a:srgbClr val="2E9E6B"/>
            </a:solidFill>
            <a:prstDash val="solid"/>
          </a:ln>
        </p:spPr>
        <p:txBody>
          <a:bodyPr/>
          <a:lstStyle/>
          <a:p>
            <a:endParaRPr lang="en-US"/>
          </a:p>
        </p:txBody>
      </p:sp>
      <p:sp>
        <p:nvSpPr>
          <p:cNvPr id="17" name="Text 14"/>
          <p:cNvSpPr txBox="1"/>
          <p:nvPr/>
        </p:nvSpPr>
        <p:spPr>
          <a:xfrm>
            <a:off x="9052560" y="2423160"/>
            <a:ext cx="2651760" cy="365760"/>
          </a:xfrm>
          <a:prstGeom prst="rect">
            <a:avLst/>
          </a:prstGeom>
          <a:noFill/>
          <a:ln/>
        </p:spPr>
        <p:txBody>
          <a:bodyPr wrap="square" lIns="0" tIns="0" rIns="0" bIns="0" rtlCol="0" anchor="ctr"/>
          <a:lstStyle/>
          <a:p>
            <a:pPr marL="0" indent="0">
              <a:buNone/>
            </a:pPr>
            <a:r>
              <a:rPr lang="en-US" sz="2000" b="1" dirty="0">
                <a:solidFill>
                  <a:schemeClr val="tx1"/>
                </a:solidFill>
              </a:rPr>
              <a:t>Later</a:t>
            </a:r>
            <a:endParaRPr lang="en-US" sz="2000" dirty="0"/>
          </a:p>
        </p:txBody>
      </p:sp>
      <p:sp>
        <p:nvSpPr>
          <p:cNvPr id="18" name="Text 15"/>
          <p:cNvSpPr txBox="1"/>
          <p:nvPr/>
        </p:nvSpPr>
        <p:spPr>
          <a:xfrm>
            <a:off x="9052560" y="2834640"/>
            <a:ext cx="2560320" cy="1097280"/>
          </a:xfrm>
          <a:prstGeom prst="rect">
            <a:avLst/>
          </a:prstGeom>
          <a:noFill/>
          <a:ln/>
        </p:spPr>
        <p:txBody>
          <a:bodyPr wrap="square" lIns="0" tIns="0" rIns="0" bIns="0" rtlCol="0" anchor="t"/>
          <a:lstStyle/>
          <a:p>
            <a:pPr marL="0" indent="0">
              <a:buNone/>
            </a:pPr>
            <a:r>
              <a:rPr lang="en-US" sz="1500" dirty="0">
                <a:solidFill>
                  <a:srgbClr val="4A5A66"/>
                </a:solidFill>
              </a:rPr>
              <a:t>More campuses, Android and iPhone apps, chat photos</a:t>
            </a:r>
            <a:endParaRPr lang="en-US" sz="1500" dirty="0"/>
          </a:p>
        </p:txBody>
      </p:sp>
      <p:sp>
        <p:nvSpPr>
          <p:cNvPr id="19" name="Shape 16"/>
          <p:cNvSpPr/>
          <p:nvPr/>
        </p:nvSpPr>
        <p:spPr>
          <a:xfrm>
            <a:off x="548640" y="4114800"/>
            <a:ext cx="6766560" cy="2194560"/>
          </a:xfrm>
          <a:prstGeom prst="roundRect">
            <a:avLst>
              <a:gd name="adj" fmla="val 5000"/>
            </a:avLst>
          </a:prstGeom>
          <a:solidFill>
            <a:srgbClr val="FFFFFF"/>
          </a:solidFill>
          <a:ln w="12700">
            <a:solidFill>
              <a:srgbClr val="E4E0D6"/>
            </a:solidFill>
            <a:prstDash val="solid"/>
          </a:ln>
        </p:spPr>
        <p:txBody>
          <a:bodyPr/>
          <a:lstStyle/>
          <a:p>
            <a:endParaRPr lang="en-US"/>
          </a:p>
        </p:txBody>
      </p:sp>
      <p:sp>
        <p:nvSpPr>
          <p:cNvPr id="20" name="Text 17"/>
          <p:cNvSpPr txBox="1"/>
          <p:nvPr/>
        </p:nvSpPr>
        <p:spPr>
          <a:xfrm>
            <a:off x="777240" y="4224528"/>
            <a:ext cx="6309360" cy="365760"/>
          </a:xfrm>
          <a:prstGeom prst="rect">
            <a:avLst/>
          </a:prstGeom>
          <a:noFill/>
          <a:ln/>
        </p:spPr>
        <p:txBody>
          <a:bodyPr wrap="square" lIns="0" tIns="0" rIns="0" bIns="0" rtlCol="0" anchor="ctr"/>
          <a:lstStyle/>
          <a:p>
            <a:pPr marL="0" indent="0">
              <a:buNone/>
            </a:pPr>
            <a:r>
              <a:rPr lang="en-US" sz="1700" b="1" dirty="0">
                <a:solidFill>
                  <a:schemeClr val="tx1"/>
                </a:solidFill>
              </a:rPr>
              <a:t>Still open (three are accepted risks)</a:t>
            </a:r>
            <a:endParaRPr lang="en-US" sz="1700" dirty="0"/>
          </a:p>
        </p:txBody>
      </p:sp>
      <p:sp>
        <p:nvSpPr>
          <p:cNvPr id="21" name="Text 18"/>
          <p:cNvSpPr txBox="1"/>
          <p:nvPr/>
        </p:nvSpPr>
        <p:spPr>
          <a:xfrm>
            <a:off x="777240" y="4663440"/>
            <a:ext cx="6355080" cy="1554480"/>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chemeClr val="tx1"/>
                </a:solidFill>
              </a:rPr>
              <a:t>A lawyer's review of the Terms and the Privacy Policy</a:t>
            </a:r>
            <a:endParaRPr lang="en-US" sz="1500" dirty="0"/>
          </a:p>
          <a:p>
            <a:pPr marL="342900" indent="-342900">
              <a:spcAft>
                <a:spcPts val="400"/>
              </a:spcAft>
              <a:buSzPct val="100000"/>
              <a:buChar char="•"/>
            </a:pPr>
            <a:r>
              <a:rPr lang="en-US" sz="1500" dirty="0">
                <a:solidFill>
                  <a:schemeClr val="tx1"/>
                </a:solidFill>
              </a:rPr>
              <a:t>A named privacy officer and the official filings</a:t>
            </a:r>
            <a:endParaRPr lang="en-US" sz="1500" dirty="0"/>
          </a:p>
          <a:p>
            <a:pPr marL="342900" indent="-342900">
              <a:spcAft>
                <a:spcPts val="400"/>
              </a:spcAft>
              <a:buSzPct val="100000"/>
              <a:buChar char="•"/>
            </a:pPr>
            <a:r>
              <a:rPr lang="en-US" sz="1500" dirty="0">
                <a:solidFill>
                  <a:schemeClr val="tx1"/>
                </a:solidFill>
              </a:rPr>
              <a:t>Today the age check is a birth year plus a declaration; an agency check is planned</a:t>
            </a:r>
            <a:endParaRPr lang="en-US" sz="1500" dirty="0"/>
          </a:p>
          <a:p>
            <a:pPr marL="342900" indent="-342900">
              <a:buSzPct val="100000"/>
              <a:buChar char="•"/>
            </a:pPr>
            <a:r>
              <a:rPr lang="en-US" sz="1500" dirty="0">
                <a:solidFill>
                  <a:schemeClr val="tx1"/>
                </a:solidFill>
              </a:rPr>
              <a:t>Two moderators signed up; written on-call rota still to do</a:t>
            </a:r>
            <a:endParaRPr lang="en-US" sz="1500" dirty="0"/>
          </a:p>
        </p:txBody>
      </p:sp>
      <p:sp>
        <p:nvSpPr>
          <p:cNvPr id="22" name="Shape 19"/>
          <p:cNvSpPr/>
          <p:nvPr/>
        </p:nvSpPr>
        <p:spPr>
          <a:xfrm>
            <a:off x="7589520" y="4114800"/>
            <a:ext cx="4023360" cy="2194560"/>
          </a:xfrm>
          <a:prstGeom prst="roundRect">
            <a:avLst>
              <a:gd name="adj" fmla="val 5000"/>
            </a:avLst>
          </a:prstGeom>
          <a:solidFill>
            <a:srgbClr val="E6F3F1"/>
          </a:solidFill>
          <a:ln w="12700">
            <a:solidFill>
              <a:srgbClr val="E6F3F1"/>
            </a:solidFill>
            <a:prstDash val="solid"/>
          </a:ln>
        </p:spPr>
        <p:txBody>
          <a:bodyPr/>
          <a:lstStyle/>
          <a:p>
            <a:endParaRPr lang="en-US"/>
          </a:p>
        </p:txBody>
      </p:sp>
      <p:sp>
        <p:nvSpPr>
          <p:cNvPr id="23" name="Text 20"/>
          <p:cNvSpPr txBox="1"/>
          <p:nvPr/>
        </p:nvSpPr>
        <p:spPr>
          <a:xfrm>
            <a:off x="7818120" y="4242816"/>
            <a:ext cx="3566160" cy="256032"/>
          </a:xfrm>
          <a:prstGeom prst="rect">
            <a:avLst/>
          </a:prstGeom>
          <a:noFill/>
          <a:ln/>
        </p:spPr>
        <p:txBody>
          <a:bodyPr wrap="square" lIns="0" tIns="0" rIns="0" bIns="0" rtlCol="0" anchor="ctr"/>
          <a:lstStyle/>
          <a:p>
            <a:pPr marL="0" indent="0">
              <a:buNone/>
            </a:pPr>
            <a:r>
              <a:rPr lang="en-US" sz="1100" b="1" kern="0" spc="200" dirty="0">
                <a:solidFill>
                  <a:srgbClr val="0F766E"/>
                </a:solidFill>
              </a:rPr>
              <a:t>IN PLAIN WORDS</a:t>
            </a:r>
            <a:endParaRPr lang="en-US" sz="1100" dirty="0"/>
          </a:p>
        </p:txBody>
      </p:sp>
      <p:sp>
        <p:nvSpPr>
          <p:cNvPr id="24" name="Text 21"/>
          <p:cNvSpPr txBox="1"/>
          <p:nvPr/>
        </p:nvSpPr>
        <p:spPr>
          <a:xfrm>
            <a:off x="7818120" y="4535424"/>
            <a:ext cx="3566160" cy="1664208"/>
          </a:xfrm>
          <a:prstGeom prst="rect">
            <a:avLst/>
          </a:prstGeom>
          <a:noFill/>
          <a:ln/>
        </p:spPr>
        <p:txBody>
          <a:bodyPr wrap="square" lIns="0" tIns="0" rIns="0" bIns="0" rtlCol="0" anchor="t"/>
          <a:lstStyle/>
          <a:p>
            <a:pPr marL="0" indent="0">
              <a:buNone/>
            </a:pPr>
            <a:r>
              <a:rPr lang="en-US" sz="1500" dirty="0">
                <a:solidFill>
                  <a:schemeClr val="tx1"/>
                </a:solidFill>
              </a:rPr>
              <a:t>Overlap is working and live, but invite-only and not yet a public service. The next steps are about trust and safety, not new features.</a:t>
            </a:r>
            <a:endParaRPr lang="en-US" sz="1500" dirty="0"/>
          </a:p>
        </p:txBody>
      </p:sp>
      <p:sp>
        <p:nvSpPr>
          <p:cNvPr id="25" name="Slide Number Placeholder 0"/>
          <p:cNvSpPr>
            <a:spLocks noGrp="1"/>
          </p:cNvSpPr>
          <p:nvPr>
            <p:ph type="sldNum" sz="quarter" idx="4294967295"/>
          </p:nvPr>
        </p:nvSpPr>
        <p:spPr>
          <a:xfrm>
            <a:off x="11155680" y="647395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400" b="1" dirty="0">
                <a:solidFill>
                  <a:srgbClr val="FFFFFF"/>
                </a:solidFill>
              </a:rPr>
              <a:t>What I learned building it</a:t>
            </a:r>
            <a:endParaRPr lang="en-US" sz="3400" dirty="0"/>
          </a:p>
        </p:txBody>
      </p:sp>
      <p:sp>
        <p:nvSpPr>
          <p:cNvPr id="4" name="Shape 1"/>
          <p:cNvSpPr/>
          <p:nvPr/>
        </p:nvSpPr>
        <p:spPr>
          <a:xfrm>
            <a:off x="548640" y="1463040"/>
            <a:ext cx="3566160" cy="3840480"/>
          </a:xfrm>
          <a:prstGeom prst="roundRect">
            <a:avLst>
              <a:gd name="adj" fmla="val 3590"/>
            </a:avLst>
          </a:prstGeom>
          <a:solidFill>
            <a:srgbClr val="2A3640"/>
          </a:solidFill>
          <a:ln w="12700">
            <a:solidFill>
              <a:srgbClr val="2A3640"/>
            </a:solidFill>
            <a:prstDash val="solid"/>
          </a:ln>
        </p:spPr>
        <p:txBody>
          <a:bodyPr/>
          <a:lstStyle/>
          <a:p>
            <a:endParaRPr lang="en-US"/>
          </a:p>
        </p:txBody>
      </p:sp>
      <p:sp>
        <p:nvSpPr>
          <p:cNvPr id="5" name="Shape 2"/>
          <p:cNvSpPr/>
          <p:nvPr/>
        </p:nvSpPr>
        <p:spPr>
          <a:xfrm>
            <a:off x="822960" y="1737360"/>
            <a:ext cx="640080" cy="640080"/>
          </a:xfrm>
          <a:prstGeom prst="ellipse">
            <a:avLst/>
          </a:prstGeom>
          <a:solidFill>
            <a:srgbClr val="0F766E"/>
          </a:solidFill>
          <a:ln w="12700">
            <a:solidFill>
              <a:srgbClr val="0F766E"/>
            </a:solidFill>
            <a:prstDash val="solid"/>
          </a:ln>
        </p:spPr>
        <p:txBody>
          <a:bodyPr/>
          <a:lstStyle/>
          <a:p>
            <a:endParaRPr lang="en-US"/>
          </a:p>
        </p:txBody>
      </p:sp>
      <p:sp>
        <p:nvSpPr>
          <p:cNvPr id="6" name="Text 3"/>
          <p:cNvSpPr txBox="1"/>
          <p:nvPr/>
        </p:nvSpPr>
        <p:spPr>
          <a:xfrm>
            <a:off x="822960" y="1737360"/>
            <a:ext cx="640080" cy="640080"/>
          </a:xfrm>
          <a:prstGeom prst="rect">
            <a:avLst/>
          </a:prstGeom>
          <a:noFill/>
          <a:ln/>
        </p:spPr>
        <p:txBody>
          <a:bodyPr wrap="square" lIns="0" tIns="0" rIns="0" bIns="0" rtlCol="0" anchor="ctr"/>
          <a:lstStyle/>
          <a:p>
            <a:pPr marL="0" indent="0" algn="ctr">
              <a:buNone/>
            </a:pPr>
            <a:r>
              <a:rPr lang="en-US" sz="2600" b="1" dirty="0">
                <a:solidFill>
                  <a:srgbClr val="12202B"/>
                </a:solidFill>
                <a:latin typeface="Cambria" pitchFamily="34" charset="0"/>
                <a:ea typeface="Cambria" pitchFamily="34" charset="-122"/>
                <a:cs typeface="Cambria" pitchFamily="34" charset="-120"/>
              </a:rPr>
              <a:t>1</a:t>
            </a:r>
            <a:endParaRPr lang="en-US" sz="2600" dirty="0"/>
          </a:p>
        </p:txBody>
      </p:sp>
      <p:sp>
        <p:nvSpPr>
          <p:cNvPr id="7" name="Text 4"/>
          <p:cNvSpPr txBox="1"/>
          <p:nvPr/>
        </p:nvSpPr>
        <p:spPr>
          <a:xfrm>
            <a:off x="822960" y="2560320"/>
            <a:ext cx="3017520" cy="868680"/>
          </a:xfrm>
          <a:prstGeom prst="rect">
            <a:avLst/>
          </a:prstGeom>
          <a:noFill/>
          <a:ln/>
        </p:spPr>
        <p:txBody>
          <a:bodyPr wrap="square" lIns="0" tIns="0" rIns="0" bIns="0" rtlCol="0" anchor="t"/>
          <a:lstStyle/>
          <a:p>
            <a:pPr marL="0" indent="0">
              <a:buNone/>
            </a:pPr>
            <a:r>
              <a:rPr lang="en-US" sz="2100" b="1" dirty="0">
                <a:solidFill>
                  <a:srgbClr val="FFFFFF"/>
                </a:solidFill>
              </a:rPr>
              <a:t>Small pure functions</a:t>
            </a:r>
            <a:endParaRPr lang="en-US" sz="2100" dirty="0"/>
          </a:p>
        </p:txBody>
      </p:sp>
      <p:sp>
        <p:nvSpPr>
          <p:cNvPr id="8" name="Text 5"/>
          <p:cNvSpPr txBox="1"/>
          <p:nvPr/>
        </p:nvSpPr>
        <p:spPr>
          <a:xfrm>
            <a:off x="822960" y="3474720"/>
            <a:ext cx="3017520" cy="2103120"/>
          </a:xfrm>
          <a:prstGeom prst="rect">
            <a:avLst/>
          </a:prstGeom>
          <a:noFill/>
          <a:ln/>
        </p:spPr>
        <p:txBody>
          <a:bodyPr wrap="square" lIns="0" tIns="0" rIns="0" bIns="0" rtlCol="0" anchor="t"/>
          <a:lstStyle/>
          <a:p>
            <a:pPr marL="0" indent="0">
              <a:buNone/>
            </a:pPr>
            <a:r>
              <a:rPr lang="en-US" sz="1700" dirty="0">
                <a:solidFill>
                  <a:srgbClr val="B9CBD3"/>
                </a:solidFill>
              </a:rPr>
              <a:t>Keep the scoring logic free of the database. Property tests (for example, score(a,b) = score(b,a)) caught a real bug with duplicate items.</a:t>
            </a:r>
            <a:endParaRPr lang="en-US" sz="1700" dirty="0"/>
          </a:p>
        </p:txBody>
      </p:sp>
      <p:sp>
        <p:nvSpPr>
          <p:cNvPr id="9" name="Shape 6"/>
          <p:cNvSpPr/>
          <p:nvPr/>
        </p:nvSpPr>
        <p:spPr>
          <a:xfrm>
            <a:off x="4297680" y="1463040"/>
            <a:ext cx="3566160" cy="3840480"/>
          </a:xfrm>
          <a:prstGeom prst="roundRect">
            <a:avLst>
              <a:gd name="adj" fmla="val 3590"/>
            </a:avLst>
          </a:prstGeom>
          <a:solidFill>
            <a:srgbClr val="2A3640"/>
          </a:solidFill>
          <a:ln w="12700">
            <a:solidFill>
              <a:srgbClr val="2A3640"/>
            </a:solidFill>
            <a:prstDash val="solid"/>
          </a:ln>
        </p:spPr>
        <p:txBody>
          <a:bodyPr/>
          <a:lstStyle/>
          <a:p>
            <a:endParaRPr lang="en-US"/>
          </a:p>
        </p:txBody>
      </p:sp>
      <p:sp>
        <p:nvSpPr>
          <p:cNvPr id="10" name="Shape 7"/>
          <p:cNvSpPr/>
          <p:nvPr/>
        </p:nvSpPr>
        <p:spPr>
          <a:xfrm>
            <a:off x="4572000" y="1737360"/>
            <a:ext cx="640080" cy="640080"/>
          </a:xfrm>
          <a:prstGeom prst="ellipse">
            <a:avLst/>
          </a:prstGeom>
          <a:solidFill>
            <a:srgbClr val="F5B544"/>
          </a:solidFill>
          <a:ln w="12700">
            <a:solidFill>
              <a:srgbClr val="F5B544"/>
            </a:solidFill>
            <a:prstDash val="solid"/>
          </a:ln>
        </p:spPr>
        <p:txBody>
          <a:bodyPr/>
          <a:lstStyle/>
          <a:p>
            <a:endParaRPr lang="en-US"/>
          </a:p>
        </p:txBody>
      </p:sp>
      <p:sp>
        <p:nvSpPr>
          <p:cNvPr id="11" name="Text 8"/>
          <p:cNvSpPr txBox="1"/>
          <p:nvPr/>
        </p:nvSpPr>
        <p:spPr>
          <a:xfrm>
            <a:off x="4572000" y="1737360"/>
            <a:ext cx="640080" cy="640080"/>
          </a:xfrm>
          <a:prstGeom prst="rect">
            <a:avLst/>
          </a:prstGeom>
          <a:noFill/>
          <a:ln/>
        </p:spPr>
        <p:txBody>
          <a:bodyPr wrap="square" lIns="0" tIns="0" rIns="0" bIns="0" rtlCol="0" anchor="ctr"/>
          <a:lstStyle/>
          <a:p>
            <a:pPr marL="0" indent="0" algn="ctr">
              <a:buNone/>
            </a:pPr>
            <a:r>
              <a:rPr lang="en-US" sz="2600" b="1" dirty="0">
                <a:solidFill>
                  <a:srgbClr val="12202B"/>
                </a:solidFill>
                <a:latin typeface="Cambria" pitchFamily="34" charset="0"/>
                <a:ea typeface="Cambria" pitchFamily="34" charset="-122"/>
                <a:cs typeface="Cambria" pitchFamily="34" charset="-120"/>
              </a:rPr>
              <a:t>2</a:t>
            </a:r>
            <a:endParaRPr lang="en-US" sz="2600" dirty="0"/>
          </a:p>
        </p:txBody>
      </p:sp>
      <p:sp>
        <p:nvSpPr>
          <p:cNvPr id="12" name="Text 9"/>
          <p:cNvSpPr txBox="1"/>
          <p:nvPr/>
        </p:nvSpPr>
        <p:spPr>
          <a:xfrm>
            <a:off x="4572000" y="2560320"/>
            <a:ext cx="3017520" cy="868680"/>
          </a:xfrm>
          <a:prstGeom prst="rect">
            <a:avLst/>
          </a:prstGeom>
          <a:noFill/>
          <a:ln/>
        </p:spPr>
        <p:txBody>
          <a:bodyPr wrap="square" lIns="0" tIns="0" rIns="0" bIns="0" rtlCol="0" anchor="t"/>
          <a:lstStyle/>
          <a:p>
            <a:pPr marL="0" indent="0">
              <a:buNone/>
            </a:pPr>
            <a:r>
              <a:rPr lang="en-US" sz="2100" b="1" dirty="0">
                <a:solidFill>
                  <a:srgbClr val="FFFFFF"/>
                </a:solidFill>
              </a:rPr>
              <a:t>Never select it, don't just hide it</a:t>
            </a:r>
            <a:endParaRPr lang="en-US" sz="2100" dirty="0"/>
          </a:p>
        </p:txBody>
      </p:sp>
      <p:sp>
        <p:nvSpPr>
          <p:cNvPr id="13" name="Text 10"/>
          <p:cNvSpPr txBox="1"/>
          <p:nvPr/>
        </p:nvSpPr>
        <p:spPr>
          <a:xfrm>
            <a:off x="4572000" y="3474720"/>
            <a:ext cx="3017520" cy="2103120"/>
          </a:xfrm>
          <a:prstGeom prst="rect">
            <a:avLst/>
          </a:prstGeom>
          <a:noFill/>
          <a:ln/>
        </p:spPr>
        <p:txBody>
          <a:bodyPr wrap="square" lIns="0" tIns="0" rIns="0" bIns="0" rtlCol="0" anchor="t"/>
          <a:lstStyle/>
          <a:p>
            <a:pPr marL="0" indent="0">
              <a:buNone/>
            </a:pPr>
            <a:r>
              <a:rPr lang="en-US" sz="1700" dirty="0">
                <a:solidFill>
                  <a:srgbClr val="B9CBD3"/>
                </a:solidFill>
              </a:rPr>
              <a:t>A field a role must not see should never be loaded for that role. Tests check the database query, not only the screen.</a:t>
            </a:r>
            <a:endParaRPr lang="en-US" sz="1700" dirty="0"/>
          </a:p>
        </p:txBody>
      </p:sp>
      <p:sp>
        <p:nvSpPr>
          <p:cNvPr id="14" name="Shape 11"/>
          <p:cNvSpPr/>
          <p:nvPr/>
        </p:nvSpPr>
        <p:spPr>
          <a:xfrm>
            <a:off x="8046720" y="1463040"/>
            <a:ext cx="3566160" cy="3840480"/>
          </a:xfrm>
          <a:prstGeom prst="roundRect">
            <a:avLst>
              <a:gd name="adj" fmla="val 3590"/>
            </a:avLst>
          </a:prstGeom>
          <a:solidFill>
            <a:srgbClr val="2A3640"/>
          </a:solidFill>
          <a:ln w="12700">
            <a:solidFill>
              <a:srgbClr val="2A3640"/>
            </a:solidFill>
            <a:prstDash val="solid"/>
          </a:ln>
        </p:spPr>
        <p:txBody>
          <a:bodyPr/>
          <a:lstStyle/>
          <a:p>
            <a:endParaRPr lang="en-US"/>
          </a:p>
        </p:txBody>
      </p:sp>
      <p:sp>
        <p:nvSpPr>
          <p:cNvPr id="15" name="Shape 12"/>
          <p:cNvSpPr/>
          <p:nvPr/>
        </p:nvSpPr>
        <p:spPr>
          <a:xfrm>
            <a:off x="8321040" y="1737360"/>
            <a:ext cx="640080" cy="640080"/>
          </a:xfrm>
          <a:prstGeom prst="ellipse">
            <a:avLst/>
          </a:prstGeom>
          <a:solidFill>
            <a:srgbClr val="5FD3C6"/>
          </a:solidFill>
          <a:ln w="12700">
            <a:solidFill>
              <a:srgbClr val="5FD3C6"/>
            </a:solidFill>
            <a:prstDash val="solid"/>
          </a:ln>
        </p:spPr>
        <p:txBody>
          <a:bodyPr/>
          <a:lstStyle/>
          <a:p>
            <a:endParaRPr lang="en-US"/>
          </a:p>
        </p:txBody>
      </p:sp>
      <p:sp>
        <p:nvSpPr>
          <p:cNvPr id="16" name="Text 13"/>
          <p:cNvSpPr txBox="1"/>
          <p:nvPr/>
        </p:nvSpPr>
        <p:spPr>
          <a:xfrm>
            <a:off x="8321040" y="1737360"/>
            <a:ext cx="640080" cy="640080"/>
          </a:xfrm>
          <a:prstGeom prst="rect">
            <a:avLst/>
          </a:prstGeom>
          <a:noFill/>
          <a:ln/>
        </p:spPr>
        <p:txBody>
          <a:bodyPr wrap="square" lIns="0" tIns="0" rIns="0" bIns="0" rtlCol="0" anchor="ctr"/>
          <a:lstStyle/>
          <a:p>
            <a:pPr marL="0" indent="0" algn="ctr">
              <a:buNone/>
            </a:pPr>
            <a:r>
              <a:rPr lang="en-US" sz="2600" b="1" dirty="0">
                <a:solidFill>
                  <a:srgbClr val="12202B"/>
                </a:solidFill>
                <a:latin typeface="Cambria" pitchFamily="34" charset="0"/>
                <a:ea typeface="Cambria" pitchFamily="34" charset="-122"/>
                <a:cs typeface="Cambria" pitchFamily="34" charset="-120"/>
              </a:rPr>
              <a:t>3</a:t>
            </a:r>
            <a:endParaRPr lang="en-US" sz="2600" dirty="0"/>
          </a:p>
        </p:txBody>
      </p:sp>
      <p:sp>
        <p:nvSpPr>
          <p:cNvPr id="17" name="Text 14"/>
          <p:cNvSpPr txBox="1"/>
          <p:nvPr/>
        </p:nvSpPr>
        <p:spPr>
          <a:xfrm>
            <a:off x="8321040" y="2560320"/>
            <a:ext cx="3017520" cy="868680"/>
          </a:xfrm>
          <a:prstGeom prst="rect">
            <a:avLst/>
          </a:prstGeom>
          <a:noFill/>
          <a:ln/>
        </p:spPr>
        <p:txBody>
          <a:bodyPr wrap="square" lIns="0" tIns="0" rIns="0" bIns="0" rtlCol="0" anchor="t"/>
          <a:lstStyle/>
          <a:p>
            <a:pPr marL="0" indent="0">
              <a:buNone/>
            </a:pPr>
            <a:r>
              <a:rPr lang="en-US" sz="2100" b="1" dirty="0">
                <a:solidFill>
                  <a:srgbClr val="FFFFFF"/>
                </a:solidFill>
              </a:rPr>
              <a:t>Test the real path, phone and desktop</a:t>
            </a:r>
            <a:endParaRPr lang="en-US" sz="2100" dirty="0"/>
          </a:p>
        </p:txBody>
      </p:sp>
      <p:sp>
        <p:nvSpPr>
          <p:cNvPr id="18" name="Text 15"/>
          <p:cNvSpPr txBox="1"/>
          <p:nvPr/>
        </p:nvSpPr>
        <p:spPr>
          <a:xfrm>
            <a:off x="8321040" y="3474720"/>
            <a:ext cx="3017520" cy="2103120"/>
          </a:xfrm>
          <a:prstGeom prst="rect">
            <a:avLst/>
          </a:prstGeom>
          <a:noFill/>
          <a:ln/>
        </p:spPr>
        <p:txBody>
          <a:bodyPr wrap="square" lIns="0" tIns="0" rIns="0" bIns="0" rtlCol="0" anchor="t"/>
          <a:lstStyle/>
          <a:p>
            <a:pPr marL="0" indent="0">
              <a:buNone/>
            </a:pPr>
            <a:r>
              <a:rPr lang="en-US" sz="1700" dirty="0">
                <a:solidFill>
                  <a:srgbClr val="B9CBD3"/>
                </a:solidFill>
              </a:rPr>
              <a:t>A button can look ready before the page has finished loading. Browser tests on both sizes found bugs unit tests could not.</a:t>
            </a:r>
            <a:endParaRPr lang="en-US" sz="1700" dirty="0"/>
          </a:p>
        </p:txBody>
      </p:sp>
      <p:sp>
        <p:nvSpPr>
          <p:cNvPr id="25" name="Slide Number Placeholder 0"/>
          <p:cNvSpPr>
            <a:spLocks noGrp="1"/>
          </p:cNvSpPr>
          <p:nvPr>
            <p:ph type="sldNum" sz="quarter" idx="4294967295"/>
          </p:nvPr>
        </p:nvSpPr>
        <p:spPr>
          <a:xfrm>
            <a:off x="11155680" y="647395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FA0A9"/>
                </a:solidFill>
              </a:defRPr>
            </a:lvl1pPr>
          </a:lstStyle>
          <a:p>
            <a:pPr algn="r"/>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400" b="1" dirty="0">
                <a:solidFill>
                  <a:srgbClr val="FFFFFF"/>
                </a:solidFill>
              </a:rPr>
              <a:t>Scan to visit Overlap</a:t>
            </a:r>
            <a:endParaRPr lang="en-US" sz="3400" dirty="0"/>
          </a:p>
        </p:txBody>
      </p:sp>
      <p:sp>
        <p:nvSpPr>
          <p:cNvPr id="4" name="qr-card"/>
          <p:cNvSpPr/>
          <p:nvPr/>
        </p:nvSpPr>
        <p:spPr>
          <a:xfrm>
            <a:off x="640080" y="1371600"/>
            <a:ext cx="4937760" cy="4937760"/>
          </a:xfrm>
          <a:prstGeom prst="roundRect">
            <a:avLst>
              <a:gd name="adj" fmla="val 3704"/>
            </a:avLst>
          </a:prstGeom>
          <a:solidFill>
            <a:srgbClr val="FFFFFF"/>
          </a:solidFill>
          <a:ln w="12700">
            <a:solidFill>
              <a:srgbClr val="FFFFFF"/>
            </a:solidFill>
            <a:prstDash val="solid"/>
          </a:ln>
        </p:spPr>
        <p:txBody>
          <a:bodyPr/>
          <a:lstStyle/>
          <a:p>
            <a:endParaRPr lang="en-US"/>
          </a:p>
        </p:txBody>
      </p:sp>
      <p:pic>
        <p:nvPicPr>
          <p:cNvPr id="5" name="Image 0" descr="QR code that opens https://overlaps.tech, the Overlap landing page"/>
          <p:cNvPicPr>
            <a:picLocks noChangeAspect="1"/>
          </p:cNvPicPr>
          <p:nvPr/>
        </p:nvPicPr>
        <p:blipFill>
          <a:blip r:embed="rId3"/>
          <a:stretch>
            <a:fillRect/>
          </a:stretch>
        </p:blipFill>
        <p:spPr>
          <a:xfrm>
            <a:off x="822960" y="1554480"/>
            <a:ext cx="4572000" cy="4572000"/>
          </a:xfrm>
          <a:prstGeom prst="rect">
            <a:avLst/>
          </a:prstGeom>
        </p:spPr>
      </p:pic>
      <p:sp>
        <p:nvSpPr>
          <p:cNvPr id="6" name="Text 2"/>
          <p:cNvSpPr txBox="1"/>
          <p:nvPr/>
        </p:nvSpPr>
        <p:spPr>
          <a:xfrm>
            <a:off x="6035040" y="1463040"/>
            <a:ext cx="5669280" cy="457200"/>
          </a:xfrm>
          <a:prstGeom prst="rect">
            <a:avLst/>
          </a:prstGeom>
          <a:noFill/>
          <a:ln/>
        </p:spPr>
        <p:txBody>
          <a:bodyPr wrap="square" lIns="0" tIns="0" rIns="0" bIns="0" rtlCol="0" anchor="ctr"/>
          <a:lstStyle/>
          <a:p>
            <a:pPr marL="0" indent="0">
              <a:buNone/>
            </a:pPr>
            <a:r>
              <a:rPr lang="en-US" sz="2200" b="1" dirty="0">
                <a:solidFill>
                  <a:srgbClr val="F5B544"/>
                </a:solidFill>
              </a:rPr>
              <a:t>Point your phone camera here</a:t>
            </a:r>
            <a:endParaRPr lang="en-US" sz="2200" dirty="0"/>
          </a:p>
        </p:txBody>
      </p:sp>
      <p:sp>
        <p:nvSpPr>
          <p:cNvPr id="7" name="Text 3">
            <a:hlinkClick r:id="rId4" tooltip="Open the Overlap landing page"/>
          </p:cNvPr>
          <p:cNvSpPr txBox="1"/>
          <p:nvPr/>
        </p:nvSpPr>
        <p:spPr>
          <a:xfrm>
            <a:off x="6035040" y="2057400"/>
            <a:ext cx="5669280" cy="1097280"/>
          </a:xfrm>
          <a:prstGeom prst="rect">
            <a:avLst/>
          </a:prstGeom>
          <a:noFill/>
          <a:ln/>
        </p:spPr>
        <p:txBody>
          <a:bodyPr wrap="none" lIns="0" tIns="0" rIns="0" bIns="0" rtlCol="0" anchor="ctr"/>
          <a:lstStyle/>
          <a:p>
            <a:pPr marL="0" indent="0">
              <a:buNone/>
            </a:pPr>
            <a:r>
              <a:rPr lang="en-US" sz="6000" b="1" u="sng" dirty="0">
                <a:solidFill>
                  <a:srgbClr val="FFFFFF"/>
                </a:solidFill>
                <a:latin typeface="Cambria" pitchFamily="34" charset="0"/>
                <a:ea typeface="Cambria" pitchFamily="34" charset="-122"/>
                <a:cs typeface="Cambria" pitchFamily="34" charset="-120"/>
                <a:hlinkClick r:id="rId4" tooltip="Open the Overlap landing page">
                  <a:extLst>
                    <a:ext uri="{A12FA001-AC4F-418D-AE19-62706E023703}">
                      <ahyp:hlinkClr xmlns:ahyp="http://schemas.microsoft.com/office/drawing/2018/hyperlinkcolor" val="tx"/>
                    </a:ext>
                  </a:extLst>
                </a:hlinkClick>
              </a:rPr>
              <a:t>overlaps.tech</a:t>
            </a:r>
            <a:endParaRPr lang="en-US" sz="6000" dirty="0"/>
          </a:p>
        </p:txBody>
      </p:sp>
      <p:sp>
        <p:nvSpPr>
          <p:cNvPr id="8" name="Text 4"/>
          <p:cNvSpPr txBox="1"/>
          <p:nvPr/>
        </p:nvSpPr>
        <p:spPr>
          <a:xfrm>
            <a:off x="6035040" y="3200400"/>
            <a:ext cx="5669280" cy="548640"/>
          </a:xfrm>
          <a:prstGeom prst="rect">
            <a:avLst/>
          </a:prstGeom>
          <a:noFill/>
          <a:ln/>
        </p:spPr>
        <p:txBody>
          <a:bodyPr wrap="square" lIns="0" tIns="0" rIns="0" bIns="0" rtlCol="0" anchor="ctr"/>
          <a:lstStyle/>
          <a:p>
            <a:pPr marL="0" indent="0">
              <a:buNone/>
            </a:pPr>
            <a:r>
              <a:rPr lang="en-US" sz="2600" dirty="0">
                <a:solidFill>
                  <a:srgbClr val="CFE3E0"/>
                </a:solidFill>
              </a:rPr>
              <a:t>https://overlaps.tech</a:t>
            </a:r>
            <a:endParaRPr lang="en-US" sz="2600" dirty="0"/>
          </a:p>
        </p:txBody>
      </p:sp>
      <p:sp>
        <p:nvSpPr>
          <p:cNvPr id="9" name="step-1-dot"/>
          <p:cNvSpPr/>
          <p:nvPr/>
        </p:nvSpPr>
        <p:spPr>
          <a:xfrm>
            <a:off x="6035040" y="4114800"/>
            <a:ext cx="457200" cy="457200"/>
          </a:xfrm>
          <a:prstGeom prst="ellipse">
            <a:avLst/>
          </a:prstGeom>
          <a:solidFill>
            <a:srgbClr val="F5B544"/>
          </a:solidFill>
          <a:ln w="12700">
            <a:solidFill>
              <a:srgbClr val="F5B544"/>
            </a:solidFill>
            <a:prstDash val="solid"/>
          </a:ln>
        </p:spPr>
        <p:txBody>
          <a:bodyPr/>
          <a:lstStyle/>
          <a:p>
            <a:endParaRPr lang="en-US"/>
          </a:p>
        </p:txBody>
      </p:sp>
      <p:sp>
        <p:nvSpPr>
          <p:cNvPr id="10" name="Text 6"/>
          <p:cNvSpPr txBox="1"/>
          <p:nvPr/>
        </p:nvSpPr>
        <p:spPr>
          <a:xfrm>
            <a:off x="6035040" y="4114800"/>
            <a:ext cx="457200" cy="457200"/>
          </a:xfrm>
          <a:prstGeom prst="rect">
            <a:avLst/>
          </a:prstGeom>
          <a:noFill/>
          <a:ln/>
        </p:spPr>
        <p:txBody>
          <a:bodyPr wrap="square" lIns="0" tIns="0" rIns="0" bIns="0" rtlCol="0" anchor="ctr"/>
          <a:lstStyle/>
          <a:p>
            <a:pPr marL="0" indent="0" algn="ctr">
              <a:buNone/>
            </a:pPr>
            <a:r>
              <a:rPr lang="en-US" sz="1600" b="1" dirty="0">
                <a:solidFill>
                  <a:srgbClr val="12202B"/>
                </a:solidFill>
              </a:rPr>
              <a:t>1</a:t>
            </a:r>
            <a:endParaRPr lang="en-US" sz="1600" dirty="0"/>
          </a:p>
        </p:txBody>
      </p:sp>
      <p:sp>
        <p:nvSpPr>
          <p:cNvPr id="11" name="Text 7"/>
          <p:cNvSpPr txBox="1"/>
          <p:nvPr/>
        </p:nvSpPr>
        <p:spPr>
          <a:xfrm>
            <a:off x="6720840" y="4059936"/>
            <a:ext cx="4983480" cy="365760"/>
          </a:xfrm>
          <a:prstGeom prst="rect">
            <a:avLst/>
          </a:prstGeom>
          <a:noFill/>
          <a:ln/>
        </p:spPr>
        <p:txBody>
          <a:bodyPr wrap="square" lIns="0" tIns="0" rIns="0" bIns="0" rtlCol="0" anchor="ctr"/>
          <a:lstStyle/>
          <a:p>
            <a:pPr marL="0" indent="0">
              <a:buNone/>
            </a:pPr>
            <a:r>
              <a:rPr lang="en-US" sz="2000" b="1" dirty="0">
                <a:solidFill>
                  <a:srgbClr val="FFFFFF"/>
                </a:solidFill>
              </a:rPr>
              <a:t>Open the page</a:t>
            </a:r>
            <a:endParaRPr lang="en-US" sz="2000" dirty="0"/>
          </a:p>
        </p:txBody>
      </p:sp>
      <p:sp>
        <p:nvSpPr>
          <p:cNvPr id="12" name="Text 8"/>
          <p:cNvSpPr txBox="1"/>
          <p:nvPr/>
        </p:nvSpPr>
        <p:spPr>
          <a:xfrm>
            <a:off x="6720840" y="4443984"/>
            <a:ext cx="4983480" cy="640080"/>
          </a:xfrm>
          <a:prstGeom prst="rect">
            <a:avLst/>
          </a:prstGeom>
          <a:noFill/>
          <a:ln/>
        </p:spPr>
        <p:txBody>
          <a:bodyPr wrap="square" lIns="0" tIns="0" rIns="0" bIns="0" rtlCol="0" anchor="t"/>
          <a:lstStyle/>
          <a:p>
            <a:pPr marL="0" indent="0">
              <a:buNone/>
            </a:pPr>
            <a:r>
              <a:rPr lang="en-US" sz="1500" dirty="0">
                <a:solidFill>
                  <a:srgbClr val="B9CBD3"/>
                </a:solidFill>
              </a:rPr>
              <a:t>Scan the code, or type the address.</a:t>
            </a:r>
            <a:endParaRPr lang="en-US" sz="1500" dirty="0"/>
          </a:p>
        </p:txBody>
      </p:sp>
      <p:sp>
        <p:nvSpPr>
          <p:cNvPr id="13" name="step-2-dot"/>
          <p:cNvSpPr/>
          <p:nvPr/>
        </p:nvSpPr>
        <p:spPr>
          <a:xfrm>
            <a:off x="6035040" y="5029200"/>
            <a:ext cx="457200" cy="457200"/>
          </a:xfrm>
          <a:prstGeom prst="ellipse">
            <a:avLst/>
          </a:prstGeom>
          <a:solidFill>
            <a:srgbClr val="F5B544"/>
          </a:solidFill>
          <a:ln w="12700">
            <a:solidFill>
              <a:srgbClr val="F5B544"/>
            </a:solidFill>
            <a:prstDash val="solid"/>
          </a:ln>
        </p:spPr>
        <p:txBody>
          <a:bodyPr/>
          <a:lstStyle/>
          <a:p>
            <a:endParaRPr lang="en-US"/>
          </a:p>
        </p:txBody>
      </p:sp>
      <p:sp>
        <p:nvSpPr>
          <p:cNvPr id="14" name="Text 10"/>
          <p:cNvSpPr txBox="1"/>
          <p:nvPr/>
        </p:nvSpPr>
        <p:spPr>
          <a:xfrm>
            <a:off x="6035040" y="5029200"/>
            <a:ext cx="457200" cy="457200"/>
          </a:xfrm>
          <a:prstGeom prst="rect">
            <a:avLst/>
          </a:prstGeom>
          <a:noFill/>
          <a:ln/>
        </p:spPr>
        <p:txBody>
          <a:bodyPr wrap="square" lIns="0" tIns="0" rIns="0" bIns="0" rtlCol="0" anchor="ctr"/>
          <a:lstStyle/>
          <a:p>
            <a:pPr marL="0" indent="0" algn="ctr">
              <a:buNone/>
            </a:pPr>
            <a:r>
              <a:rPr lang="en-US" sz="1600" b="1" dirty="0">
                <a:solidFill>
                  <a:srgbClr val="12202B"/>
                </a:solidFill>
              </a:rPr>
              <a:t>2</a:t>
            </a:r>
            <a:endParaRPr lang="en-US" sz="1600" dirty="0"/>
          </a:p>
        </p:txBody>
      </p:sp>
      <p:sp>
        <p:nvSpPr>
          <p:cNvPr id="15" name="Text 11"/>
          <p:cNvSpPr txBox="1"/>
          <p:nvPr/>
        </p:nvSpPr>
        <p:spPr>
          <a:xfrm>
            <a:off x="6720840" y="4974336"/>
            <a:ext cx="4983480" cy="365760"/>
          </a:xfrm>
          <a:prstGeom prst="rect">
            <a:avLst/>
          </a:prstGeom>
          <a:noFill/>
          <a:ln/>
        </p:spPr>
        <p:txBody>
          <a:bodyPr wrap="square" lIns="0" tIns="0" rIns="0" bIns="0" rtlCol="0" anchor="ctr"/>
          <a:lstStyle/>
          <a:p>
            <a:pPr marL="0" indent="0">
              <a:buNone/>
            </a:pPr>
            <a:r>
              <a:rPr lang="en-US" sz="2000" b="1" dirty="0">
                <a:solidFill>
                  <a:srgbClr val="FFFFFF"/>
                </a:solidFill>
              </a:rPr>
              <a:t>Join the waitlist</a:t>
            </a:r>
            <a:endParaRPr lang="en-US" sz="2000" dirty="0"/>
          </a:p>
        </p:txBody>
      </p:sp>
      <p:sp>
        <p:nvSpPr>
          <p:cNvPr id="16" name="Text 12"/>
          <p:cNvSpPr txBox="1"/>
          <p:nvPr/>
        </p:nvSpPr>
        <p:spPr>
          <a:xfrm>
            <a:off x="6720840" y="5358384"/>
            <a:ext cx="4983480" cy="640080"/>
          </a:xfrm>
          <a:prstGeom prst="rect">
            <a:avLst/>
          </a:prstGeom>
          <a:noFill/>
          <a:ln/>
        </p:spPr>
        <p:txBody>
          <a:bodyPr wrap="square" lIns="0" tIns="0" rIns="0" bIns="0" rtlCol="0" anchor="t"/>
          <a:lstStyle/>
          <a:p>
            <a:pPr marL="0" indent="0">
              <a:buNone/>
            </a:pPr>
            <a:r>
              <a:rPr lang="en-US" sz="1500" dirty="0">
                <a:solidFill>
                  <a:srgbClr val="B9CBD3"/>
                </a:solidFill>
              </a:rPr>
              <a:t>Leave your email and we will write when we open.</a:t>
            </a:r>
            <a:endParaRPr lang="en-US" sz="1500" dirty="0"/>
          </a:p>
        </p:txBody>
      </p:sp>
      <p:sp>
        <p:nvSpPr>
          <p:cNvPr id="25" name="Slide Number Placeholder 0"/>
          <p:cNvSpPr>
            <a:spLocks noGrp="1"/>
          </p:cNvSpPr>
          <p:nvPr>
            <p:ph type="sldNum" sz="quarter" idx="4294967295"/>
          </p:nvPr>
        </p:nvSpPr>
        <p:spPr>
          <a:xfrm>
            <a:off x="11155680" y="647395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FA0A9"/>
                </a:solidFill>
              </a:defRPr>
            </a:lvl1pPr>
          </a:lstStyle>
          <a:p>
            <a:pPr algn="r"/>
            <a:fld id="{F7021451-1387-4CA6-816F-3879F97B5CBC}" type="slidenum">
              <a:rPr lang="en-US" b="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3" name="Text 0"/>
          <p:cNvSpPr txBox="1"/>
          <p:nvPr/>
        </p:nvSpPr>
        <p:spPr>
          <a:xfrm>
            <a:off x="822960" y="1828800"/>
            <a:ext cx="10515600" cy="1280160"/>
          </a:xfrm>
          <a:prstGeom prst="rect">
            <a:avLst/>
          </a:prstGeom>
          <a:noFill/>
          <a:ln/>
        </p:spPr>
        <p:txBody>
          <a:bodyPr wrap="square" lIns="0" tIns="0" rIns="0" bIns="0" rtlCol="0" anchor="ctr"/>
          <a:lstStyle/>
          <a:p>
            <a:pPr marL="0" indent="0">
              <a:buNone/>
            </a:pPr>
            <a:r>
              <a:rPr lang="en-US" sz="7200" b="1" dirty="0">
                <a:solidFill>
                  <a:srgbClr val="FFFFFF"/>
                </a:solidFill>
                <a:latin typeface="Cambria" pitchFamily="34" charset="0"/>
                <a:ea typeface="Cambria" pitchFamily="34" charset="-122"/>
                <a:cs typeface="Cambria" pitchFamily="34" charset="-120"/>
              </a:rPr>
              <a:t>Questions?</a:t>
            </a:r>
            <a:endParaRPr lang="en-US" sz="7200" dirty="0"/>
          </a:p>
        </p:txBody>
      </p:sp>
      <p:sp>
        <p:nvSpPr>
          <p:cNvPr id="4" name="Text 1"/>
          <p:cNvSpPr txBox="1"/>
          <p:nvPr/>
        </p:nvSpPr>
        <p:spPr>
          <a:xfrm>
            <a:off x="822960" y="3291840"/>
            <a:ext cx="10515600" cy="457200"/>
          </a:xfrm>
          <a:prstGeom prst="rect">
            <a:avLst/>
          </a:prstGeom>
          <a:noFill/>
          <a:ln/>
        </p:spPr>
        <p:txBody>
          <a:bodyPr wrap="square" lIns="0" tIns="0" rIns="0" bIns="0" rtlCol="0" anchor="ctr"/>
          <a:lstStyle/>
          <a:p>
            <a:pPr marL="0" indent="0">
              <a:buNone/>
            </a:pPr>
            <a:r>
              <a:rPr lang="en-US" sz="1800" dirty="0">
                <a:solidFill>
                  <a:srgbClr val="F5B544"/>
                </a:solidFill>
              </a:rPr>
              <a:t>All people, photos and data shown are fictional · Overlap is not open to the public</a:t>
            </a:r>
            <a:endParaRPr lang="en-US" sz="1800" dirty="0"/>
          </a:p>
        </p:txBody>
      </p:sp>
      <p:pic>
        <p:nvPicPr>
          <p:cNvPr id="5" name="Image 0" descr="AI-generated portrait of the fictional student emma"/>
          <p:cNvPicPr>
            <a:picLocks noChangeAspect="1"/>
          </p:cNvPicPr>
          <p:nvPr/>
        </p:nvPicPr>
        <p:blipFill>
          <a:blip r:embed="rId3"/>
          <a:stretch>
            <a:fillRect/>
          </a:stretch>
        </p:blipFill>
        <p:spPr>
          <a:xfrm>
            <a:off x="822960" y="4480560"/>
            <a:ext cx="914400" cy="914400"/>
          </a:xfrm>
          <a:prstGeom prst="rect">
            <a:avLst/>
          </a:prstGeom>
        </p:spPr>
      </p:pic>
      <p:pic>
        <p:nvPicPr>
          <p:cNvPr id="6" name="Image 1" descr="AI-generated portrait of the fictional student liam"/>
          <p:cNvPicPr>
            <a:picLocks noChangeAspect="1"/>
          </p:cNvPicPr>
          <p:nvPr/>
        </p:nvPicPr>
        <p:blipFill>
          <a:blip r:embed="rId4"/>
          <a:stretch>
            <a:fillRect/>
          </a:stretch>
        </p:blipFill>
        <p:spPr>
          <a:xfrm>
            <a:off x="1901952" y="4480560"/>
            <a:ext cx="914400" cy="914400"/>
          </a:xfrm>
          <a:prstGeom prst="rect">
            <a:avLst/>
          </a:prstGeom>
        </p:spPr>
      </p:pic>
      <p:pic>
        <p:nvPicPr>
          <p:cNvPr id="7" name="Image 2" descr="AI-generated portrait of the fictional student sophia"/>
          <p:cNvPicPr>
            <a:picLocks noChangeAspect="1"/>
          </p:cNvPicPr>
          <p:nvPr/>
        </p:nvPicPr>
        <p:blipFill>
          <a:blip r:embed="rId5"/>
          <a:stretch>
            <a:fillRect/>
          </a:stretch>
        </p:blipFill>
        <p:spPr>
          <a:xfrm>
            <a:off x="2980944" y="4480560"/>
            <a:ext cx="914400" cy="914400"/>
          </a:xfrm>
          <a:prstGeom prst="rect">
            <a:avLst/>
          </a:prstGeom>
        </p:spPr>
      </p:pic>
      <p:pic>
        <p:nvPicPr>
          <p:cNvPr id="8" name="Image 3" descr="AI-generated portrait of the fictional student daniel"/>
          <p:cNvPicPr>
            <a:picLocks noChangeAspect="1"/>
          </p:cNvPicPr>
          <p:nvPr/>
        </p:nvPicPr>
        <p:blipFill>
          <a:blip r:embed="rId6"/>
          <a:stretch>
            <a:fillRect/>
          </a:stretch>
        </p:blipFill>
        <p:spPr>
          <a:xfrm>
            <a:off x="4059936" y="4480560"/>
            <a:ext cx="914400" cy="914400"/>
          </a:xfrm>
          <a:prstGeom prst="rect">
            <a:avLst/>
          </a:prstGeom>
        </p:spPr>
      </p:pic>
      <p:pic>
        <p:nvPicPr>
          <p:cNvPr id="9" name="Image 4" descr="AI-generated portrait of the fictional student olivia"/>
          <p:cNvPicPr>
            <a:picLocks noChangeAspect="1"/>
          </p:cNvPicPr>
          <p:nvPr/>
        </p:nvPicPr>
        <p:blipFill>
          <a:blip r:embed="rId7"/>
          <a:stretch>
            <a:fillRect/>
          </a:stretch>
        </p:blipFill>
        <p:spPr>
          <a:xfrm>
            <a:off x="5138928" y="4480560"/>
            <a:ext cx="914400" cy="914400"/>
          </a:xfrm>
          <a:prstGeom prst="rect">
            <a:avLst/>
          </a:prstGeom>
        </p:spPr>
      </p:pic>
      <p:pic>
        <p:nvPicPr>
          <p:cNvPr id="10" name="Image 5" descr="AI-generated portrait of the fictional student noah"/>
          <p:cNvPicPr>
            <a:picLocks noChangeAspect="1"/>
          </p:cNvPicPr>
          <p:nvPr/>
        </p:nvPicPr>
        <p:blipFill>
          <a:blip r:embed="rId8"/>
          <a:stretch>
            <a:fillRect/>
          </a:stretch>
        </p:blipFill>
        <p:spPr>
          <a:xfrm>
            <a:off x="6217920" y="4480560"/>
            <a:ext cx="914400" cy="914400"/>
          </a:xfrm>
          <a:prstGeom prst="rect">
            <a:avLst/>
          </a:prstGeom>
        </p:spPr>
      </p:pic>
      <p:pic>
        <p:nvPicPr>
          <p:cNvPr id="11" name="Image 6" descr="AI-generated portrait of the fictional student ethan"/>
          <p:cNvPicPr>
            <a:picLocks noChangeAspect="1"/>
          </p:cNvPicPr>
          <p:nvPr/>
        </p:nvPicPr>
        <p:blipFill>
          <a:blip r:embed="rId9"/>
          <a:stretch>
            <a:fillRect/>
          </a:stretch>
        </p:blipFill>
        <p:spPr>
          <a:xfrm>
            <a:off x="7296912" y="4480560"/>
            <a:ext cx="914400" cy="914400"/>
          </a:xfrm>
          <a:prstGeom prst="rect">
            <a:avLst/>
          </a:prstGeom>
        </p:spPr>
      </p:pic>
      <p:pic>
        <p:nvPicPr>
          <p:cNvPr id="12" name="Image 7" descr="AI-generated portrait of the fictional student grace"/>
          <p:cNvPicPr>
            <a:picLocks noChangeAspect="1"/>
          </p:cNvPicPr>
          <p:nvPr/>
        </p:nvPicPr>
        <p:blipFill>
          <a:blip r:embed="rId10"/>
          <a:stretch>
            <a:fillRect/>
          </a:stretch>
        </p:blipFill>
        <p:spPr>
          <a:xfrm>
            <a:off x="8375904" y="4480560"/>
            <a:ext cx="914400" cy="914400"/>
          </a:xfrm>
          <a:prstGeom prst="rect">
            <a:avLst/>
          </a:prstGeom>
        </p:spPr>
      </p:pic>
      <p:pic>
        <p:nvPicPr>
          <p:cNvPr id="13" name="Image 8" descr="AI-generated portrait of the fictional student jack"/>
          <p:cNvPicPr>
            <a:picLocks noChangeAspect="1"/>
          </p:cNvPicPr>
          <p:nvPr/>
        </p:nvPicPr>
        <p:blipFill>
          <a:blip r:embed="rId11"/>
          <a:stretch>
            <a:fillRect/>
          </a:stretch>
        </p:blipFill>
        <p:spPr>
          <a:xfrm>
            <a:off x="9454896" y="4480560"/>
            <a:ext cx="914400" cy="914400"/>
          </a:xfrm>
          <a:prstGeom prst="rect">
            <a:avLst/>
          </a:prstGeom>
        </p:spPr>
      </p:pic>
      <p:pic>
        <p:nvPicPr>
          <p:cNvPr id="14" name="Image 9" descr="AI-generated portrait of the fictional student dana"/>
          <p:cNvPicPr>
            <a:picLocks noChangeAspect="1"/>
          </p:cNvPicPr>
          <p:nvPr/>
        </p:nvPicPr>
        <p:blipFill>
          <a:blip r:embed="rId12"/>
          <a:stretch>
            <a:fillRect/>
          </a:stretch>
        </p:blipFill>
        <p:spPr>
          <a:xfrm>
            <a:off x="10533888" y="4480560"/>
            <a:ext cx="914400" cy="914400"/>
          </a:xfrm>
          <a:prstGeom prst="rect">
            <a:avLst/>
          </a:prstGeom>
        </p:spPr>
      </p:pic>
      <p:sp>
        <p:nvSpPr>
          <p:cNvPr id="15" name="Text 2"/>
          <p:cNvSpPr txBox="1"/>
          <p:nvPr/>
        </p:nvSpPr>
        <p:spPr>
          <a:xfrm>
            <a:off x="822960" y="5852160"/>
            <a:ext cx="10515600" cy="320040"/>
          </a:xfrm>
          <a:prstGeom prst="rect">
            <a:avLst/>
          </a:prstGeom>
          <a:noFill/>
          <a:ln/>
        </p:spPr>
        <p:txBody>
          <a:bodyPr wrap="square" lIns="0" tIns="0" rIns="0" bIns="0" rtlCol="0" anchor="ctr"/>
          <a:lstStyle/>
          <a:p>
            <a:pPr marL="0" indent="0">
              <a:buNone/>
            </a:pPr>
            <a:r>
              <a:rPr lang="en-US" sz="1100" dirty="0">
                <a:solidFill>
                  <a:srgbClr val="8FA0A9"/>
                </a:solidFill>
              </a:rPr>
              <a:t>Portraits: AI-generated faces (this-person-does-not-exist.com). Scene photos: Lorem Picsum / Unsplash.</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3" name="Text 0"/>
          <p:cNvSpPr txBox="1"/>
          <p:nvPr/>
        </p:nvSpPr>
        <p:spPr>
          <a:xfrm>
            <a:off x="822960" y="2377440"/>
            <a:ext cx="10515600" cy="1188720"/>
          </a:xfrm>
          <a:prstGeom prst="rect">
            <a:avLst/>
          </a:prstGeom>
          <a:noFill/>
          <a:ln/>
        </p:spPr>
        <p:txBody>
          <a:bodyPr wrap="square" lIns="0" tIns="0" rIns="0" bIns="0" rtlCol="0" anchor="ctr"/>
          <a:lstStyle/>
          <a:p>
            <a:pPr marL="0" indent="0">
              <a:buNone/>
            </a:pPr>
            <a:r>
              <a:rPr lang="en-US" sz="6600" b="1" dirty="0">
                <a:solidFill>
                  <a:srgbClr val="FFFFFF"/>
                </a:solidFill>
                <a:latin typeface="Cambria" pitchFamily="34" charset="0"/>
                <a:ea typeface="Cambria" pitchFamily="34" charset="-122"/>
                <a:cs typeface="Cambria" pitchFamily="34" charset="-120"/>
              </a:rPr>
              <a:t>Backup</a:t>
            </a:r>
            <a:endParaRPr lang="en-US" sz="6600" dirty="0"/>
          </a:p>
        </p:txBody>
      </p:sp>
      <p:sp>
        <p:nvSpPr>
          <p:cNvPr id="4" name="Text 1"/>
          <p:cNvSpPr txBox="1"/>
          <p:nvPr/>
        </p:nvSpPr>
        <p:spPr>
          <a:xfrm>
            <a:off x="822960" y="3566160"/>
            <a:ext cx="10515600" cy="548640"/>
          </a:xfrm>
          <a:prstGeom prst="rect">
            <a:avLst/>
          </a:prstGeom>
          <a:noFill/>
          <a:ln/>
        </p:spPr>
        <p:txBody>
          <a:bodyPr wrap="square" lIns="0" tIns="0" rIns="0" bIns="0" rtlCol="0" anchor="ctr"/>
          <a:lstStyle/>
          <a:p>
            <a:pPr marL="0" indent="0">
              <a:buNone/>
            </a:pPr>
            <a:r>
              <a:rPr lang="en-US" sz="2200" dirty="0">
                <a:solidFill>
                  <a:srgbClr val="CFE3E0"/>
                </a:solidFill>
              </a:rPr>
              <a:t>Screens, tools and the live-demo cheat-sheet</a:t>
            </a:r>
            <a:endParaRPr lang="en-US" sz="2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400" b="1" dirty="0">
                <a:solidFill>
                  <a:schemeClr val="tx1"/>
                </a:solidFill>
              </a:rPr>
              <a:t>Backup: landing page, dark mode, Korean and sign-up</a:t>
            </a:r>
            <a:endParaRPr lang="en-US" sz="3400" dirty="0"/>
          </a:p>
        </p:txBody>
      </p:sp>
      <p:pic>
        <p:nvPicPr>
          <p:cNvPr id="4" name="Image 0" descr="landing-phone-light"/>
          <p:cNvPicPr>
            <a:picLocks noChangeAspect="1"/>
          </p:cNvPicPr>
          <p:nvPr/>
        </p:nvPicPr>
        <p:blipFill>
          <a:blip r:embed="rId3"/>
          <a:stretch>
            <a:fillRect/>
          </a:stretch>
        </p:blipFill>
        <p:spPr>
          <a:xfrm>
            <a:off x="868680" y="1371600"/>
            <a:ext cx="2140957" cy="4434840"/>
          </a:xfrm>
          <a:prstGeom prst="rect">
            <a:avLst/>
          </a:prstGeom>
        </p:spPr>
      </p:pic>
      <p:sp>
        <p:nvSpPr>
          <p:cNvPr id="5" name="Text 1"/>
          <p:cNvSpPr txBox="1"/>
          <p:nvPr/>
        </p:nvSpPr>
        <p:spPr>
          <a:xfrm>
            <a:off x="685800" y="5897880"/>
            <a:ext cx="2651760" cy="365760"/>
          </a:xfrm>
          <a:prstGeom prst="rect">
            <a:avLst/>
          </a:prstGeom>
          <a:noFill/>
          <a:ln/>
        </p:spPr>
        <p:txBody>
          <a:bodyPr wrap="square" lIns="0" tIns="0" rIns="0" bIns="0" rtlCol="0" anchor="ctr"/>
          <a:lstStyle/>
          <a:p>
            <a:pPr marL="0" indent="0" algn="ctr">
              <a:buNone/>
            </a:pPr>
            <a:r>
              <a:rPr lang="en-US" sz="1500" dirty="0">
                <a:solidFill>
                  <a:srgbClr val="0F766E"/>
                </a:solidFill>
              </a:rPr>
              <a:t>Landing</a:t>
            </a:r>
            <a:endParaRPr lang="en-US" sz="1500" dirty="0"/>
          </a:p>
        </p:txBody>
      </p:sp>
      <p:pic>
        <p:nvPicPr>
          <p:cNvPr id="6" name="Image 1" descr="landing-phone-dark"/>
          <p:cNvPicPr>
            <a:picLocks noChangeAspect="1"/>
          </p:cNvPicPr>
          <p:nvPr/>
        </p:nvPicPr>
        <p:blipFill>
          <a:blip r:embed="rId4"/>
          <a:stretch>
            <a:fillRect/>
          </a:stretch>
        </p:blipFill>
        <p:spPr>
          <a:xfrm>
            <a:off x="3703320" y="1371600"/>
            <a:ext cx="2140957" cy="4434840"/>
          </a:xfrm>
          <a:prstGeom prst="rect">
            <a:avLst/>
          </a:prstGeom>
        </p:spPr>
      </p:pic>
      <p:sp>
        <p:nvSpPr>
          <p:cNvPr id="7" name="Text 2"/>
          <p:cNvSpPr txBox="1"/>
          <p:nvPr/>
        </p:nvSpPr>
        <p:spPr>
          <a:xfrm>
            <a:off x="3520440" y="5897880"/>
            <a:ext cx="2651760" cy="365760"/>
          </a:xfrm>
          <a:prstGeom prst="rect">
            <a:avLst/>
          </a:prstGeom>
          <a:noFill/>
          <a:ln/>
        </p:spPr>
        <p:txBody>
          <a:bodyPr wrap="square" lIns="0" tIns="0" rIns="0" bIns="0" rtlCol="0" anchor="ctr"/>
          <a:lstStyle/>
          <a:p>
            <a:pPr marL="0" indent="0" algn="ctr">
              <a:buNone/>
            </a:pPr>
            <a:r>
              <a:rPr lang="en-US" sz="1500" dirty="0">
                <a:solidFill>
                  <a:srgbClr val="0F766E"/>
                </a:solidFill>
              </a:rPr>
              <a:t>Dark mode</a:t>
            </a:r>
            <a:endParaRPr lang="en-US" sz="1500" dirty="0"/>
          </a:p>
        </p:txBody>
      </p:sp>
      <p:pic>
        <p:nvPicPr>
          <p:cNvPr id="8" name="Image 2" descr="landing-phone-ko"/>
          <p:cNvPicPr>
            <a:picLocks noChangeAspect="1"/>
          </p:cNvPicPr>
          <p:nvPr/>
        </p:nvPicPr>
        <p:blipFill>
          <a:blip r:embed="rId5"/>
          <a:stretch>
            <a:fillRect/>
          </a:stretch>
        </p:blipFill>
        <p:spPr>
          <a:xfrm>
            <a:off x="6537960" y="1371600"/>
            <a:ext cx="2140957" cy="4434840"/>
          </a:xfrm>
          <a:prstGeom prst="rect">
            <a:avLst/>
          </a:prstGeom>
        </p:spPr>
      </p:pic>
      <p:sp>
        <p:nvSpPr>
          <p:cNvPr id="9" name="Text 3"/>
          <p:cNvSpPr txBox="1"/>
          <p:nvPr/>
        </p:nvSpPr>
        <p:spPr>
          <a:xfrm>
            <a:off x="6355080" y="5897880"/>
            <a:ext cx="2651760" cy="365760"/>
          </a:xfrm>
          <a:prstGeom prst="rect">
            <a:avLst/>
          </a:prstGeom>
          <a:noFill/>
          <a:ln/>
        </p:spPr>
        <p:txBody>
          <a:bodyPr wrap="square" lIns="0" tIns="0" rIns="0" bIns="0" rtlCol="0" anchor="ctr"/>
          <a:lstStyle/>
          <a:p>
            <a:pPr marL="0" indent="0" algn="ctr">
              <a:buNone/>
            </a:pPr>
            <a:r>
              <a:rPr lang="en-US" sz="1500" dirty="0">
                <a:solidFill>
                  <a:srgbClr val="0F766E"/>
                </a:solidFill>
              </a:rPr>
              <a:t>Korean</a:t>
            </a:r>
            <a:endParaRPr lang="en-US" sz="1500" dirty="0"/>
          </a:p>
        </p:txBody>
      </p:sp>
      <p:pic>
        <p:nvPicPr>
          <p:cNvPr id="10" name="Image 3" descr="how-matching-works-phone"/>
          <p:cNvPicPr>
            <a:picLocks noChangeAspect="1"/>
          </p:cNvPicPr>
          <p:nvPr/>
        </p:nvPicPr>
        <p:blipFill>
          <a:blip r:embed="rId6"/>
          <a:stretch>
            <a:fillRect/>
          </a:stretch>
        </p:blipFill>
        <p:spPr>
          <a:xfrm>
            <a:off x="9372600" y="1371600"/>
            <a:ext cx="2140957" cy="4434840"/>
          </a:xfrm>
          <a:prstGeom prst="rect">
            <a:avLst/>
          </a:prstGeom>
        </p:spPr>
      </p:pic>
      <p:sp>
        <p:nvSpPr>
          <p:cNvPr id="11" name="Text 4"/>
          <p:cNvSpPr txBox="1"/>
          <p:nvPr/>
        </p:nvSpPr>
        <p:spPr>
          <a:xfrm>
            <a:off x="9189720" y="5897880"/>
            <a:ext cx="2651760" cy="365760"/>
          </a:xfrm>
          <a:prstGeom prst="rect">
            <a:avLst/>
          </a:prstGeom>
          <a:noFill/>
          <a:ln/>
        </p:spPr>
        <p:txBody>
          <a:bodyPr wrap="square" lIns="0" tIns="0" rIns="0" bIns="0" rtlCol="0" anchor="ctr"/>
          <a:lstStyle/>
          <a:p>
            <a:pPr marL="0" indent="0" algn="ctr">
              <a:buNone/>
            </a:pPr>
            <a:r>
              <a:rPr lang="en-US" sz="1500" dirty="0">
                <a:solidFill>
                  <a:srgbClr val="0F766E"/>
                </a:solidFill>
              </a:rPr>
              <a:t>How matching works</a:t>
            </a:r>
            <a:endParaRPr lang="en-US" sz="1500" dirty="0"/>
          </a:p>
        </p:txBody>
      </p:sp>
      <p:sp>
        <p:nvSpPr>
          <p:cNvPr id="25" name="Slide Number Placeholder 0"/>
          <p:cNvSpPr>
            <a:spLocks noGrp="1"/>
          </p:cNvSpPr>
          <p:nvPr>
            <p:ph type="sldNum" sz="quarter" idx="4294967295"/>
          </p:nvPr>
        </p:nvSpPr>
        <p:spPr>
          <a:xfrm>
            <a:off x="11155680" y="647395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400" b="1" dirty="0">
                <a:solidFill>
                  <a:schemeClr val="tx1"/>
                </a:solidFill>
              </a:rPr>
              <a:t>Backup: the profile wizard</a:t>
            </a:r>
            <a:endParaRPr lang="en-US" sz="3400" dirty="0"/>
          </a:p>
        </p:txBody>
      </p:sp>
      <p:pic>
        <p:nvPicPr>
          <p:cNvPr id="4" name="Image 0" descr="wiz-basics"/>
          <p:cNvPicPr>
            <a:picLocks noChangeAspect="1"/>
          </p:cNvPicPr>
          <p:nvPr/>
        </p:nvPicPr>
        <p:blipFill>
          <a:blip r:embed="rId3"/>
          <a:stretch>
            <a:fillRect/>
          </a:stretch>
        </p:blipFill>
        <p:spPr>
          <a:xfrm>
            <a:off x="868680" y="1371600"/>
            <a:ext cx="2140957" cy="4434840"/>
          </a:xfrm>
          <a:prstGeom prst="rect">
            <a:avLst/>
          </a:prstGeom>
        </p:spPr>
      </p:pic>
      <p:sp>
        <p:nvSpPr>
          <p:cNvPr id="5" name="Text 1"/>
          <p:cNvSpPr txBox="1"/>
          <p:nvPr/>
        </p:nvSpPr>
        <p:spPr>
          <a:xfrm>
            <a:off x="685800" y="5897880"/>
            <a:ext cx="2651760" cy="365760"/>
          </a:xfrm>
          <a:prstGeom prst="rect">
            <a:avLst/>
          </a:prstGeom>
          <a:noFill/>
          <a:ln/>
        </p:spPr>
        <p:txBody>
          <a:bodyPr wrap="square" lIns="0" tIns="0" rIns="0" bIns="0" rtlCol="0" anchor="ctr"/>
          <a:lstStyle/>
          <a:p>
            <a:pPr marL="0" indent="0" algn="ctr">
              <a:buNone/>
            </a:pPr>
            <a:r>
              <a:rPr lang="en-US" sz="1500" dirty="0">
                <a:solidFill>
                  <a:srgbClr val="0F766E"/>
                </a:solidFill>
              </a:rPr>
              <a:t>Basics</a:t>
            </a:r>
            <a:endParaRPr lang="en-US" sz="1500" dirty="0"/>
          </a:p>
        </p:txBody>
      </p:sp>
      <p:pic>
        <p:nvPicPr>
          <p:cNvPr id="6" name="Image 1" descr="wiz-courses-picked"/>
          <p:cNvPicPr>
            <a:picLocks noChangeAspect="1"/>
          </p:cNvPicPr>
          <p:nvPr/>
        </p:nvPicPr>
        <p:blipFill>
          <a:blip r:embed="rId4"/>
          <a:stretch>
            <a:fillRect/>
          </a:stretch>
        </p:blipFill>
        <p:spPr>
          <a:xfrm>
            <a:off x="3703320" y="1371600"/>
            <a:ext cx="2140957" cy="4434840"/>
          </a:xfrm>
          <a:prstGeom prst="rect">
            <a:avLst/>
          </a:prstGeom>
        </p:spPr>
      </p:pic>
      <p:sp>
        <p:nvSpPr>
          <p:cNvPr id="7" name="Text 2"/>
          <p:cNvSpPr txBox="1"/>
          <p:nvPr/>
        </p:nvSpPr>
        <p:spPr>
          <a:xfrm>
            <a:off x="3520440" y="5897880"/>
            <a:ext cx="2651760" cy="365760"/>
          </a:xfrm>
          <a:prstGeom prst="rect">
            <a:avLst/>
          </a:prstGeom>
          <a:noFill/>
          <a:ln/>
        </p:spPr>
        <p:txBody>
          <a:bodyPr wrap="square" lIns="0" tIns="0" rIns="0" bIns="0" rtlCol="0" anchor="ctr"/>
          <a:lstStyle/>
          <a:p>
            <a:pPr marL="0" indent="0" algn="ctr">
              <a:buNone/>
            </a:pPr>
            <a:r>
              <a:rPr lang="en-US" sz="1500" dirty="0">
                <a:solidFill>
                  <a:srgbClr val="0F766E"/>
                </a:solidFill>
              </a:rPr>
              <a:t>Courses</a:t>
            </a:r>
            <a:endParaRPr lang="en-US" sz="1500" dirty="0"/>
          </a:p>
        </p:txBody>
      </p:sp>
      <p:pic>
        <p:nvPicPr>
          <p:cNvPr id="8" name="Image 2" descr="wiz-freetime"/>
          <p:cNvPicPr>
            <a:picLocks noChangeAspect="1"/>
          </p:cNvPicPr>
          <p:nvPr/>
        </p:nvPicPr>
        <p:blipFill>
          <a:blip r:embed="rId5"/>
          <a:stretch>
            <a:fillRect/>
          </a:stretch>
        </p:blipFill>
        <p:spPr>
          <a:xfrm>
            <a:off x="6537960" y="1371600"/>
            <a:ext cx="2140957" cy="4434840"/>
          </a:xfrm>
          <a:prstGeom prst="rect">
            <a:avLst/>
          </a:prstGeom>
        </p:spPr>
      </p:pic>
      <p:sp>
        <p:nvSpPr>
          <p:cNvPr id="9" name="Text 3"/>
          <p:cNvSpPr txBox="1"/>
          <p:nvPr/>
        </p:nvSpPr>
        <p:spPr>
          <a:xfrm>
            <a:off x="6355080" y="5897880"/>
            <a:ext cx="2651760" cy="365760"/>
          </a:xfrm>
          <a:prstGeom prst="rect">
            <a:avLst/>
          </a:prstGeom>
          <a:noFill/>
          <a:ln/>
        </p:spPr>
        <p:txBody>
          <a:bodyPr wrap="square" lIns="0" tIns="0" rIns="0" bIns="0" rtlCol="0" anchor="ctr"/>
          <a:lstStyle/>
          <a:p>
            <a:pPr marL="0" indent="0" algn="ctr">
              <a:buNone/>
            </a:pPr>
            <a:r>
              <a:rPr lang="en-US" sz="1500" dirty="0">
                <a:solidFill>
                  <a:srgbClr val="0F766E"/>
                </a:solidFill>
              </a:rPr>
              <a:t>Free time</a:t>
            </a:r>
            <a:endParaRPr lang="en-US" sz="1500" dirty="0"/>
          </a:p>
        </p:txBody>
      </p:sp>
      <p:pic>
        <p:nvPicPr>
          <p:cNvPr id="10" name="Image 3" descr="wiz-values"/>
          <p:cNvPicPr>
            <a:picLocks noChangeAspect="1"/>
          </p:cNvPicPr>
          <p:nvPr/>
        </p:nvPicPr>
        <p:blipFill>
          <a:blip r:embed="rId6"/>
          <a:stretch>
            <a:fillRect/>
          </a:stretch>
        </p:blipFill>
        <p:spPr>
          <a:xfrm>
            <a:off x="9372600" y="1371600"/>
            <a:ext cx="2140957" cy="4434840"/>
          </a:xfrm>
          <a:prstGeom prst="rect">
            <a:avLst/>
          </a:prstGeom>
        </p:spPr>
      </p:pic>
      <p:sp>
        <p:nvSpPr>
          <p:cNvPr id="11" name="Text 4"/>
          <p:cNvSpPr txBox="1"/>
          <p:nvPr/>
        </p:nvSpPr>
        <p:spPr>
          <a:xfrm>
            <a:off x="9189720" y="5897880"/>
            <a:ext cx="2651760" cy="365760"/>
          </a:xfrm>
          <a:prstGeom prst="rect">
            <a:avLst/>
          </a:prstGeom>
          <a:noFill/>
          <a:ln/>
        </p:spPr>
        <p:txBody>
          <a:bodyPr wrap="square" lIns="0" tIns="0" rIns="0" bIns="0" rtlCol="0" anchor="ctr"/>
          <a:lstStyle/>
          <a:p>
            <a:pPr marL="0" indent="0" algn="ctr">
              <a:buNone/>
            </a:pPr>
            <a:r>
              <a:rPr lang="en-US" sz="1500" dirty="0">
                <a:solidFill>
                  <a:srgbClr val="0F766E"/>
                </a:solidFill>
              </a:rPr>
              <a:t>Values quiz</a:t>
            </a:r>
            <a:endParaRPr lang="en-US" sz="1500" dirty="0"/>
          </a:p>
        </p:txBody>
      </p:sp>
      <p:sp>
        <p:nvSpPr>
          <p:cNvPr id="25" name="Slide Number Placeholder 0"/>
          <p:cNvSpPr>
            <a:spLocks noGrp="1"/>
          </p:cNvSpPr>
          <p:nvPr>
            <p:ph type="sldNum" sz="quarter" idx="4294967295"/>
          </p:nvPr>
        </p:nvSpPr>
        <p:spPr>
          <a:xfrm>
            <a:off x="11155680" y="647395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400" b="1" dirty="0">
                <a:solidFill>
                  <a:schemeClr val="tx1"/>
                </a:solidFill>
              </a:rPr>
              <a:t>Backup: settings, profiles and meetup states</a:t>
            </a:r>
            <a:endParaRPr lang="en-US" sz="3400" dirty="0"/>
          </a:p>
        </p:txBody>
      </p:sp>
      <p:pic>
        <p:nvPicPr>
          <p:cNvPr id="4" name="Image 0" descr="me-edit-list"/>
          <p:cNvPicPr>
            <a:picLocks noChangeAspect="1"/>
          </p:cNvPicPr>
          <p:nvPr/>
        </p:nvPicPr>
        <p:blipFill>
          <a:blip r:embed="rId3"/>
          <a:stretch>
            <a:fillRect/>
          </a:stretch>
        </p:blipFill>
        <p:spPr>
          <a:xfrm>
            <a:off x="868680" y="1371600"/>
            <a:ext cx="2140957" cy="4434840"/>
          </a:xfrm>
          <a:prstGeom prst="rect">
            <a:avLst/>
          </a:prstGeom>
        </p:spPr>
      </p:pic>
      <p:sp>
        <p:nvSpPr>
          <p:cNvPr id="5" name="Text 1"/>
          <p:cNvSpPr txBox="1"/>
          <p:nvPr/>
        </p:nvSpPr>
        <p:spPr>
          <a:xfrm>
            <a:off x="685800" y="5897880"/>
            <a:ext cx="2651760" cy="365760"/>
          </a:xfrm>
          <a:prstGeom prst="rect">
            <a:avLst/>
          </a:prstGeom>
          <a:noFill/>
          <a:ln/>
        </p:spPr>
        <p:txBody>
          <a:bodyPr wrap="square" lIns="0" tIns="0" rIns="0" bIns="0" rtlCol="0" anchor="ctr"/>
          <a:lstStyle/>
          <a:p>
            <a:pPr marL="0" indent="0" algn="ctr">
              <a:buNone/>
            </a:pPr>
            <a:r>
              <a:rPr lang="en-US" sz="1500" dirty="0">
                <a:solidFill>
                  <a:srgbClr val="0F766E"/>
                </a:solidFill>
              </a:rPr>
              <a:t>Edit any section</a:t>
            </a:r>
            <a:endParaRPr lang="en-US" sz="1500" dirty="0"/>
          </a:p>
        </p:txBody>
      </p:sp>
      <p:pic>
        <p:nvPicPr>
          <p:cNvPr id="6" name="Image 1" descr="me-privacy"/>
          <p:cNvPicPr>
            <a:picLocks noChangeAspect="1"/>
          </p:cNvPicPr>
          <p:nvPr/>
        </p:nvPicPr>
        <p:blipFill>
          <a:blip r:embed="rId4"/>
          <a:stretch>
            <a:fillRect/>
          </a:stretch>
        </p:blipFill>
        <p:spPr>
          <a:xfrm>
            <a:off x="3703320" y="1371600"/>
            <a:ext cx="2140957" cy="4434840"/>
          </a:xfrm>
          <a:prstGeom prst="rect">
            <a:avLst/>
          </a:prstGeom>
        </p:spPr>
      </p:pic>
      <p:sp>
        <p:nvSpPr>
          <p:cNvPr id="7" name="Text 2"/>
          <p:cNvSpPr txBox="1"/>
          <p:nvPr/>
        </p:nvSpPr>
        <p:spPr>
          <a:xfrm>
            <a:off x="3520440" y="5897880"/>
            <a:ext cx="2651760" cy="365760"/>
          </a:xfrm>
          <a:prstGeom prst="rect">
            <a:avLst/>
          </a:prstGeom>
          <a:noFill/>
          <a:ln/>
        </p:spPr>
        <p:txBody>
          <a:bodyPr wrap="square" lIns="0" tIns="0" rIns="0" bIns="0" rtlCol="0" anchor="ctr"/>
          <a:lstStyle/>
          <a:p>
            <a:pPr marL="0" indent="0" algn="ctr">
              <a:buNone/>
            </a:pPr>
            <a:r>
              <a:rPr lang="en-US" sz="1500" dirty="0">
                <a:solidFill>
                  <a:srgbClr val="0F766E"/>
                </a:solidFill>
              </a:rPr>
              <a:t>Privacy and export</a:t>
            </a:r>
            <a:endParaRPr lang="en-US" sz="1500" dirty="0"/>
          </a:p>
        </p:txBody>
      </p:sp>
      <p:pic>
        <p:nvPicPr>
          <p:cNvPr id="8" name="Image 2" descr="profile-view"/>
          <p:cNvPicPr>
            <a:picLocks noChangeAspect="1"/>
          </p:cNvPicPr>
          <p:nvPr/>
        </p:nvPicPr>
        <p:blipFill>
          <a:blip r:embed="rId5"/>
          <a:stretch>
            <a:fillRect/>
          </a:stretch>
        </p:blipFill>
        <p:spPr>
          <a:xfrm>
            <a:off x="6537960" y="1371600"/>
            <a:ext cx="2140957" cy="4434840"/>
          </a:xfrm>
          <a:prstGeom prst="rect">
            <a:avLst/>
          </a:prstGeom>
        </p:spPr>
      </p:pic>
      <p:sp>
        <p:nvSpPr>
          <p:cNvPr id="9" name="Text 3"/>
          <p:cNvSpPr txBox="1"/>
          <p:nvPr/>
        </p:nvSpPr>
        <p:spPr>
          <a:xfrm>
            <a:off x="6355080" y="5897880"/>
            <a:ext cx="2651760" cy="365760"/>
          </a:xfrm>
          <a:prstGeom prst="rect">
            <a:avLst/>
          </a:prstGeom>
          <a:noFill/>
          <a:ln/>
        </p:spPr>
        <p:txBody>
          <a:bodyPr wrap="square" lIns="0" tIns="0" rIns="0" bIns="0" rtlCol="0" anchor="ctr"/>
          <a:lstStyle/>
          <a:p>
            <a:pPr marL="0" indent="0" algn="ctr">
              <a:buNone/>
            </a:pPr>
            <a:r>
              <a:rPr lang="en-US" sz="1500" dirty="0">
                <a:solidFill>
                  <a:srgbClr val="0F766E"/>
                </a:solidFill>
              </a:rPr>
              <a:t>A matched profile</a:t>
            </a:r>
            <a:endParaRPr lang="en-US" sz="1500" dirty="0"/>
          </a:p>
        </p:txBody>
      </p:sp>
      <p:pic>
        <p:nvPicPr>
          <p:cNvPr id="10" name="Image 3" descr="matches-meetup-declined"/>
          <p:cNvPicPr>
            <a:picLocks noChangeAspect="1"/>
          </p:cNvPicPr>
          <p:nvPr/>
        </p:nvPicPr>
        <p:blipFill>
          <a:blip r:embed="rId6"/>
          <a:stretch>
            <a:fillRect/>
          </a:stretch>
        </p:blipFill>
        <p:spPr>
          <a:xfrm>
            <a:off x="9372600" y="1371600"/>
            <a:ext cx="2140957" cy="4434840"/>
          </a:xfrm>
          <a:prstGeom prst="rect">
            <a:avLst/>
          </a:prstGeom>
        </p:spPr>
      </p:pic>
      <p:sp>
        <p:nvSpPr>
          <p:cNvPr id="11" name="Text 4"/>
          <p:cNvSpPr txBox="1"/>
          <p:nvPr/>
        </p:nvSpPr>
        <p:spPr>
          <a:xfrm>
            <a:off x="9189720" y="5897880"/>
            <a:ext cx="2651760" cy="365760"/>
          </a:xfrm>
          <a:prstGeom prst="rect">
            <a:avLst/>
          </a:prstGeom>
          <a:noFill/>
          <a:ln/>
        </p:spPr>
        <p:txBody>
          <a:bodyPr wrap="square" lIns="0" tIns="0" rIns="0" bIns="0" rtlCol="0" anchor="ctr"/>
          <a:lstStyle/>
          <a:p>
            <a:pPr marL="0" indent="0" algn="ctr">
              <a:buNone/>
            </a:pPr>
            <a:r>
              <a:rPr lang="en-US" sz="1500" dirty="0">
                <a:solidFill>
                  <a:srgbClr val="0F766E"/>
                </a:solidFill>
              </a:rPr>
              <a:t>Meetup dots</a:t>
            </a:r>
            <a:endParaRPr lang="en-US" sz="1500" dirty="0"/>
          </a:p>
        </p:txBody>
      </p:sp>
      <p:sp>
        <p:nvSpPr>
          <p:cNvPr id="25" name="Slide Number Placeholder 0"/>
          <p:cNvSpPr>
            <a:spLocks noGrp="1"/>
          </p:cNvSpPr>
          <p:nvPr>
            <p:ph type="sldNum" sz="quarter" idx="4294967295"/>
          </p:nvPr>
        </p:nvSpPr>
        <p:spPr>
          <a:xfrm>
            <a:off x="11155680" y="647395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400" b="1" dirty="0">
                <a:solidFill>
                  <a:schemeClr val="tx1"/>
                </a:solidFill>
              </a:rPr>
              <a:t>Backup: moderator and operations tools</a:t>
            </a:r>
            <a:endParaRPr lang="en-US" sz="3400" dirty="0"/>
          </a:p>
        </p:txBody>
      </p:sp>
      <p:pic>
        <p:nvPicPr>
          <p:cNvPr id="4" name="Image 0" descr="admin-verification-queue"/>
          <p:cNvPicPr>
            <a:picLocks noChangeAspect="1"/>
          </p:cNvPicPr>
          <p:nvPr/>
        </p:nvPicPr>
        <p:blipFill>
          <a:blip r:embed="rId3"/>
          <a:stretch>
            <a:fillRect/>
          </a:stretch>
        </p:blipFill>
        <p:spPr>
          <a:xfrm>
            <a:off x="548640" y="1554480"/>
            <a:ext cx="5440680" cy="3649142"/>
          </a:xfrm>
          <a:prstGeom prst="rect">
            <a:avLst/>
          </a:prstGeom>
        </p:spPr>
      </p:pic>
      <p:sp>
        <p:nvSpPr>
          <p:cNvPr id="5" name="Text 1"/>
          <p:cNvSpPr txBox="1"/>
          <p:nvPr/>
        </p:nvSpPr>
        <p:spPr>
          <a:xfrm>
            <a:off x="548640" y="5313350"/>
            <a:ext cx="5440680" cy="365760"/>
          </a:xfrm>
          <a:prstGeom prst="rect">
            <a:avLst/>
          </a:prstGeom>
          <a:noFill/>
          <a:ln/>
        </p:spPr>
        <p:txBody>
          <a:bodyPr wrap="square" lIns="0" tIns="0" rIns="0" bIns="0" rtlCol="0" anchor="ctr"/>
          <a:lstStyle/>
          <a:p>
            <a:pPr marL="0" indent="0" algn="ctr">
              <a:buNone/>
            </a:pPr>
            <a:r>
              <a:rPr lang="en-US" sz="1600" dirty="0">
                <a:solidFill>
                  <a:srgbClr val="0F766E"/>
                </a:solidFill>
              </a:rPr>
              <a:t>Selfie verification queue</a:t>
            </a:r>
            <a:endParaRPr lang="en-US" sz="1600" dirty="0"/>
          </a:p>
        </p:txBody>
      </p:sp>
      <p:pic>
        <p:nvPicPr>
          <p:cNvPr id="6" name="Image 1" descr="admin-ops"/>
          <p:cNvPicPr>
            <a:picLocks noChangeAspect="1"/>
          </p:cNvPicPr>
          <p:nvPr/>
        </p:nvPicPr>
        <p:blipFill>
          <a:blip r:embed="rId4"/>
          <a:stretch>
            <a:fillRect/>
          </a:stretch>
        </p:blipFill>
        <p:spPr>
          <a:xfrm>
            <a:off x="6172200" y="1554480"/>
            <a:ext cx="5440680" cy="3649142"/>
          </a:xfrm>
          <a:prstGeom prst="rect">
            <a:avLst/>
          </a:prstGeom>
        </p:spPr>
      </p:pic>
      <p:sp>
        <p:nvSpPr>
          <p:cNvPr id="7" name="Text 2"/>
          <p:cNvSpPr txBox="1"/>
          <p:nvPr/>
        </p:nvSpPr>
        <p:spPr>
          <a:xfrm>
            <a:off x="6172200" y="5313350"/>
            <a:ext cx="5440680" cy="365760"/>
          </a:xfrm>
          <a:prstGeom prst="rect">
            <a:avLst/>
          </a:prstGeom>
          <a:noFill/>
          <a:ln/>
        </p:spPr>
        <p:txBody>
          <a:bodyPr wrap="square" lIns="0" tIns="0" rIns="0" bIns="0" rtlCol="0" anchor="ctr"/>
          <a:lstStyle/>
          <a:p>
            <a:pPr marL="0" indent="0" algn="ctr">
              <a:buNone/>
            </a:pPr>
            <a:r>
              <a:rPr lang="en-US" sz="1600" dirty="0">
                <a:solidFill>
                  <a:srgbClr val="0F766E"/>
                </a:solidFill>
              </a:rPr>
              <a:t>Operations metrics</a:t>
            </a:r>
            <a:endParaRPr lang="en-US" sz="1600" dirty="0"/>
          </a:p>
        </p:txBody>
      </p:sp>
      <p:sp>
        <p:nvSpPr>
          <p:cNvPr id="25" name="Slide Number Placeholder 0"/>
          <p:cNvSpPr>
            <a:spLocks noGrp="1"/>
          </p:cNvSpPr>
          <p:nvPr>
            <p:ph type="sldNum" sz="quarter" idx="4294967295"/>
          </p:nvPr>
        </p:nvSpPr>
        <p:spPr>
          <a:xfrm>
            <a:off x="11155680" y="647395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400" b="1" dirty="0">
                <a:solidFill>
                  <a:srgbClr val="FFFFFF"/>
                </a:solidFill>
              </a:rPr>
              <a:t>Backup: live-demo cheat-sheet</a:t>
            </a:r>
            <a:endParaRPr lang="en-US" sz="3400" dirty="0"/>
          </a:p>
        </p:txBody>
      </p:sp>
      <p:sp>
        <p:nvSpPr>
          <p:cNvPr id="4" name="Shape 1"/>
          <p:cNvSpPr/>
          <p:nvPr/>
        </p:nvSpPr>
        <p:spPr>
          <a:xfrm>
            <a:off x="548640" y="1371600"/>
            <a:ext cx="6766560" cy="3931920"/>
          </a:xfrm>
          <a:prstGeom prst="roundRect">
            <a:avLst>
              <a:gd name="adj" fmla="val 2791"/>
            </a:avLst>
          </a:prstGeom>
          <a:solidFill>
            <a:srgbClr val="0C151C"/>
          </a:solidFill>
          <a:ln w="12700">
            <a:solidFill>
              <a:srgbClr val="414D55"/>
            </a:solidFill>
            <a:prstDash val="solid"/>
          </a:ln>
        </p:spPr>
        <p:txBody>
          <a:bodyPr/>
          <a:lstStyle/>
          <a:p>
            <a:endParaRPr lang="en-US"/>
          </a:p>
        </p:txBody>
      </p:sp>
      <p:sp>
        <p:nvSpPr>
          <p:cNvPr id="5" name="Text 2"/>
          <p:cNvSpPr txBox="1"/>
          <p:nvPr/>
        </p:nvSpPr>
        <p:spPr>
          <a:xfrm>
            <a:off x="777240" y="1554480"/>
            <a:ext cx="6400800" cy="3566160"/>
          </a:xfrm>
          <a:prstGeom prst="rect">
            <a:avLst/>
          </a:prstGeom>
          <a:noFill/>
          <a:ln/>
        </p:spPr>
        <p:txBody>
          <a:bodyPr wrap="square" lIns="0" tIns="0" rIns="0" bIns="0" rtlCol="0" anchor="t"/>
          <a:lstStyle/>
          <a:p>
            <a:pPr marL="0" indent="0">
              <a:spcAft>
                <a:spcPts val="200"/>
              </a:spcAft>
              <a:buNone/>
            </a:pPr>
            <a:r>
              <a:rPr lang="en-US" sz="1600" dirty="0">
                <a:solidFill>
                  <a:srgbClr val="7F95A1"/>
                </a:solidFill>
                <a:latin typeface="Consolas" pitchFamily="34" charset="0"/>
                <a:ea typeface="Consolas" pitchFamily="34" charset="-122"/>
                <a:cs typeface="Consolas" pitchFamily="34" charset="-120"/>
              </a:rPr>
              <a:t># 1. database (leave running)</a:t>
            </a:r>
            <a:endParaRPr lang="en-US" sz="1600" dirty="0"/>
          </a:p>
          <a:p>
            <a:pPr marL="0" indent="0">
              <a:spcAft>
                <a:spcPts val="200"/>
              </a:spcAft>
              <a:buNone/>
            </a:pPr>
            <a:r>
              <a:rPr lang="en-US" sz="1600" dirty="0">
                <a:solidFill>
                  <a:srgbClr val="E6EEF2"/>
                </a:solidFill>
                <a:latin typeface="Consolas" pitchFamily="34" charset="0"/>
                <a:ea typeface="Consolas" pitchFamily="34" charset="-122"/>
                <a:cs typeface="Consolas" pitchFamily="34" charset="-120"/>
              </a:rPr>
              <a:t>node pg.mjs start</a:t>
            </a:r>
            <a:endParaRPr lang="en-US" sz="1600" dirty="0"/>
          </a:p>
          <a:p>
            <a:pPr marL="0" indent="0">
              <a:spcAft>
                <a:spcPts val="200"/>
              </a:spcAft>
              <a:buNone/>
            </a:pPr>
            <a:endParaRPr lang="en-US" sz="1600" dirty="0"/>
          </a:p>
          <a:p>
            <a:pPr marL="0" indent="0">
              <a:spcAft>
                <a:spcPts val="200"/>
              </a:spcAft>
              <a:buNone/>
            </a:pPr>
            <a:r>
              <a:rPr lang="en-US" sz="1600" dirty="0">
                <a:solidFill>
                  <a:srgbClr val="7F95A1"/>
                </a:solidFill>
                <a:latin typeface="Consolas" pitchFamily="34" charset="0"/>
                <a:ea typeface="Consolas" pitchFamily="34" charset="-122"/>
                <a:cs typeface="Consolas" pitchFamily="34" charset="-120"/>
              </a:rPr>
              <a:t># 2. rebuild the fake campus, then start the app</a:t>
            </a:r>
            <a:endParaRPr lang="en-US" sz="1600" dirty="0"/>
          </a:p>
          <a:p>
            <a:pPr marL="0" indent="0">
              <a:spcAft>
                <a:spcPts val="200"/>
              </a:spcAft>
              <a:buNone/>
            </a:pPr>
            <a:r>
              <a:rPr lang="en-US" sz="1600" dirty="0">
                <a:solidFill>
                  <a:srgbClr val="E6EEF2"/>
                </a:solidFill>
                <a:latin typeface="Consolas" pitchFamily="34" charset="0"/>
                <a:ea typeface="Consolas" pitchFamily="34" charset="-122"/>
                <a:cs typeface="Consolas" pitchFamily="34" charset="-120"/>
              </a:rPr>
              <a:t>./rebuild-demo.sh</a:t>
            </a:r>
            <a:endParaRPr lang="en-US" sz="1600" dirty="0"/>
          </a:p>
          <a:p>
            <a:pPr marL="0" indent="0">
              <a:spcAft>
                <a:spcPts val="200"/>
              </a:spcAft>
              <a:buNone/>
            </a:pPr>
            <a:endParaRPr lang="en-US" sz="1600" dirty="0"/>
          </a:p>
          <a:p>
            <a:pPr marL="0" indent="0">
              <a:spcAft>
                <a:spcPts val="200"/>
              </a:spcAft>
              <a:buNone/>
            </a:pPr>
            <a:r>
              <a:rPr lang="en-US" sz="1600" dirty="0">
                <a:solidFill>
                  <a:srgbClr val="7F95A1"/>
                </a:solidFill>
                <a:latin typeface="Consolas" pitchFamily="34" charset="0"/>
                <a:ea typeface="Consolas" pitchFamily="34" charset="-122"/>
                <a:cs typeface="Consolas" pitchFamily="34" charset="-120"/>
              </a:rPr>
              <a:t># 3. open  http://localhost:3300/</a:t>
            </a:r>
            <a:endParaRPr lang="en-US" sz="1600" dirty="0"/>
          </a:p>
          <a:p>
            <a:pPr marL="0" indent="0">
              <a:spcAft>
                <a:spcPts val="200"/>
              </a:spcAft>
              <a:buNone/>
            </a:pPr>
            <a:r>
              <a:rPr lang="en-US" sz="1600" dirty="0">
                <a:solidFill>
                  <a:srgbClr val="7F95A1"/>
                </a:solidFill>
                <a:latin typeface="Consolas" pitchFamily="34" charset="0"/>
                <a:ea typeface="Consolas" pitchFamily="34" charset="-122"/>
                <a:cs typeface="Consolas" pitchFamily="34" charset="-120"/>
              </a:rPr>
              <a:t># sign in with  emma@hartwell.edu</a:t>
            </a:r>
            <a:endParaRPr lang="en-US" sz="1600" dirty="0"/>
          </a:p>
          <a:p>
            <a:pPr marL="0" indent="0">
              <a:spcAft>
                <a:spcPts val="200"/>
              </a:spcAft>
              <a:buNone/>
            </a:pPr>
            <a:r>
              <a:rPr lang="en-US" sz="1600" dirty="0">
                <a:solidFill>
                  <a:srgbClr val="7F95A1"/>
                </a:solidFill>
                <a:latin typeface="Consolas" pitchFamily="34" charset="0"/>
                <a:ea typeface="Consolas" pitchFamily="34" charset="-122"/>
                <a:cs typeface="Consolas" pitchFamily="34" charset="-120"/>
              </a:rPr>
              <a:t># the 6-digit code is in the app's .dev-outbox.jsonl</a:t>
            </a:r>
            <a:endParaRPr lang="en-US" sz="1600" dirty="0"/>
          </a:p>
        </p:txBody>
      </p:sp>
      <p:sp>
        <p:nvSpPr>
          <p:cNvPr id="6" name="Shape 3"/>
          <p:cNvSpPr/>
          <p:nvPr/>
        </p:nvSpPr>
        <p:spPr>
          <a:xfrm>
            <a:off x="7680960" y="1371600"/>
            <a:ext cx="3931920" cy="1874520"/>
          </a:xfrm>
          <a:prstGeom prst="roundRect">
            <a:avLst>
              <a:gd name="adj" fmla="val 5854"/>
            </a:avLst>
          </a:prstGeom>
          <a:solidFill>
            <a:srgbClr val="FFFFFF"/>
          </a:solidFill>
          <a:ln w="12700">
            <a:solidFill>
              <a:srgbClr val="E4E0D6"/>
            </a:solidFill>
            <a:prstDash val="solid"/>
          </a:ln>
        </p:spPr>
        <p:txBody>
          <a:bodyPr/>
          <a:lstStyle/>
          <a:p>
            <a:endParaRPr lang="en-US"/>
          </a:p>
        </p:txBody>
      </p:sp>
      <p:sp>
        <p:nvSpPr>
          <p:cNvPr id="7" name="Shape 4"/>
          <p:cNvSpPr/>
          <p:nvPr/>
        </p:nvSpPr>
        <p:spPr>
          <a:xfrm>
            <a:off x="7882128" y="1591056"/>
            <a:ext cx="219456" cy="219456"/>
          </a:xfrm>
          <a:prstGeom prst="ellipse">
            <a:avLst/>
          </a:prstGeom>
          <a:solidFill>
            <a:srgbClr val="0F766E"/>
          </a:solidFill>
          <a:ln w="12700">
            <a:solidFill>
              <a:srgbClr val="0F766E"/>
            </a:solidFill>
            <a:prstDash val="solid"/>
          </a:ln>
        </p:spPr>
        <p:txBody>
          <a:bodyPr/>
          <a:lstStyle/>
          <a:p>
            <a:endParaRPr lang="en-US"/>
          </a:p>
        </p:txBody>
      </p:sp>
      <p:sp>
        <p:nvSpPr>
          <p:cNvPr id="8" name="Text 5"/>
          <p:cNvSpPr txBox="1"/>
          <p:nvPr/>
        </p:nvSpPr>
        <p:spPr>
          <a:xfrm>
            <a:off x="8229600" y="1481328"/>
            <a:ext cx="3200400" cy="438912"/>
          </a:xfrm>
          <a:prstGeom prst="rect">
            <a:avLst/>
          </a:prstGeom>
          <a:noFill/>
          <a:ln/>
        </p:spPr>
        <p:txBody>
          <a:bodyPr wrap="square" lIns="0" tIns="0" rIns="0" bIns="0" rtlCol="0" anchor="ctr"/>
          <a:lstStyle/>
          <a:p>
            <a:pPr marL="0" indent="0">
              <a:buNone/>
            </a:pPr>
            <a:r>
              <a:rPr lang="en-US" sz="1700" b="1" dirty="0">
                <a:solidFill>
                  <a:schemeClr val="tx1"/>
                </a:solidFill>
              </a:rPr>
              <a:t>Demo accounts</a:t>
            </a:r>
            <a:endParaRPr lang="en-US" sz="1700" dirty="0"/>
          </a:p>
        </p:txBody>
      </p:sp>
      <p:sp>
        <p:nvSpPr>
          <p:cNvPr id="9" name="Text 6"/>
          <p:cNvSpPr txBox="1"/>
          <p:nvPr/>
        </p:nvSpPr>
        <p:spPr>
          <a:xfrm>
            <a:off x="7882128" y="2029968"/>
            <a:ext cx="3529584" cy="1088136"/>
          </a:xfrm>
          <a:prstGeom prst="rect">
            <a:avLst/>
          </a:prstGeom>
          <a:noFill/>
          <a:ln/>
        </p:spPr>
        <p:txBody>
          <a:bodyPr wrap="square" lIns="0" tIns="0" rIns="0" bIns="0" rtlCol="0" anchor="t"/>
          <a:lstStyle/>
          <a:p>
            <a:pPr marL="0" indent="0">
              <a:buNone/>
            </a:pPr>
            <a:r>
              <a:rPr lang="en-US" sz="1400" dirty="0">
                <a:solidFill>
                  <a:srgbClr val="4A5A66"/>
                </a:solidFill>
              </a:rPr>
              <a:t>emma, liam, sophia, daniel, olivia, noah, ethan, grace, jack @hartwell.edu. The operator account is the moderator.</a:t>
            </a:r>
            <a:endParaRPr lang="en-US" sz="1400" dirty="0"/>
          </a:p>
        </p:txBody>
      </p:sp>
      <p:sp>
        <p:nvSpPr>
          <p:cNvPr id="10" name="Shape 7"/>
          <p:cNvSpPr/>
          <p:nvPr/>
        </p:nvSpPr>
        <p:spPr>
          <a:xfrm>
            <a:off x="7680960" y="3429000"/>
            <a:ext cx="3931920" cy="1874520"/>
          </a:xfrm>
          <a:prstGeom prst="roundRect">
            <a:avLst>
              <a:gd name="adj" fmla="val 5854"/>
            </a:avLst>
          </a:prstGeom>
          <a:solidFill>
            <a:srgbClr val="FFFFFF"/>
          </a:solidFill>
          <a:ln w="12700">
            <a:solidFill>
              <a:srgbClr val="E4E0D6"/>
            </a:solidFill>
            <a:prstDash val="solid"/>
          </a:ln>
        </p:spPr>
        <p:txBody>
          <a:bodyPr/>
          <a:lstStyle/>
          <a:p>
            <a:endParaRPr lang="en-US"/>
          </a:p>
        </p:txBody>
      </p:sp>
      <p:sp>
        <p:nvSpPr>
          <p:cNvPr id="11" name="Shape 8"/>
          <p:cNvSpPr/>
          <p:nvPr/>
        </p:nvSpPr>
        <p:spPr>
          <a:xfrm>
            <a:off x="7882128" y="3648456"/>
            <a:ext cx="219456" cy="219456"/>
          </a:xfrm>
          <a:prstGeom prst="ellipse">
            <a:avLst/>
          </a:prstGeom>
          <a:solidFill>
            <a:srgbClr val="D64550"/>
          </a:solidFill>
          <a:ln w="12700">
            <a:solidFill>
              <a:srgbClr val="D64550"/>
            </a:solidFill>
            <a:prstDash val="solid"/>
          </a:ln>
        </p:spPr>
        <p:txBody>
          <a:bodyPr/>
          <a:lstStyle/>
          <a:p>
            <a:endParaRPr lang="en-US"/>
          </a:p>
        </p:txBody>
      </p:sp>
      <p:sp>
        <p:nvSpPr>
          <p:cNvPr id="12" name="Text 9"/>
          <p:cNvSpPr txBox="1"/>
          <p:nvPr/>
        </p:nvSpPr>
        <p:spPr>
          <a:xfrm>
            <a:off x="8229600" y="3538728"/>
            <a:ext cx="3200400" cy="438912"/>
          </a:xfrm>
          <a:prstGeom prst="rect">
            <a:avLst/>
          </a:prstGeom>
          <a:noFill/>
          <a:ln/>
        </p:spPr>
        <p:txBody>
          <a:bodyPr wrap="square" lIns="0" tIns="0" rIns="0" bIns="0" rtlCol="0" anchor="ctr"/>
          <a:lstStyle/>
          <a:p>
            <a:pPr marL="0" indent="0">
              <a:buNone/>
            </a:pPr>
            <a:r>
              <a:rPr lang="en-US" sz="1700" b="1" dirty="0">
                <a:solidFill>
                  <a:schemeClr val="tx1"/>
                </a:solidFill>
              </a:rPr>
              <a:t>Rules of the demo</a:t>
            </a:r>
            <a:endParaRPr lang="en-US" sz="1700" dirty="0"/>
          </a:p>
        </p:txBody>
      </p:sp>
      <p:sp>
        <p:nvSpPr>
          <p:cNvPr id="13" name="Text 10"/>
          <p:cNvSpPr txBox="1"/>
          <p:nvPr/>
        </p:nvSpPr>
        <p:spPr>
          <a:xfrm>
            <a:off x="7882128" y="4087368"/>
            <a:ext cx="3529584" cy="1088136"/>
          </a:xfrm>
          <a:prstGeom prst="rect">
            <a:avLst/>
          </a:prstGeom>
          <a:noFill/>
          <a:ln/>
        </p:spPr>
        <p:txBody>
          <a:bodyPr wrap="square" lIns="0" tIns="0" rIns="0" bIns="0" rtlCol="0" anchor="t"/>
          <a:lstStyle/>
          <a:p>
            <a:pPr marL="0" indent="0">
              <a:buNone/>
            </a:pPr>
            <a:r>
              <a:rPr lang="en-US" sz="1400" dirty="0">
                <a:solidFill>
                  <a:srgbClr val="4A5A66"/>
                </a:solidFill>
              </a:rPr>
              <a:t>Local database only. No real email is sent. Never point this at the production database.</a:t>
            </a:r>
            <a:endParaRPr lang="en-US" sz="1400" dirty="0"/>
          </a:p>
        </p:txBody>
      </p:sp>
      <p:sp>
        <p:nvSpPr>
          <p:cNvPr id="25" name="Slide Number Placeholder 0"/>
          <p:cNvSpPr>
            <a:spLocks noGrp="1"/>
          </p:cNvSpPr>
          <p:nvPr>
            <p:ph type="sldNum" sz="quarter" idx="4294967295"/>
          </p:nvPr>
        </p:nvSpPr>
        <p:spPr>
          <a:xfrm>
            <a:off x="11155680" y="6473952"/>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8FA0A9"/>
                </a:solidFill>
              </a:defRPr>
            </a:lvl1pPr>
          </a:lstStyle>
          <a:p>
            <a:pPr algn="r"/>
            <a:fld id="{F7021451-1387-4CA6-816F-3879F97B5CBC}" type="slidenum">
              <a:rPr lang="en-US" b="0"/>
              <a:t>31</a:t>
            </a:fld>
            <a:endParaRPr lang="en-US"/>
          </a:p>
        </p:txBody>
      </p:sp>
    </p:spTree>
  </p:cSld>
  <p:clrMapOvr>
    <a:masterClrMapping/>
  </p:clrMapOvr>
</p:sld>
</file>

<file path=ppt/theme/theme1.xml><?xml version="1.0" encoding="utf-8"?>
<a:theme xmlns:a="http://schemas.openxmlformats.org/drawingml/2006/main" name="Overlap Class Presentation (1 · Overlap Classic)">
  <a:themeElements>
    <a:clrScheme name="Overlap Class Presentation (1 · Overlap Classic)">
      <a:dk1>
        <a:srgbClr val="12202B"/>
      </a:dk1>
      <a:lt1>
        <a:srgbClr val="FFFFFF"/>
      </a:lt1>
      <a:dk2>
        <a:srgbClr val="0B4F4A"/>
      </a:dk2>
      <a:lt2>
        <a:srgbClr val="FAF8F3"/>
      </a:lt2>
      <a:accent1>
        <a:srgbClr val="0F766E"/>
      </a:accent1>
      <a:accent2>
        <a:srgbClr val="F5B544"/>
      </a:accent2>
      <a:accent3>
        <a:srgbClr val="5B3FA6"/>
      </a:accent3>
      <a:accent4>
        <a:srgbClr val="D64550"/>
      </a:accent4>
      <a:accent5>
        <a:srgbClr val="2E9E6B"/>
      </a:accent5>
      <a:accent6>
        <a:srgbClr val="808C94"/>
      </a:accent6>
      <a:hlink>
        <a:srgbClr val="0F766E"/>
      </a:hlink>
      <a:folHlink>
        <a:srgbClr val="5B3FA6"/>
      </a:folHlink>
    </a:clrScheme>
    <a:fontScheme name="Overlap Class Presentation (1 · Overlap Classic)">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5507</Words>
  <Application>Microsoft Office PowerPoint</Application>
  <PresentationFormat>Widescreen</PresentationFormat>
  <Paragraphs>482</Paragraphs>
  <Slides>31</Slides>
  <Notes>31</Notes>
  <HiddenSlides>0</HiddenSlides>
  <MMClips>6</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31</vt:i4>
      </vt:variant>
    </vt:vector>
  </HeadingPairs>
  <TitlesOfParts>
    <vt:vector size="36" baseType="lpstr">
      <vt:lpstr>Arial</vt:lpstr>
      <vt:lpstr>Calibri</vt:lpstr>
      <vt:lpstr>Cambria</vt:lpstr>
      <vt:lpstr>Consolas</vt:lpstr>
      <vt:lpstr>Overlap Class Presentation (1 · Overlap Classic)</vt:lpstr>
      <vt:lpstr>PowerPoint Presentation</vt:lpstr>
      <vt:lpstr>You share a campus with thousands of people and meet a handful</vt:lpstr>
      <vt:lpstr>The idea: introduce people through what they share</vt:lpstr>
      <vt:lpstr>Meet today's fictional students</vt:lpstr>
      <vt:lpstr>The app at a glance: four tabs</vt:lpstr>
      <vt:lpstr>Joining takes about three minutes</vt:lpstr>
      <vt:lpstr>Every question feeds one part of the score</vt:lpstr>
      <vt:lpstr>Six people a day, each one explained</vt:lpstr>
      <vt:lpstr>Every card says why you were introduced</vt:lpstr>
      <vt:lpstr>Mutual wave, match, chat</vt:lpstr>
      <vt:lpstr>Plan the meetup from shared free time</vt:lpstr>
      <vt:lpstr>How it chooses: five ingredients, one number</vt:lpstr>
      <vt:lpstr>Rare things count more than common things</vt:lpstr>
      <vt:lpstr>Worked example: Emma and Liam score 43.7 in Friends mode</vt:lpstr>
      <vt:lpstr>Modes change the weights, sliders make it personal</vt:lpstr>
      <vt:lpstr>From scores to six daily picks</vt:lpstr>
      <vt:lpstr>The scoring is just two small functions</vt:lpstr>
      <vt:lpstr>How it is built</vt:lpstr>
      <vt:lpstr>Safety: report, human decision, enforcement</vt:lpstr>
      <vt:lpstr>What the moderator sees</vt:lpstr>
      <vt:lpstr>Privacy rules built into the code</vt:lpstr>
      <vt:lpstr>Where it stands and what comes next</vt:lpstr>
      <vt:lpstr>What I learned building it</vt:lpstr>
      <vt:lpstr>Scan to visit Overlap</vt:lpstr>
      <vt:lpstr>PowerPoint Presentation</vt:lpstr>
      <vt:lpstr>PowerPoint Presentation</vt:lpstr>
      <vt:lpstr>Backup: landing page, dark mode, Korean and sign-up</vt:lpstr>
      <vt:lpstr>Backup: the profile wizard</vt:lpstr>
      <vt:lpstr>Backup: settings, profiles and meetup states</vt:lpstr>
      <vt:lpstr>Backup: moderator and operations tools</vt:lpstr>
      <vt:lpstr>Backup: live-demo cheat-sheet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Overlap: meet the people you already share a campus with</dc:title>
  <dc:subject>Web Programming class presentation</dc:subject>
  <dc:creator>Rahimjon, Asilbek, Shuhratxon</dc:creator>
  <cp:lastModifiedBy>라힘존</cp:lastModifiedBy>
  <cp:revision>1</cp:revision>
  <dcterms:created xsi:type="dcterms:W3CDTF">2026-10-19T05:59:06Z</dcterms:created>
  <dcterms:modified xsi:type="dcterms:W3CDTF">2026-10-26T05:52:53Z</dcterms:modified>
</cp:coreProperties>
</file>